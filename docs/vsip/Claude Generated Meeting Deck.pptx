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the team — Andrew (Senior Consultant), Rudy (Consultant), Max (Sales). Thank MP for facilitating. Open with: 'Before we begin our presentation, we have one question for you — what does success look like for VSIP 4 in five years, commercially and operationally?' Listen carefully. This shapes how you frame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agenda briefly — 2 minutes max. Emphasize: 'We come today as consultants and system architects, not as vendors. Our goal is to give you a clear framework for making good decisions over the next 4–5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VSIP you've read their brief carefully. Then pivot: 'These parameters are your starting point. Our job today is to show you how a world-class control system achieves all of these — and in what sequence.' Note: zero export should be flagged as needing early attention (Phase 2, not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credibility slide. Don't read it — summarize: 'One platform covers the full stack from SCADA to VPP. Each capability is live in production deployments at comparable scale.' If VSIP asks for references, offer to share case studies after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Andrew's slide. Present it bottom to top — foundation first, smart energy on top. Key message: 'We can deploy these layers in phases, but the architecture must account for all five layers from the very first design session. A data model built only for SCADA cannot easily become a DERMS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phase column. For VSIP, emphasize: Phase 2 includes zero-export monitoring and alarms (not Phase 3 — the first tenant solar goes live long before full DERMS deployment). Phase 3 closes the loop. Phase 4 is what allows VSIP to tell premium tenants 'you will never lose power.' Phase 5 is the green credentials that attract ESG-focused manufacturers.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Andrew's slide — present it as the senior consultant. These are the questions no vendor will ask VSIP. Frame decision 06 last and strongly: 'By working with you today on the architecture, we can help you write a specification that any system must meet — ensuring quality and protecting your investment regardless of who wins the 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going back to the opening question: 'You told us success in five years is X. Here is how we get you there — in phases, with clear milestones and no wasted investment.' Ask VSIP which of the four next steps they want to prioritize. Get a date on the calendar before leaving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342C"/>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85041"/>
          </a:solidFill>
          <a:ln w="12700">
            <a:solidFill>
              <a:srgbClr val="085041"/>
            </a:solidFill>
            <a:prstDash val="solid"/>
          </a:ln>
        </p:spPr>
      </p:sp>
      <p:sp>
        <p:nvSpPr>
          <p:cNvPr id="3" name="Shape 1"/>
          <p:cNvSpPr/>
          <p:nvPr/>
        </p:nvSpPr>
        <p:spPr>
          <a:xfrm>
            <a:off x="7132320" y="1371600"/>
            <a:ext cx="2743200" cy="2743200"/>
          </a:xfrm>
          <a:prstGeom prst="ellipse">
            <a:avLst/>
          </a:prstGeom>
          <a:solidFill>
            <a:srgbClr val="0F6E56">
              <a:alpha val="40000"/>
            </a:srgbClr>
          </a:solidFill>
          <a:ln w="12700">
            <a:solidFill>
              <a:srgbClr val="0F6E56">
                <a:alpha val="40000"/>
              </a:srgbClr>
            </a:solidFill>
            <a:prstDash val="solid"/>
          </a:ln>
        </p:spPr>
      </p:sp>
      <p:sp>
        <p:nvSpPr>
          <p:cNvPr id="4" name="Text 2"/>
          <p:cNvSpPr/>
          <p:nvPr/>
        </p:nvSpPr>
        <p:spPr>
          <a:xfrm>
            <a:off x="548640" y="347472"/>
            <a:ext cx="5486400" cy="201168"/>
          </a:xfrm>
          <a:prstGeom prst="rect">
            <a:avLst/>
          </a:prstGeom>
          <a:noFill/>
          <a:ln/>
        </p:spPr>
        <p:txBody>
          <a:bodyPr wrap="square" lIns="0" tIns="0" rIns="0" bIns="0" rtlCol="0" anchor="ctr"/>
          <a:lstStyle/>
          <a:p>
            <a:pPr indent="0" marL="0">
              <a:buNone/>
            </a:pPr>
            <a:r>
              <a:rPr lang="en-US" sz="900" spc="300" kern="0" dirty="0">
                <a:solidFill>
                  <a:srgbClr val="9FE1CB"/>
                </a:solidFill>
              </a:rPr>
              <a:t>SURVALENT TECHNOLOGY · APAC</a:t>
            </a:r>
            <a:endParaRPr lang="en-US" sz="900" dirty="0"/>
          </a:p>
        </p:txBody>
      </p:sp>
      <p:sp>
        <p:nvSpPr>
          <p:cNvPr id="5" name="Text 3"/>
          <p:cNvSpPr/>
          <p:nvPr/>
        </p:nvSpPr>
        <p:spPr>
          <a:xfrm>
            <a:off x="548640" y="658368"/>
            <a:ext cx="6858000" cy="173736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Smart Grid, Microgrid</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&amp; Energy Management</a:t>
            </a:r>
            <a:endParaRPr lang="en-US" sz="3800" dirty="0"/>
          </a:p>
        </p:txBody>
      </p:sp>
      <p:sp>
        <p:nvSpPr>
          <p:cNvPr id="6" name="Text 4"/>
          <p:cNvSpPr/>
          <p:nvPr/>
        </p:nvSpPr>
        <p:spPr>
          <a:xfrm>
            <a:off x="548640" y="2487168"/>
            <a:ext cx="6400800" cy="329184"/>
          </a:xfrm>
          <a:prstGeom prst="rect">
            <a:avLst/>
          </a:prstGeom>
          <a:noFill/>
          <a:ln/>
        </p:spPr>
        <p:txBody>
          <a:bodyPr wrap="square" lIns="0" tIns="0" rIns="0" bIns="0" rtlCol="0" anchor="ctr"/>
          <a:lstStyle/>
          <a:p>
            <a:pPr indent="0" marL="0">
              <a:buNone/>
            </a:pPr>
            <a:r>
              <a:rPr lang="en-US" sz="1400" i="1" dirty="0">
                <a:solidFill>
                  <a:srgbClr val="9FE1CB"/>
                </a:solidFill>
              </a:rPr>
              <a:t>A consultative roadmap for VSIP 4 Industrial Park</a:t>
            </a:r>
            <a:endParaRPr lang="en-US" sz="1400" dirty="0"/>
          </a:p>
        </p:txBody>
      </p:sp>
      <p:sp>
        <p:nvSpPr>
          <p:cNvPr id="7" name="Shape 5"/>
          <p:cNvSpPr/>
          <p:nvPr/>
        </p:nvSpPr>
        <p:spPr>
          <a:xfrm>
            <a:off x="548640" y="2944368"/>
            <a:ext cx="2560320" cy="0"/>
          </a:xfrm>
          <a:prstGeom prst="line">
            <a:avLst/>
          </a:prstGeom>
          <a:noFill/>
          <a:ln w="25400">
            <a:solidFill>
              <a:srgbClr val="1D9E75"/>
            </a:solidFill>
            <a:prstDash val="solid"/>
          </a:ln>
        </p:spPr>
      </p:sp>
      <p:sp>
        <p:nvSpPr>
          <p:cNvPr id="8" name="Shape 6"/>
          <p:cNvSpPr/>
          <p:nvPr/>
        </p:nvSpPr>
        <p:spPr>
          <a:xfrm>
            <a:off x="548640" y="3154680"/>
            <a:ext cx="1920240" cy="274320"/>
          </a:xfrm>
          <a:prstGeom prst="roundRect">
            <a:avLst>
              <a:gd name="adj" fmla="val 26667"/>
            </a:avLst>
          </a:prstGeom>
          <a:solidFill>
            <a:srgbClr val="085041"/>
          </a:solidFill>
          <a:ln w="6350">
            <a:solidFill>
              <a:srgbClr val="1D9E75"/>
            </a:solidFill>
            <a:prstDash val="solid"/>
          </a:ln>
        </p:spPr>
      </p:sp>
      <p:sp>
        <p:nvSpPr>
          <p:cNvPr id="9" name="Text 7"/>
          <p:cNvSpPr/>
          <p:nvPr/>
        </p:nvSpPr>
        <p:spPr>
          <a:xfrm>
            <a:off x="548640" y="3154680"/>
            <a:ext cx="1920240" cy="274320"/>
          </a:xfrm>
          <a:prstGeom prst="rect">
            <a:avLst/>
          </a:prstGeom>
          <a:noFill/>
          <a:ln/>
        </p:spPr>
        <p:txBody>
          <a:bodyPr wrap="square" lIns="0" tIns="0" rIns="0" bIns="0" rtlCol="0" anchor="ctr"/>
          <a:lstStyle/>
          <a:p>
            <a:pPr algn="ctr" indent="0" marL="0">
              <a:buNone/>
            </a:pPr>
            <a:r>
              <a:rPr lang="en-US" sz="900" dirty="0">
                <a:solidFill>
                  <a:srgbClr val="9FE1CB"/>
                </a:solidFill>
              </a:rPr>
              <a:t>June 26, 2026</a:t>
            </a:r>
            <a:endParaRPr lang="en-US" sz="900" dirty="0"/>
          </a:p>
        </p:txBody>
      </p:sp>
      <p:sp>
        <p:nvSpPr>
          <p:cNvPr id="10" name="Shape 8"/>
          <p:cNvSpPr/>
          <p:nvPr/>
        </p:nvSpPr>
        <p:spPr>
          <a:xfrm>
            <a:off x="2633472" y="3154680"/>
            <a:ext cx="1920240" cy="274320"/>
          </a:xfrm>
          <a:prstGeom prst="roundRect">
            <a:avLst>
              <a:gd name="adj" fmla="val 26667"/>
            </a:avLst>
          </a:prstGeom>
          <a:solidFill>
            <a:srgbClr val="085041"/>
          </a:solidFill>
          <a:ln w="6350">
            <a:solidFill>
              <a:srgbClr val="1D9E75"/>
            </a:solidFill>
            <a:prstDash val="solid"/>
          </a:ln>
        </p:spPr>
      </p:sp>
      <p:sp>
        <p:nvSpPr>
          <p:cNvPr id="11" name="Text 9"/>
          <p:cNvSpPr/>
          <p:nvPr/>
        </p:nvSpPr>
        <p:spPr>
          <a:xfrm>
            <a:off x="2633472" y="3154680"/>
            <a:ext cx="1920240" cy="274320"/>
          </a:xfrm>
          <a:prstGeom prst="rect">
            <a:avLst/>
          </a:prstGeom>
          <a:noFill/>
          <a:ln/>
        </p:spPr>
        <p:txBody>
          <a:bodyPr wrap="square" lIns="0" tIns="0" rIns="0" bIns="0" rtlCol="0" anchor="ctr"/>
          <a:lstStyle/>
          <a:p>
            <a:pPr algn="ctr" indent="0" marL="0">
              <a:buNone/>
            </a:pPr>
            <a:r>
              <a:rPr lang="en-US" sz="900" dirty="0">
                <a:solidFill>
                  <a:srgbClr val="9FE1CB"/>
                </a:solidFill>
              </a:rPr>
              <a:t>VSIP I Office · 9:00 AM</a:t>
            </a:r>
            <a:endParaRPr lang="en-US" sz="900" dirty="0"/>
          </a:p>
        </p:txBody>
      </p:sp>
      <p:sp>
        <p:nvSpPr>
          <p:cNvPr id="12" name="Shape 10"/>
          <p:cNvSpPr/>
          <p:nvPr/>
        </p:nvSpPr>
        <p:spPr>
          <a:xfrm>
            <a:off x="4718304" y="3154680"/>
            <a:ext cx="1920240" cy="274320"/>
          </a:xfrm>
          <a:prstGeom prst="roundRect">
            <a:avLst>
              <a:gd name="adj" fmla="val 26667"/>
            </a:avLst>
          </a:prstGeom>
          <a:solidFill>
            <a:srgbClr val="085041"/>
          </a:solidFill>
          <a:ln w="6350">
            <a:solidFill>
              <a:srgbClr val="1D9E75"/>
            </a:solidFill>
            <a:prstDash val="solid"/>
          </a:ln>
        </p:spPr>
      </p:sp>
      <p:sp>
        <p:nvSpPr>
          <p:cNvPr id="13" name="Text 11"/>
          <p:cNvSpPr/>
          <p:nvPr/>
        </p:nvSpPr>
        <p:spPr>
          <a:xfrm>
            <a:off x="4718304" y="3154680"/>
            <a:ext cx="1920240" cy="274320"/>
          </a:xfrm>
          <a:prstGeom prst="rect">
            <a:avLst/>
          </a:prstGeom>
          <a:noFill/>
          <a:ln/>
        </p:spPr>
        <p:txBody>
          <a:bodyPr wrap="square" lIns="0" tIns="0" rIns="0" bIns="0" rtlCol="0" anchor="ctr"/>
          <a:lstStyle/>
          <a:p>
            <a:pPr algn="ctr" indent="0" marL="0">
              <a:buNone/>
            </a:pPr>
            <a:r>
              <a:rPr lang="en-US" sz="900" dirty="0">
                <a:solidFill>
                  <a:srgbClr val="9FE1CB"/>
                </a:solidFill>
              </a:rPr>
              <a:t>Confidential</a:t>
            </a:r>
            <a:endParaRPr lang="en-US" sz="900" dirty="0"/>
          </a:p>
        </p:txBody>
      </p:sp>
      <p:sp>
        <p:nvSpPr>
          <p:cNvPr id="14" name="Shape 12"/>
          <p:cNvSpPr/>
          <p:nvPr/>
        </p:nvSpPr>
        <p:spPr>
          <a:xfrm>
            <a:off x="548640" y="3977640"/>
            <a:ext cx="438912" cy="438912"/>
          </a:xfrm>
          <a:prstGeom prst="ellipse">
            <a:avLst/>
          </a:prstGeom>
          <a:solidFill>
            <a:srgbClr val="1D9E75"/>
          </a:solidFill>
          <a:ln w="12700">
            <a:solidFill>
              <a:srgbClr val="1D9E75"/>
            </a:solidFill>
            <a:prstDash val="solid"/>
          </a:ln>
        </p:spPr>
      </p:sp>
      <p:sp>
        <p:nvSpPr>
          <p:cNvPr id="15" name="Text 13"/>
          <p:cNvSpPr/>
          <p:nvPr/>
        </p:nvSpPr>
        <p:spPr>
          <a:xfrm>
            <a:off x="548640" y="3977640"/>
            <a:ext cx="438912" cy="438912"/>
          </a:xfrm>
          <a:prstGeom prst="rect">
            <a:avLst/>
          </a:prstGeom>
          <a:noFill/>
          <a:ln/>
        </p:spPr>
        <p:txBody>
          <a:bodyPr wrap="square" lIns="0" tIns="0" rIns="0" bIns="0" rtlCol="0" anchor="ctr"/>
          <a:lstStyle/>
          <a:p>
            <a:pPr algn="ctr" indent="0" marL="0">
              <a:buNone/>
            </a:pPr>
            <a:r>
              <a:rPr lang="en-US" sz="1200" b="1" dirty="0">
                <a:solidFill>
                  <a:srgbClr val="04342C"/>
                </a:solidFill>
              </a:rPr>
              <a:t>AW</a:t>
            </a:r>
            <a:endParaRPr lang="en-US" sz="1200" dirty="0"/>
          </a:p>
        </p:txBody>
      </p:sp>
      <p:sp>
        <p:nvSpPr>
          <p:cNvPr id="16" name="Text 14"/>
          <p:cNvSpPr/>
          <p:nvPr/>
        </p:nvSpPr>
        <p:spPr>
          <a:xfrm>
            <a:off x="1060704" y="3977640"/>
            <a:ext cx="1371600" cy="219456"/>
          </a:xfrm>
          <a:prstGeom prst="rect">
            <a:avLst/>
          </a:prstGeom>
          <a:noFill/>
          <a:ln/>
        </p:spPr>
        <p:txBody>
          <a:bodyPr wrap="square" lIns="0" tIns="0" rIns="0" bIns="0" rtlCol="0" anchor="b"/>
          <a:lstStyle/>
          <a:p>
            <a:pPr indent="0" marL="0">
              <a:buNone/>
            </a:pPr>
            <a:r>
              <a:rPr lang="en-US" sz="1200" b="1" dirty="0">
                <a:solidFill>
                  <a:srgbClr val="FFFFFF"/>
                </a:solidFill>
              </a:rPr>
              <a:t>Andrew</a:t>
            </a:r>
            <a:endParaRPr lang="en-US" sz="1200" dirty="0"/>
          </a:p>
        </p:txBody>
      </p:sp>
      <p:sp>
        <p:nvSpPr>
          <p:cNvPr id="17" name="Text 15"/>
          <p:cNvSpPr/>
          <p:nvPr/>
        </p:nvSpPr>
        <p:spPr>
          <a:xfrm>
            <a:off x="1060704" y="4197096"/>
            <a:ext cx="1371600" cy="201168"/>
          </a:xfrm>
          <a:prstGeom prst="rect">
            <a:avLst/>
          </a:prstGeom>
          <a:noFill/>
          <a:ln/>
        </p:spPr>
        <p:txBody>
          <a:bodyPr wrap="square" lIns="0" tIns="0" rIns="0" bIns="0" rtlCol="0" anchor="t"/>
          <a:lstStyle/>
          <a:p>
            <a:pPr indent="0" marL="0">
              <a:buNone/>
            </a:pPr>
            <a:r>
              <a:rPr lang="en-US" sz="1000" dirty="0">
                <a:solidFill>
                  <a:srgbClr val="9FE1CB"/>
                </a:solidFill>
              </a:rPr>
              <a:t>Senior Consultant</a:t>
            </a:r>
            <a:endParaRPr lang="en-US" sz="1000" dirty="0"/>
          </a:p>
        </p:txBody>
      </p:sp>
      <p:sp>
        <p:nvSpPr>
          <p:cNvPr id="18" name="Shape 16"/>
          <p:cNvSpPr/>
          <p:nvPr/>
        </p:nvSpPr>
        <p:spPr>
          <a:xfrm>
            <a:off x="2633472" y="3977640"/>
            <a:ext cx="438912" cy="438912"/>
          </a:xfrm>
          <a:prstGeom prst="ellipse">
            <a:avLst/>
          </a:prstGeom>
          <a:solidFill>
            <a:srgbClr val="1D9E75"/>
          </a:solidFill>
          <a:ln w="12700">
            <a:solidFill>
              <a:srgbClr val="1D9E75"/>
            </a:solidFill>
            <a:prstDash val="solid"/>
          </a:ln>
        </p:spPr>
      </p:sp>
      <p:sp>
        <p:nvSpPr>
          <p:cNvPr id="19" name="Text 17"/>
          <p:cNvSpPr/>
          <p:nvPr/>
        </p:nvSpPr>
        <p:spPr>
          <a:xfrm>
            <a:off x="2633472" y="3977640"/>
            <a:ext cx="438912" cy="438912"/>
          </a:xfrm>
          <a:prstGeom prst="rect">
            <a:avLst/>
          </a:prstGeom>
          <a:noFill/>
          <a:ln/>
        </p:spPr>
        <p:txBody>
          <a:bodyPr wrap="square" lIns="0" tIns="0" rIns="0" bIns="0" rtlCol="0" anchor="ctr"/>
          <a:lstStyle/>
          <a:p>
            <a:pPr algn="ctr" indent="0" marL="0">
              <a:buNone/>
            </a:pPr>
            <a:r>
              <a:rPr lang="en-US" sz="1200" b="1" dirty="0">
                <a:solidFill>
                  <a:srgbClr val="04342C"/>
                </a:solidFill>
              </a:rPr>
              <a:t>RD</a:t>
            </a:r>
            <a:endParaRPr lang="en-US" sz="1200" dirty="0"/>
          </a:p>
        </p:txBody>
      </p:sp>
      <p:sp>
        <p:nvSpPr>
          <p:cNvPr id="20" name="Text 18"/>
          <p:cNvSpPr/>
          <p:nvPr/>
        </p:nvSpPr>
        <p:spPr>
          <a:xfrm>
            <a:off x="3145536" y="3977640"/>
            <a:ext cx="1371600" cy="219456"/>
          </a:xfrm>
          <a:prstGeom prst="rect">
            <a:avLst/>
          </a:prstGeom>
          <a:noFill/>
          <a:ln/>
        </p:spPr>
        <p:txBody>
          <a:bodyPr wrap="square" lIns="0" tIns="0" rIns="0" bIns="0" rtlCol="0" anchor="b"/>
          <a:lstStyle/>
          <a:p>
            <a:pPr indent="0" marL="0">
              <a:buNone/>
            </a:pPr>
            <a:r>
              <a:rPr lang="en-US" sz="1200" b="1" dirty="0">
                <a:solidFill>
                  <a:srgbClr val="FFFFFF"/>
                </a:solidFill>
              </a:rPr>
              <a:t>Rudy</a:t>
            </a:r>
            <a:endParaRPr lang="en-US" sz="1200" dirty="0"/>
          </a:p>
        </p:txBody>
      </p:sp>
      <p:sp>
        <p:nvSpPr>
          <p:cNvPr id="21" name="Text 19"/>
          <p:cNvSpPr/>
          <p:nvPr/>
        </p:nvSpPr>
        <p:spPr>
          <a:xfrm>
            <a:off x="3145536" y="4197096"/>
            <a:ext cx="1371600" cy="201168"/>
          </a:xfrm>
          <a:prstGeom prst="rect">
            <a:avLst/>
          </a:prstGeom>
          <a:noFill/>
          <a:ln/>
        </p:spPr>
        <p:txBody>
          <a:bodyPr wrap="square" lIns="0" tIns="0" rIns="0" bIns="0" rtlCol="0" anchor="t"/>
          <a:lstStyle/>
          <a:p>
            <a:pPr indent="0" marL="0">
              <a:buNone/>
            </a:pPr>
            <a:r>
              <a:rPr lang="en-US" sz="1000" dirty="0">
                <a:solidFill>
                  <a:srgbClr val="9FE1CB"/>
                </a:solidFill>
              </a:rPr>
              <a:t>Consultant</a:t>
            </a:r>
            <a:endParaRPr lang="en-US" sz="1000" dirty="0"/>
          </a:p>
        </p:txBody>
      </p:sp>
      <p:sp>
        <p:nvSpPr>
          <p:cNvPr id="22" name="Shape 20"/>
          <p:cNvSpPr/>
          <p:nvPr/>
        </p:nvSpPr>
        <p:spPr>
          <a:xfrm>
            <a:off x="4718304" y="3977640"/>
            <a:ext cx="438912" cy="438912"/>
          </a:xfrm>
          <a:prstGeom prst="ellipse">
            <a:avLst/>
          </a:prstGeom>
          <a:solidFill>
            <a:srgbClr val="1D9E75"/>
          </a:solidFill>
          <a:ln w="12700">
            <a:solidFill>
              <a:srgbClr val="1D9E75"/>
            </a:solidFill>
            <a:prstDash val="solid"/>
          </a:ln>
        </p:spPr>
      </p:sp>
      <p:sp>
        <p:nvSpPr>
          <p:cNvPr id="23" name="Text 21"/>
          <p:cNvSpPr/>
          <p:nvPr/>
        </p:nvSpPr>
        <p:spPr>
          <a:xfrm>
            <a:off x="4718304" y="3977640"/>
            <a:ext cx="438912" cy="438912"/>
          </a:xfrm>
          <a:prstGeom prst="rect">
            <a:avLst/>
          </a:prstGeom>
          <a:noFill/>
          <a:ln/>
        </p:spPr>
        <p:txBody>
          <a:bodyPr wrap="square" lIns="0" tIns="0" rIns="0" bIns="0" rtlCol="0" anchor="ctr"/>
          <a:lstStyle/>
          <a:p>
            <a:pPr algn="ctr" indent="0" marL="0">
              <a:buNone/>
            </a:pPr>
            <a:r>
              <a:rPr lang="en-US" sz="1200" b="1" dirty="0">
                <a:solidFill>
                  <a:srgbClr val="04342C"/>
                </a:solidFill>
              </a:rPr>
              <a:t>MX</a:t>
            </a:r>
            <a:endParaRPr lang="en-US" sz="1200" dirty="0"/>
          </a:p>
        </p:txBody>
      </p:sp>
      <p:sp>
        <p:nvSpPr>
          <p:cNvPr id="24" name="Text 22"/>
          <p:cNvSpPr/>
          <p:nvPr/>
        </p:nvSpPr>
        <p:spPr>
          <a:xfrm>
            <a:off x="5230368" y="3977640"/>
            <a:ext cx="1371600" cy="219456"/>
          </a:xfrm>
          <a:prstGeom prst="rect">
            <a:avLst/>
          </a:prstGeom>
          <a:noFill/>
          <a:ln/>
        </p:spPr>
        <p:txBody>
          <a:bodyPr wrap="square" lIns="0" tIns="0" rIns="0" bIns="0" rtlCol="0" anchor="b"/>
          <a:lstStyle/>
          <a:p>
            <a:pPr indent="0" marL="0">
              <a:buNone/>
            </a:pPr>
            <a:r>
              <a:rPr lang="en-US" sz="1200" b="1" dirty="0">
                <a:solidFill>
                  <a:srgbClr val="FFFFFF"/>
                </a:solidFill>
              </a:rPr>
              <a:t>Max</a:t>
            </a:r>
            <a:endParaRPr lang="en-US" sz="1200" dirty="0"/>
          </a:p>
        </p:txBody>
      </p:sp>
      <p:sp>
        <p:nvSpPr>
          <p:cNvPr id="25" name="Text 23"/>
          <p:cNvSpPr/>
          <p:nvPr/>
        </p:nvSpPr>
        <p:spPr>
          <a:xfrm>
            <a:off x="5230368" y="4197096"/>
            <a:ext cx="1371600" cy="201168"/>
          </a:xfrm>
          <a:prstGeom prst="rect">
            <a:avLst/>
          </a:prstGeom>
          <a:noFill/>
          <a:ln/>
        </p:spPr>
        <p:txBody>
          <a:bodyPr wrap="square" lIns="0" tIns="0" rIns="0" bIns="0" rtlCol="0" anchor="t"/>
          <a:lstStyle/>
          <a:p>
            <a:pPr indent="0" marL="0">
              <a:buNone/>
            </a:pPr>
            <a:r>
              <a:rPr lang="en-US" sz="1000" dirty="0">
                <a:solidFill>
                  <a:srgbClr val="9FE1CB"/>
                </a:solidFill>
              </a:rPr>
              <a:t>Sales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7315200" cy="10058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Today's Agenda</a:t>
            </a:r>
            <a:endParaRPr lang="en-US" sz="2800" dirty="0"/>
          </a:p>
        </p:txBody>
      </p:sp>
      <p:sp>
        <p:nvSpPr>
          <p:cNvPr id="4" name="Text 2"/>
          <p:cNvSpPr/>
          <p:nvPr/>
        </p:nvSpPr>
        <p:spPr>
          <a:xfrm>
            <a:off x="6400800" y="0"/>
            <a:ext cx="2560320" cy="1005840"/>
          </a:xfrm>
          <a:prstGeom prst="rect">
            <a:avLst/>
          </a:prstGeom>
          <a:noFill/>
          <a:ln/>
        </p:spPr>
        <p:txBody>
          <a:bodyPr wrap="square" rtlCol="0" anchor="ctr"/>
          <a:lstStyle/>
          <a:p>
            <a:pPr algn="r" indent="0" marL="0">
              <a:buNone/>
            </a:pPr>
            <a:r>
              <a:rPr lang="en-US" sz="1100" dirty="0">
                <a:solidFill>
                  <a:srgbClr val="9FE1CB"/>
                </a:solidFill>
              </a:rPr>
              <a:t>VSIP 4 · June 26, 2026</a:t>
            </a:r>
            <a:endParaRPr lang="en-US" sz="1100" dirty="0"/>
          </a:p>
        </p:txBody>
      </p:sp>
      <p:sp>
        <p:nvSpPr>
          <p:cNvPr id="5" name="Shape 3"/>
          <p:cNvSpPr/>
          <p:nvPr/>
        </p:nvSpPr>
        <p:spPr>
          <a:xfrm>
            <a:off x="365760" y="1170432"/>
            <a:ext cx="4114800" cy="1115568"/>
          </a:xfrm>
          <a:prstGeom prst="roundRect">
            <a:avLst>
              <a:gd name="adj" fmla="val 8197"/>
            </a:avLst>
          </a:prstGeom>
          <a:solidFill>
            <a:srgbClr val="F8F9FA"/>
          </a:solidFill>
          <a:ln w="6350">
            <a:solidFill>
              <a:srgbClr val="D3D1C7"/>
            </a:solidFill>
            <a:prstDash val="solid"/>
          </a:ln>
        </p:spPr>
      </p:sp>
      <p:sp>
        <p:nvSpPr>
          <p:cNvPr id="6" name="Shape 4"/>
          <p:cNvSpPr/>
          <p:nvPr/>
        </p:nvSpPr>
        <p:spPr>
          <a:xfrm>
            <a:off x="493776" y="1399032"/>
            <a:ext cx="402336" cy="402336"/>
          </a:xfrm>
          <a:prstGeom prst="roundRect">
            <a:avLst>
              <a:gd name="adj" fmla="val 13636"/>
            </a:avLst>
          </a:prstGeom>
          <a:solidFill>
            <a:srgbClr val="0F6E56"/>
          </a:solidFill>
          <a:ln w="12700">
            <a:solidFill>
              <a:srgbClr val="0F6E56"/>
            </a:solidFill>
            <a:prstDash val="solid"/>
          </a:ln>
        </p:spPr>
      </p:sp>
      <p:sp>
        <p:nvSpPr>
          <p:cNvPr id="7" name="Text 5"/>
          <p:cNvSpPr/>
          <p:nvPr/>
        </p:nvSpPr>
        <p:spPr>
          <a:xfrm>
            <a:off x="493776" y="13990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8" name="Text 6"/>
          <p:cNvSpPr/>
          <p:nvPr/>
        </p:nvSpPr>
        <p:spPr>
          <a:xfrm>
            <a:off x="987552" y="1298448"/>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Understanding VSIP 4's vision</a:t>
            </a:r>
            <a:endParaRPr lang="en-US" sz="1300" dirty="0"/>
          </a:p>
        </p:txBody>
      </p:sp>
      <p:sp>
        <p:nvSpPr>
          <p:cNvPr id="9" name="Text 7"/>
          <p:cNvSpPr/>
          <p:nvPr/>
        </p:nvSpPr>
        <p:spPr>
          <a:xfrm>
            <a:off x="987552" y="1645920"/>
            <a:ext cx="3364992" cy="512064"/>
          </a:xfrm>
          <a:prstGeom prst="rect">
            <a:avLst/>
          </a:prstGeom>
          <a:noFill/>
          <a:ln/>
        </p:spPr>
        <p:txBody>
          <a:bodyPr wrap="square" lIns="0" tIns="0" rIns="0" bIns="0" rtlCol="0" anchor="t"/>
          <a:lstStyle/>
          <a:p>
            <a:pPr indent="0" marL="0">
              <a:buNone/>
            </a:pPr>
            <a:r>
              <a:rPr lang="en-US" sz="1100" dirty="0">
                <a:solidFill>
                  <a:srgbClr val="5F5E5A"/>
                </a:solidFill>
              </a:rPr>
              <a:t>Project parameters, goals, and what success looks like</a:t>
            </a:r>
            <a:endParaRPr lang="en-US" sz="1100" dirty="0"/>
          </a:p>
        </p:txBody>
      </p:sp>
      <p:sp>
        <p:nvSpPr>
          <p:cNvPr id="10" name="Shape 8"/>
          <p:cNvSpPr/>
          <p:nvPr/>
        </p:nvSpPr>
        <p:spPr>
          <a:xfrm>
            <a:off x="4800600" y="1170432"/>
            <a:ext cx="4114800" cy="1115568"/>
          </a:xfrm>
          <a:prstGeom prst="roundRect">
            <a:avLst>
              <a:gd name="adj" fmla="val 8197"/>
            </a:avLst>
          </a:prstGeom>
          <a:solidFill>
            <a:srgbClr val="F8F9FA"/>
          </a:solidFill>
          <a:ln w="6350">
            <a:solidFill>
              <a:srgbClr val="D3D1C7"/>
            </a:solidFill>
            <a:prstDash val="solid"/>
          </a:ln>
        </p:spPr>
      </p:sp>
      <p:sp>
        <p:nvSpPr>
          <p:cNvPr id="11" name="Shape 9"/>
          <p:cNvSpPr/>
          <p:nvPr/>
        </p:nvSpPr>
        <p:spPr>
          <a:xfrm>
            <a:off x="4928616" y="1399032"/>
            <a:ext cx="402336" cy="402336"/>
          </a:xfrm>
          <a:prstGeom prst="roundRect">
            <a:avLst>
              <a:gd name="adj" fmla="val 13636"/>
            </a:avLst>
          </a:prstGeom>
          <a:solidFill>
            <a:srgbClr val="0F6E56"/>
          </a:solidFill>
          <a:ln w="12700">
            <a:solidFill>
              <a:srgbClr val="0F6E56"/>
            </a:solidFill>
            <a:prstDash val="solid"/>
          </a:ln>
        </p:spPr>
      </p:sp>
      <p:sp>
        <p:nvSpPr>
          <p:cNvPr id="12" name="Text 10"/>
          <p:cNvSpPr/>
          <p:nvPr/>
        </p:nvSpPr>
        <p:spPr>
          <a:xfrm>
            <a:off x="4928616" y="13990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3" name="Text 11"/>
          <p:cNvSpPr/>
          <p:nvPr/>
        </p:nvSpPr>
        <p:spPr>
          <a:xfrm>
            <a:off x="5422392" y="1298448"/>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Survalent platform overview</a:t>
            </a:r>
            <a:endParaRPr lang="en-US" sz="1300" dirty="0"/>
          </a:p>
        </p:txBody>
      </p:sp>
      <p:sp>
        <p:nvSpPr>
          <p:cNvPr id="14" name="Text 12"/>
          <p:cNvSpPr/>
          <p:nvPr/>
        </p:nvSpPr>
        <p:spPr>
          <a:xfrm>
            <a:off x="5422392" y="1645920"/>
            <a:ext cx="3364992" cy="512064"/>
          </a:xfrm>
          <a:prstGeom prst="rect">
            <a:avLst/>
          </a:prstGeom>
          <a:noFill/>
          <a:ln/>
        </p:spPr>
        <p:txBody>
          <a:bodyPr wrap="square" lIns="0" tIns="0" rIns="0" bIns="0" rtlCol="0" anchor="t"/>
          <a:lstStyle/>
          <a:p>
            <a:pPr indent="0" marL="0">
              <a:buNone/>
            </a:pPr>
            <a:r>
              <a:rPr lang="en-US" sz="1100" dirty="0">
                <a:solidFill>
                  <a:srgbClr val="5F5E5A"/>
                </a:solidFill>
              </a:rPr>
              <a:t>ADMS + DERMS capabilities tailored to your requirements</a:t>
            </a:r>
            <a:endParaRPr lang="en-US" sz="1100" dirty="0"/>
          </a:p>
        </p:txBody>
      </p:sp>
      <p:sp>
        <p:nvSpPr>
          <p:cNvPr id="15" name="Shape 13"/>
          <p:cNvSpPr/>
          <p:nvPr/>
        </p:nvSpPr>
        <p:spPr>
          <a:xfrm>
            <a:off x="365760" y="2432304"/>
            <a:ext cx="4114800" cy="1115568"/>
          </a:xfrm>
          <a:prstGeom prst="roundRect">
            <a:avLst>
              <a:gd name="adj" fmla="val 8197"/>
            </a:avLst>
          </a:prstGeom>
          <a:solidFill>
            <a:srgbClr val="F8F9FA"/>
          </a:solidFill>
          <a:ln w="6350">
            <a:solidFill>
              <a:srgbClr val="D3D1C7"/>
            </a:solidFill>
            <a:prstDash val="solid"/>
          </a:ln>
        </p:spPr>
      </p:sp>
      <p:sp>
        <p:nvSpPr>
          <p:cNvPr id="16" name="Shape 14"/>
          <p:cNvSpPr/>
          <p:nvPr/>
        </p:nvSpPr>
        <p:spPr>
          <a:xfrm>
            <a:off x="493776" y="2660904"/>
            <a:ext cx="402336" cy="402336"/>
          </a:xfrm>
          <a:prstGeom prst="roundRect">
            <a:avLst>
              <a:gd name="adj" fmla="val 13636"/>
            </a:avLst>
          </a:prstGeom>
          <a:solidFill>
            <a:srgbClr val="0F6E56"/>
          </a:solidFill>
          <a:ln w="12700">
            <a:solidFill>
              <a:srgbClr val="0F6E56"/>
            </a:solidFill>
            <a:prstDash val="solid"/>
          </a:ln>
        </p:spPr>
      </p:sp>
      <p:sp>
        <p:nvSpPr>
          <p:cNvPr id="17" name="Text 15"/>
          <p:cNvSpPr/>
          <p:nvPr/>
        </p:nvSpPr>
        <p:spPr>
          <a:xfrm>
            <a:off x="493776" y="266090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8" name="Text 16"/>
          <p:cNvSpPr/>
          <p:nvPr/>
        </p:nvSpPr>
        <p:spPr>
          <a:xfrm>
            <a:off x="987552" y="2560320"/>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Recommended system architecture</a:t>
            </a:r>
            <a:endParaRPr lang="en-US" sz="1300" dirty="0"/>
          </a:p>
        </p:txBody>
      </p:sp>
      <p:sp>
        <p:nvSpPr>
          <p:cNvPr id="19" name="Text 17"/>
          <p:cNvSpPr/>
          <p:nvPr/>
        </p:nvSpPr>
        <p:spPr>
          <a:xfrm>
            <a:off x="987552" y="2907792"/>
            <a:ext cx="3364992" cy="512064"/>
          </a:xfrm>
          <a:prstGeom prst="rect">
            <a:avLst/>
          </a:prstGeom>
          <a:noFill/>
          <a:ln/>
        </p:spPr>
        <p:txBody>
          <a:bodyPr wrap="square" lIns="0" tIns="0" rIns="0" bIns="0" rtlCol="0" anchor="t"/>
          <a:lstStyle/>
          <a:p>
            <a:pPr indent="0" marL="0">
              <a:buNone/>
            </a:pPr>
            <a:r>
              <a:rPr lang="en-US" sz="1100" dirty="0">
                <a:solidFill>
                  <a:srgbClr val="5F5E5A"/>
                </a:solidFill>
              </a:rPr>
              <a:t>How we design VSIP 4's control system from first principles</a:t>
            </a:r>
            <a:endParaRPr lang="en-US" sz="1100" dirty="0"/>
          </a:p>
        </p:txBody>
      </p:sp>
      <p:sp>
        <p:nvSpPr>
          <p:cNvPr id="20" name="Shape 18"/>
          <p:cNvSpPr/>
          <p:nvPr/>
        </p:nvSpPr>
        <p:spPr>
          <a:xfrm>
            <a:off x="4800600" y="2432304"/>
            <a:ext cx="4114800" cy="1115568"/>
          </a:xfrm>
          <a:prstGeom prst="roundRect">
            <a:avLst>
              <a:gd name="adj" fmla="val 8197"/>
            </a:avLst>
          </a:prstGeom>
          <a:solidFill>
            <a:srgbClr val="F8F9FA"/>
          </a:solidFill>
          <a:ln w="6350">
            <a:solidFill>
              <a:srgbClr val="D3D1C7"/>
            </a:solidFill>
            <a:prstDash val="solid"/>
          </a:ln>
        </p:spPr>
      </p:sp>
      <p:sp>
        <p:nvSpPr>
          <p:cNvPr id="21" name="Shape 19"/>
          <p:cNvSpPr/>
          <p:nvPr/>
        </p:nvSpPr>
        <p:spPr>
          <a:xfrm>
            <a:off x="4928616" y="2660904"/>
            <a:ext cx="402336" cy="402336"/>
          </a:xfrm>
          <a:prstGeom prst="roundRect">
            <a:avLst>
              <a:gd name="adj" fmla="val 13636"/>
            </a:avLst>
          </a:prstGeom>
          <a:solidFill>
            <a:srgbClr val="0F6E56"/>
          </a:solidFill>
          <a:ln w="12700">
            <a:solidFill>
              <a:srgbClr val="0F6E56"/>
            </a:solidFill>
            <a:prstDash val="solid"/>
          </a:ln>
        </p:spPr>
      </p:sp>
      <p:sp>
        <p:nvSpPr>
          <p:cNvPr id="22" name="Text 20"/>
          <p:cNvSpPr/>
          <p:nvPr/>
        </p:nvSpPr>
        <p:spPr>
          <a:xfrm>
            <a:off x="4928616" y="266090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3" name="Text 21"/>
          <p:cNvSpPr/>
          <p:nvPr/>
        </p:nvSpPr>
        <p:spPr>
          <a:xfrm>
            <a:off x="5422392" y="2560320"/>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5-phase investment roadmap</a:t>
            </a:r>
            <a:endParaRPr lang="en-US" sz="1300" dirty="0"/>
          </a:p>
        </p:txBody>
      </p:sp>
      <p:sp>
        <p:nvSpPr>
          <p:cNvPr id="24" name="Text 22"/>
          <p:cNvSpPr/>
          <p:nvPr/>
        </p:nvSpPr>
        <p:spPr>
          <a:xfrm>
            <a:off x="5422392" y="2907792"/>
            <a:ext cx="3364992" cy="512064"/>
          </a:xfrm>
          <a:prstGeom prst="rect">
            <a:avLst/>
          </a:prstGeom>
          <a:noFill/>
          <a:ln/>
        </p:spPr>
        <p:txBody>
          <a:bodyPr wrap="square" lIns="0" tIns="0" rIns="0" bIns="0" rtlCol="0" anchor="t"/>
          <a:lstStyle/>
          <a:p>
            <a:pPr indent="0" marL="0">
              <a:buNone/>
            </a:pPr>
            <a:r>
              <a:rPr lang="en-US" sz="1100" dirty="0">
                <a:solidFill>
                  <a:srgbClr val="5F5E5A"/>
                </a:solidFill>
              </a:rPr>
              <a:t>From infrastructure foundation to smart energy ecosystem</a:t>
            </a:r>
            <a:endParaRPr lang="en-US" sz="1100" dirty="0"/>
          </a:p>
        </p:txBody>
      </p:sp>
      <p:sp>
        <p:nvSpPr>
          <p:cNvPr id="25" name="Shape 23"/>
          <p:cNvSpPr/>
          <p:nvPr/>
        </p:nvSpPr>
        <p:spPr>
          <a:xfrm>
            <a:off x="365760" y="3694176"/>
            <a:ext cx="4114800" cy="1115568"/>
          </a:xfrm>
          <a:prstGeom prst="roundRect">
            <a:avLst>
              <a:gd name="adj" fmla="val 8197"/>
            </a:avLst>
          </a:prstGeom>
          <a:solidFill>
            <a:srgbClr val="F8F9FA"/>
          </a:solidFill>
          <a:ln w="6350">
            <a:solidFill>
              <a:srgbClr val="D3D1C7"/>
            </a:solidFill>
            <a:prstDash val="solid"/>
          </a:ln>
        </p:spPr>
      </p:sp>
      <p:sp>
        <p:nvSpPr>
          <p:cNvPr id="26" name="Shape 24"/>
          <p:cNvSpPr/>
          <p:nvPr/>
        </p:nvSpPr>
        <p:spPr>
          <a:xfrm>
            <a:off x="493776" y="3922776"/>
            <a:ext cx="402336" cy="402336"/>
          </a:xfrm>
          <a:prstGeom prst="roundRect">
            <a:avLst>
              <a:gd name="adj" fmla="val 13636"/>
            </a:avLst>
          </a:prstGeom>
          <a:solidFill>
            <a:srgbClr val="0F6E56"/>
          </a:solidFill>
          <a:ln w="12700">
            <a:solidFill>
              <a:srgbClr val="0F6E56"/>
            </a:solidFill>
            <a:prstDash val="solid"/>
          </a:ln>
        </p:spPr>
      </p:sp>
      <p:sp>
        <p:nvSpPr>
          <p:cNvPr id="27" name="Text 25"/>
          <p:cNvSpPr/>
          <p:nvPr/>
        </p:nvSpPr>
        <p:spPr>
          <a:xfrm>
            <a:off x="493776" y="39227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8" name="Text 26"/>
          <p:cNvSpPr/>
          <p:nvPr/>
        </p:nvSpPr>
        <p:spPr>
          <a:xfrm>
            <a:off x="987552" y="3822192"/>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Key architectural decisions</a:t>
            </a:r>
            <a:endParaRPr lang="en-US" sz="1300" dirty="0"/>
          </a:p>
        </p:txBody>
      </p:sp>
      <p:sp>
        <p:nvSpPr>
          <p:cNvPr id="29" name="Text 27"/>
          <p:cNvSpPr/>
          <p:nvPr/>
        </p:nvSpPr>
        <p:spPr>
          <a:xfrm>
            <a:off x="987552" y="4169664"/>
            <a:ext cx="3364992" cy="512064"/>
          </a:xfrm>
          <a:prstGeom prst="rect">
            <a:avLst/>
          </a:prstGeom>
          <a:noFill/>
          <a:ln/>
        </p:spPr>
        <p:txBody>
          <a:bodyPr wrap="square" lIns="0" tIns="0" rIns="0" bIns="0" rtlCol="0" anchor="t"/>
          <a:lstStyle/>
          <a:p>
            <a:pPr indent="0" marL="0">
              <a:buNone/>
            </a:pPr>
            <a:r>
              <a:rPr lang="en-US" sz="1100" dirty="0">
                <a:solidFill>
                  <a:srgbClr val="5F5E5A"/>
                </a:solidFill>
              </a:rPr>
              <a:t>Design choices today that protect your investment tomorrow</a:t>
            </a:r>
            <a:endParaRPr lang="en-US" sz="1100" dirty="0"/>
          </a:p>
        </p:txBody>
      </p:sp>
      <p:sp>
        <p:nvSpPr>
          <p:cNvPr id="30" name="Shape 28"/>
          <p:cNvSpPr/>
          <p:nvPr/>
        </p:nvSpPr>
        <p:spPr>
          <a:xfrm>
            <a:off x="4800600" y="3694176"/>
            <a:ext cx="4114800" cy="1115568"/>
          </a:xfrm>
          <a:prstGeom prst="roundRect">
            <a:avLst>
              <a:gd name="adj" fmla="val 8197"/>
            </a:avLst>
          </a:prstGeom>
          <a:solidFill>
            <a:srgbClr val="F8F9FA"/>
          </a:solidFill>
          <a:ln w="6350">
            <a:solidFill>
              <a:srgbClr val="D3D1C7"/>
            </a:solidFill>
            <a:prstDash val="solid"/>
          </a:ln>
        </p:spPr>
      </p:sp>
      <p:sp>
        <p:nvSpPr>
          <p:cNvPr id="31" name="Shape 29"/>
          <p:cNvSpPr/>
          <p:nvPr/>
        </p:nvSpPr>
        <p:spPr>
          <a:xfrm>
            <a:off x="4928616" y="3922776"/>
            <a:ext cx="402336" cy="402336"/>
          </a:xfrm>
          <a:prstGeom prst="roundRect">
            <a:avLst>
              <a:gd name="adj" fmla="val 13636"/>
            </a:avLst>
          </a:prstGeom>
          <a:solidFill>
            <a:srgbClr val="0F6E56"/>
          </a:solidFill>
          <a:ln w="12700">
            <a:solidFill>
              <a:srgbClr val="0F6E56"/>
            </a:solidFill>
            <a:prstDash val="solid"/>
          </a:ln>
        </p:spPr>
      </p:sp>
      <p:sp>
        <p:nvSpPr>
          <p:cNvPr id="32" name="Text 30"/>
          <p:cNvSpPr/>
          <p:nvPr/>
        </p:nvSpPr>
        <p:spPr>
          <a:xfrm>
            <a:off x="4928616" y="39227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3" name="Text 31"/>
          <p:cNvSpPr/>
          <p:nvPr/>
        </p:nvSpPr>
        <p:spPr>
          <a:xfrm>
            <a:off x="5422392" y="3822192"/>
            <a:ext cx="3364992" cy="329184"/>
          </a:xfrm>
          <a:prstGeom prst="rect">
            <a:avLst/>
          </a:prstGeom>
          <a:noFill/>
          <a:ln/>
        </p:spPr>
        <p:txBody>
          <a:bodyPr wrap="square" lIns="0" tIns="0" rIns="0" bIns="0" rtlCol="0" anchor="ctr"/>
          <a:lstStyle/>
          <a:p>
            <a:pPr indent="0" marL="0">
              <a:buNone/>
            </a:pPr>
            <a:r>
              <a:rPr lang="en-US" sz="1300" b="1" dirty="0">
                <a:solidFill>
                  <a:srgbClr val="1A1A1A"/>
                </a:solidFill>
              </a:rPr>
              <a:t>Open discussion &amp; next steps</a:t>
            </a:r>
            <a:endParaRPr lang="en-US" sz="1300" dirty="0"/>
          </a:p>
        </p:txBody>
      </p:sp>
      <p:sp>
        <p:nvSpPr>
          <p:cNvPr id="34" name="Text 32"/>
          <p:cNvSpPr/>
          <p:nvPr/>
        </p:nvSpPr>
        <p:spPr>
          <a:xfrm>
            <a:off x="5422392" y="4169664"/>
            <a:ext cx="3364992" cy="512064"/>
          </a:xfrm>
          <a:prstGeom prst="rect">
            <a:avLst/>
          </a:prstGeom>
          <a:noFill/>
          <a:ln/>
        </p:spPr>
        <p:txBody>
          <a:bodyPr wrap="square" lIns="0" tIns="0" rIns="0" bIns="0" rtlCol="0" anchor="t"/>
          <a:lstStyle/>
          <a:p>
            <a:pPr indent="0" marL="0">
              <a:buNone/>
            </a:pPr>
            <a:r>
              <a:rPr lang="en-US" sz="1100" dirty="0">
                <a:solidFill>
                  <a:srgbClr val="5F5E5A"/>
                </a:solidFill>
              </a:rPr>
              <a:t>Your questions, our recommendations, and how we move forward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6400800" cy="10058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VSIP 4 — What We Know</a:t>
            </a:r>
            <a:endParaRPr lang="en-US" sz="2800" dirty="0"/>
          </a:p>
        </p:txBody>
      </p:sp>
      <p:sp>
        <p:nvSpPr>
          <p:cNvPr id="4" name="Text 2"/>
          <p:cNvSpPr/>
          <p:nvPr/>
        </p:nvSpPr>
        <p:spPr>
          <a:xfrm>
            <a:off x="6583680" y="0"/>
            <a:ext cx="2377440" cy="1005840"/>
          </a:xfrm>
          <a:prstGeom prst="rect">
            <a:avLst/>
          </a:prstGeom>
          <a:noFill/>
          <a:ln/>
        </p:spPr>
        <p:txBody>
          <a:bodyPr wrap="square" rtlCol="0" anchor="ctr"/>
          <a:lstStyle/>
          <a:p>
            <a:pPr algn="r" indent="0" marL="0">
              <a:buNone/>
            </a:pPr>
            <a:r>
              <a:rPr lang="en-US" sz="1100" dirty="0">
                <a:solidFill>
                  <a:srgbClr val="9FE1CB"/>
                </a:solidFill>
              </a:rPr>
              <a:t>Project parameters</a:t>
            </a:r>
            <a:endParaRPr lang="en-US" sz="1100" dirty="0"/>
          </a:p>
        </p:txBody>
      </p:sp>
      <p:sp>
        <p:nvSpPr>
          <p:cNvPr id="5" name="Shape 3"/>
          <p:cNvSpPr/>
          <p:nvPr/>
        </p:nvSpPr>
        <p:spPr>
          <a:xfrm>
            <a:off x="274320" y="1115568"/>
            <a:ext cx="1627632" cy="1078992"/>
          </a:xfrm>
          <a:prstGeom prst="roundRect">
            <a:avLst>
              <a:gd name="adj" fmla="val 8475"/>
            </a:avLst>
          </a:prstGeom>
          <a:solidFill>
            <a:srgbClr val="E1F5EE"/>
          </a:solidFill>
          <a:ln w="6350">
            <a:solidFill>
              <a:srgbClr val="9FE1CB"/>
            </a:solidFill>
            <a:prstDash val="solid"/>
          </a:ln>
        </p:spPr>
      </p:sp>
      <p:sp>
        <p:nvSpPr>
          <p:cNvPr id="6" name="Text 4"/>
          <p:cNvSpPr/>
          <p:nvPr/>
        </p:nvSpPr>
        <p:spPr>
          <a:xfrm>
            <a:off x="274320" y="1188720"/>
            <a:ext cx="1627632" cy="420624"/>
          </a:xfrm>
          <a:prstGeom prst="rect">
            <a:avLst/>
          </a:prstGeom>
          <a:noFill/>
          <a:ln/>
        </p:spPr>
        <p:txBody>
          <a:bodyPr wrap="square" lIns="0" tIns="0" rIns="0" bIns="0" rtlCol="0" anchor="ctr"/>
          <a:lstStyle/>
          <a:p>
            <a:pPr algn="ctr" indent="0" marL="0">
              <a:buNone/>
            </a:pPr>
            <a:r>
              <a:rPr lang="en-US" sz="1500" b="1" dirty="0">
                <a:solidFill>
                  <a:srgbClr val="0F6E56"/>
                </a:solidFill>
                <a:latin typeface="Cambria" pitchFamily="34" charset="0"/>
                <a:ea typeface="Cambria" pitchFamily="34" charset="-122"/>
                <a:cs typeface="Cambria" pitchFamily="34" charset="-120"/>
              </a:rPr>
              <a:t>750 ha</a:t>
            </a:r>
            <a:endParaRPr lang="en-US" sz="1500" dirty="0"/>
          </a:p>
        </p:txBody>
      </p:sp>
      <p:sp>
        <p:nvSpPr>
          <p:cNvPr id="7" name="Text 5"/>
          <p:cNvSpPr/>
          <p:nvPr/>
        </p:nvSpPr>
        <p:spPr>
          <a:xfrm>
            <a:off x="274320" y="1591056"/>
            <a:ext cx="1627632" cy="219456"/>
          </a:xfrm>
          <a:prstGeom prst="rect">
            <a:avLst/>
          </a:prstGeom>
          <a:noFill/>
          <a:ln/>
        </p:spPr>
        <p:txBody>
          <a:bodyPr wrap="square" lIns="0" tIns="0" rIns="0" bIns="0" rtlCol="0" anchor="ctr"/>
          <a:lstStyle/>
          <a:p>
            <a:pPr algn="ctr" indent="0" marL="0">
              <a:buNone/>
            </a:pPr>
            <a:r>
              <a:rPr lang="en-US" sz="1000" b="1" dirty="0">
                <a:solidFill>
                  <a:srgbClr val="1A1A1A"/>
                </a:solidFill>
              </a:rPr>
              <a:t>Total area</a:t>
            </a:r>
            <a:endParaRPr lang="en-US" sz="1000" dirty="0"/>
          </a:p>
        </p:txBody>
      </p:sp>
      <p:sp>
        <p:nvSpPr>
          <p:cNvPr id="8" name="Text 6"/>
          <p:cNvSpPr/>
          <p:nvPr/>
        </p:nvSpPr>
        <p:spPr>
          <a:xfrm>
            <a:off x="274320" y="1801368"/>
            <a:ext cx="1627632" cy="201168"/>
          </a:xfrm>
          <a:prstGeom prst="rect">
            <a:avLst/>
          </a:prstGeom>
          <a:noFill/>
          <a:ln/>
        </p:spPr>
        <p:txBody>
          <a:bodyPr wrap="square" lIns="0" tIns="0" rIns="0" bIns="0" rtlCol="0" anchor="ctr"/>
          <a:lstStyle/>
          <a:p>
            <a:pPr algn="ctr" indent="0" marL="0">
              <a:buNone/>
            </a:pPr>
            <a:r>
              <a:rPr lang="en-US" sz="950" dirty="0">
                <a:solidFill>
                  <a:srgbClr val="5F5E5A"/>
                </a:solidFill>
              </a:rPr>
              <a:t>Greenfield</a:t>
            </a:r>
            <a:endParaRPr lang="en-US" sz="950" dirty="0"/>
          </a:p>
        </p:txBody>
      </p:sp>
      <p:sp>
        <p:nvSpPr>
          <p:cNvPr id="9" name="Shape 7"/>
          <p:cNvSpPr/>
          <p:nvPr/>
        </p:nvSpPr>
        <p:spPr>
          <a:xfrm>
            <a:off x="1993392" y="1115568"/>
            <a:ext cx="1627632" cy="1078992"/>
          </a:xfrm>
          <a:prstGeom prst="roundRect">
            <a:avLst>
              <a:gd name="adj" fmla="val 8475"/>
            </a:avLst>
          </a:prstGeom>
          <a:solidFill>
            <a:srgbClr val="E1F5EE"/>
          </a:solidFill>
          <a:ln w="6350">
            <a:solidFill>
              <a:srgbClr val="9FE1CB"/>
            </a:solidFill>
            <a:prstDash val="solid"/>
          </a:ln>
        </p:spPr>
      </p:sp>
      <p:sp>
        <p:nvSpPr>
          <p:cNvPr id="10" name="Text 8"/>
          <p:cNvSpPr/>
          <p:nvPr/>
        </p:nvSpPr>
        <p:spPr>
          <a:xfrm>
            <a:off x="1993392" y="1188720"/>
            <a:ext cx="1627632" cy="420624"/>
          </a:xfrm>
          <a:prstGeom prst="rect">
            <a:avLst/>
          </a:prstGeom>
          <a:noFill/>
          <a:ln/>
        </p:spPr>
        <p:txBody>
          <a:bodyPr wrap="square" lIns="0" tIns="0" rIns="0" bIns="0" rtlCol="0" anchor="ctr"/>
          <a:lstStyle/>
          <a:p>
            <a:pPr algn="ctr" indent="0" marL="0">
              <a:buNone/>
            </a:pPr>
            <a:r>
              <a:rPr lang="en-US" sz="1500" b="1" dirty="0">
                <a:solidFill>
                  <a:srgbClr val="0F6E56"/>
                </a:solidFill>
                <a:latin typeface="Cambria" pitchFamily="34" charset="0"/>
                <a:ea typeface="Cambria" pitchFamily="34" charset="-122"/>
                <a:cs typeface="Cambria" pitchFamily="34" charset="-120"/>
              </a:rPr>
              <a:t>3 × 110kV</a:t>
            </a:r>
            <a:endParaRPr lang="en-US" sz="1500" dirty="0"/>
          </a:p>
        </p:txBody>
      </p:sp>
      <p:sp>
        <p:nvSpPr>
          <p:cNvPr id="11" name="Text 9"/>
          <p:cNvSpPr/>
          <p:nvPr/>
        </p:nvSpPr>
        <p:spPr>
          <a:xfrm>
            <a:off x="1993392" y="1591056"/>
            <a:ext cx="1627632" cy="219456"/>
          </a:xfrm>
          <a:prstGeom prst="rect">
            <a:avLst/>
          </a:prstGeom>
          <a:noFill/>
          <a:ln/>
        </p:spPr>
        <p:txBody>
          <a:bodyPr wrap="square" lIns="0" tIns="0" rIns="0" bIns="0" rtlCol="0" anchor="ctr"/>
          <a:lstStyle/>
          <a:p>
            <a:pPr algn="ctr" indent="0" marL="0">
              <a:buNone/>
            </a:pPr>
            <a:r>
              <a:rPr lang="en-US" sz="1000" b="1" dirty="0">
                <a:solidFill>
                  <a:srgbClr val="1A1A1A"/>
                </a:solidFill>
              </a:rPr>
              <a:t>Substations</a:t>
            </a:r>
            <a:endParaRPr lang="en-US" sz="1000" dirty="0"/>
          </a:p>
        </p:txBody>
      </p:sp>
      <p:sp>
        <p:nvSpPr>
          <p:cNvPr id="12" name="Text 10"/>
          <p:cNvSpPr/>
          <p:nvPr/>
        </p:nvSpPr>
        <p:spPr>
          <a:xfrm>
            <a:off x="1993392" y="1801368"/>
            <a:ext cx="1627632" cy="201168"/>
          </a:xfrm>
          <a:prstGeom prst="rect">
            <a:avLst/>
          </a:prstGeom>
          <a:noFill/>
          <a:ln/>
        </p:spPr>
        <p:txBody>
          <a:bodyPr wrap="square" lIns="0" tIns="0" rIns="0" bIns="0" rtlCol="0" anchor="ctr"/>
          <a:lstStyle/>
          <a:p>
            <a:pPr algn="ctr" indent="0" marL="0">
              <a:buNone/>
            </a:pPr>
            <a:r>
              <a:rPr lang="en-US" sz="950" dirty="0">
                <a:solidFill>
                  <a:srgbClr val="5F5E5A"/>
                </a:solidFill>
              </a:rPr>
              <a:t>2×80 MVA each</a:t>
            </a:r>
            <a:endParaRPr lang="en-US" sz="950" dirty="0"/>
          </a:p>
        </p:txBody>
      </p:sp>
      <p:sp>
        <p:nvSpPr>
          <p:cNvPr id="13" name="Shape 11"/>
          <p:cNvSpPr/>
          <p:nvPr/>
        </p:nvSpPr>
        <p:spPr>
          <a:xfrm>
            <a:off x="3712464" y="1115568"/>
            <a:ext cx="1627632" cy="1078992"/>
          </a:xfrm>
          <a:prstGeom prst="roundRect">
            <a:avLst>
              <a:gd name="adj" fmla="val 8475"/>
            </a:avLst>
          </a:prstGeom>
          <a:solidFill>
            <a:srgbClr val="E1F5EE"/>
          </a:solidFill>
          <a:ln w="6350">
            <a:solidFill>
              <a:srgbClr val="9FE1CB"/>
            </a:solidFill>
            <a:prstDash val="solid"/>
          </a:ln>
        </p:spPr>
      </p:sp>
      <p:sp>
        <p:nvSpPr>
          <p:cNvPr id="14" name="Text 12"/>
          <p:cNvSpPr/>
          <p:nvPr/>
        </p:nvSpPr>
        <p:spPr>
          <a:xfrm>
            <a:off x="3712464" y="1188720"/>
            <a:ext cx="1627632" cy="420624"/>
          </a:xfrm>
          <a:prstGeom prst="rect">
            <a:avLst/>
          </a:prstGeom>
          <a:noFill/>
          <a:ln/>
        </p:spPr>
        <p:txBody>
          <a:bodyPr wrap="square" lIns="0" tIns="0" rIns="0" bIns="0" rtlCol="0" anchor="ctr"/>
          <a:lstStyle/>
          <a:p>
            <a:pPr algn="ctr" indent="0" marL="0">
              <a:buNone/>
            </a:pPr>
            <a:r>
              <a:rPr lang="en-US" sz="1500" b="1" dirty="0">
                <a:solidFill>
                  <a:srgbClr val="0F6E56"/>
                </a:solidFill>
                <a:latin typeface="Cambria" pitchFamily="34" charset="0"/>
                <a:ea typeface="Cambria" pitchFamily="34" charset="-122"/>
                <a:cs typeface="Cambria" pitchFamily="34" charset="-120"/>
              </a:rPr>
              <a:t>~200 MW</a:t>
            </a:r>
            <a:endParaRPr lang="en-US" sz="1500" dirty="0"/>
          </a:p>
        </p:txBody>
      </p:sp>
      <p:sp>
        <p:nvSpPr>
          <p:cNvPr id="15" name="Text 13"/>
          <p:cNvSpPr/>
          <p:nvPr/>
        </p:nvSpPr>
        <p:spPr>
          <a:xfrm>
            <a:off x="3712464" y="1591056"/>
            <a:ext cx="1627632" cy="219456"/>
          </a:xfrm>
          <a:prstGeom prst="rect">
            <a:avLst/>
          </a:prstGeom>
          <a:noFill/>
          <a:ln/>
        </p:spPr>
        <p:txBody>
          <a:bodyPr wrap="square" lIns="0" tIns="0" rIns="0" bIns="0" rtlCol="0" anchor="ctr"/>
          <a:lstStyle/>
          <a:p>
            <a:pPr algn="ctr" indent="0" marL="0">
              <a:buNone/>
            </a:pPr>
            <a:r>
              <a:rPr lang="en-US" sz="1000" b="1" dirty="0">
                <a:solidFill>
                  <a:srgbClr val="1A1A1A"/>
                </a:solidFill>
              </a:rPr>
              <a:t>Peak load</a:t>
            </a:r>
            <a:endParaRPr lang="en-US" sz="1000" dirty="0"/>
          </a:p>
        </p:txBody>
      </p:sp>
      <p:sp>
        <p:nvSpPr>
          <p:cNvPr id="16" name="Text 14"/>
          <p:cNvSpPr/>
          <p:nvPr/>
        </p:nvSpPr>
        <p:spPr>
          <a:xfrm>
            <a:off x="3712464" y="1801368"/>
            <a:ext cx="1627632" cy="201168"/>
          </a:xfrm>
          <a:prstGeom prst="rect">
            <a:avLst/>
          </a:prstGeom>
          <a:noFill/>
          <a:ln/>
        </p:spPr>
        <p:txBody>
          <a:bodyPr wrap="square" lIns="0" tIns="0" rIns="0" bIns="0" rtlCol="0" anchor="ctr"/>
          <a:lstStyle/>
          <a:p>
            <a:pPr algn="ctr" indent="0" marL="0">
              <a:buNone/>
            </a:pPr>
            <a:r>
              <a:rPr lang="en-US" sz="950" dirty="0">
                <a:solidFill>
                  <a:srgbClr val="5F5E5A"/>
                </a:solidFill>
              </a:rPr>
              <a:t>At full build-out</a:t>
            </a:r>
            <a:endParaRPr lang="en-US" sz="950" dirty="0"/>
          </a:p>
        </p:txBody>
      </p:sp>
      <p:sp>
        <p:nvSpPr>
          <p:cNvPr id="17" name="Shape 15"/>
          <p:cNvSpPr/>
          <p:nvPr/>
        </p:nvSpPr>
        <p:spPr>
          <a:xfrm>
            <a:off x="5431536" y="1115568"/>
            <a:ext cx="1627632" cy="1078992"/>
          </a:xfrm>
          <a:prstGeom prst="roundRect">
            <a:avLst>
              <a:gd name="adj" fmla="val 8475"/>
            </a:avLst>
          </a:prstGeom>
          <a:solidFill>
            <a:srgbClr val="E1F5EE"/>
          </a:solidFill>
          <a:ln w="6350">
            <a:solidFill>
              <a:srgbClr val="9FE1CB"/>
            </a:solidFill>
            <a:prstDash val="solid"/>
          </a:ln>
        </p:spPr>
      </p:sp>
      <p:sp>
        <p:nvSpPr>
          <p:cNvPr id="18" name="Text 16"/>
          <p:cNvSpPr/>
          <p:nvPr/>
        </p:nvSpPr>
        <p:spPr>
          <a:xfrm>
            <a:off x="5431536" y="1188720"/>
            <a:ext cx="1627632" cy="420624"/>
          </a:xfrm>
          <a:prstGeom prst="rect">
            <a:avLst/>
          </a:prstGeom>
          <a:noFill/>
          <a:ln/>
        </p:spPr>
        <p:txBody>
          <a:bodyPr wrap="square" lIns="0" tIns="0" rIns="0" bIns="0" rtlCol="0" anchor="ctr"/>
          <a:lstStyle/>
          <a:p>
            <a:pPr algn="ctr" indent="0" marL="0">
              <a:buNone/>
            </a:pPr>
            <a:r>
              <a:rPr lang="en-US" sz="1500" b="1" dirty="0">
                <a:solidFill>
                  <a:srgbClr val="0F6E56"/>
                </a:solidFill>
                <a:latin typeface="Cambria" pitchFamily="34" charset="0"/>
                <a:ea typeface="Cambria" pitchFamily="34" charset="-122"/>
                <a:cs typeface="Cambria" pitchFamily="34" charset="-120"/>
              </a:rPr>
              <a:t>187 MW</a:t>
            </a:r>
            <a:endParaRPr lang="en-US" sz="1500" dirty="0"/>
          </a:p>
        </p:txBody>
      </p:sp>
      <p:sp>
        <p:nvSpPr>
          <p:cNvPr id="19" name="Text 17"/>
          <p:cNvSpPr/>
          <p:nvPr/>
        </p:nvSpPr>
        <p:spPr>
          <a:xfrm>
            <a:off x="5431536" y="1591056"/>
            <a:ext cx="1627632" cy="219456"/>
          </a:xfrm>
          <a:prstGeom prst="rect">
            <a:avLst/>
          </a:prstGeom>
          <a:noFill/>
          <a:ln/>
        </p:spPr>
        <p:txBody>
          <a:bodyPr wrap="square" lIns="0" tIns="0" rIns="0" bIns="0" rtlCol="0" anchor="ctr"/>
          <a:lstStyle/>
          <a:p>
            <a:pPr algn="ctr" indent="0" marL="0">
              <a:buNone/>
            </a:pPr>
            <a:r>
              <a:rPr lang="en-US" sz="1000" b="1" dirty="0">
                <a:solidFill>
                  <a:srgbClr val="1A1A1A"/>
                </a:solidFill>
              </a:rPr>
              <a:t>Rooftop solar</a:t>
            </a:r>
            <a:endParaRPr lang="en-US" sz="1000" dirty="0"/>
          </a:p>
        </p:txBody>
      </p:sp>
      <p:sp>
        <p:nvSpPr>
          <p:cNvPr id="20" name="Text 18"/>
          <p:cNvSpPr/>
          <p:nvPr/>
        </p:nvSpPr>
        <p:spPr>
          <a:xfrm>
            <a:off x="5431536" y="1801368"/>
            <a:ext cx="1627632" cy="201168"/>
          </a:xfrm>
          <a:prstGeom prst="rect">
            <a:avLst/>
          </a:prstGeom>
          <a:noFill/>
          <a:ln/>
        </p:spPr>
        <p:txBody>
          <a:bodyPr wrap="square" lIns="0" tIns="0" rIns="0" bIns="0" rtlCol="0" anchor="ctr"/>
          <a:lstStyle/>
          <a:p>
            <a:pPr algn="ctr" indent="0" marL="0">
              <a:buNone/>
            </a:pPr>
            <a:r>
              <a:rPr lang="en-US" sz="950" dirty="0">
                <a:solidFill>
                  <a:srgbClr val="5F5E5A"/>
                </a:solidFill>
              </a:rPr>
              <a:t>Distributed RTS</a:t>
            </a:r>
            <a:endParaRPr lang="en-US" sz="950" dirty="0"/>
          </a:p>
        </p:txBody>
      </p:sp>
      <p:sp>
        <p:nvSpPr>
          <p:cNvPr id="21" name="Shape 19"/>
          <p:cNvSpPr/>
          <p:nvPr/>
        </p:nvSpPr>
        <p:spPr>
          <a:xfrm>
            <a:off x="7150608" y="1115568"/>
            <a:ext cx="1627632" cy="1078992"/>
          </a:xfrm>
          <a:prstGeom prst="roundRect">
            <a:avLst>
              <a:gd name="adj" fmla="val 8475"/>
            </a:avLst>
          </a:prstGeom>
          <a:solidFill>
            <a:srgbClr val="E1F5EE"/>
          </a:solidFill>
          <a:ln w="6350">
            <a:solidFill>
              <a:srgbClr val="9FE1CB"/>
            </a:solidFill>
            <a:prstDash val="solid"/>
          </a:ln>
        </p:spPr>
      </p:sp>
      <p:sp>
        <p:nvSpPr>
          <p:cNvPr id="22" name="Text 20"/>
          <p:cNvSpPr/>
          <p:nvPr/>
        </p:nvSpPr>
        <p:spPr>
          <a:xfrm>
            <a:off x="7150608" y="1188720"/>
            <a:ext cx="1627632" cy="420624"/>
          </a:xfrm>
          <a:prstGeom prst="rect">
            <a:avLst/>
          </a:prstGeom>
          <a:noFill/>
          <a:ln/>
        </p:spPr>
        <p:txBody>
          <a:bodyPr wrap="square" lIns="0" tIns="0" rIns="0" bIns="0" rtlCol="0" anchor="ctr"/>
          <a:lstStyle/>
          <a:p>
            <a:pPr algn="ctr" indent="0" marL="0">
              <a:buNone/>
            </a:pPr>
            <a:r>
              <a:rPr lang="en-US" sz="1500" b="1" dirty="0">
                <a:solidFill>
                  <a:srgbClr val="0F6E56"/>
                </a:solidFill>
                <a:latin typeface="Cambria" pitchFamily="34" charset="0"/>
                <a:ea typeface="Cambria" pitchFamily="34" charset="-122"/>
                <a:cs typeface="Cambria" pitchFamily="34" charset="-120"/>
              </a:rPr>
              <a:t>50–100 MWh</a:t>
            </a:r>
            <a:endParaRPr lang="en-US" sz="1500" dirty="0"/>
          </a:p>
        </p:txBody>
      </p:sp>
      <p:sp>
        <p:nvSpPr>
          <p:cNvPr id="23" name="Text 21"/>
          <p:cNvSpPr/>
          <p:nvPr/>
        </p:nvSpPr>
        <p:spPr>
          <a:xfrm>
            <a:off x="7150608" y="1591056"/>
            <a:ext cx="1627632" cy="219456"/>
          </a:xfrm>
          <a:prstGeom prst="rect">
            <a:avLst/>
          </a:prstGeom>
          <a:noFill/>
          <a:ln/>
        </p:spPr>
        <p:txBody>
          <a:bodyPr wrap="square" lIns="0" tIns="0" rIns="0" bIns="0" rtlCol="0" anchor="ctr"/>
          <a:lstStyle/>
          <a:p>
            <a:pPr algn="ctr" indent="0" marL="0">
              <a:buNone/>
            </a:pPr>
            <a:r>
              <a:rPr lang="en-US" sz="1000" b="1" dirty="0">
                <a:solidFill>
                  <a:srgbClr val="1A1A1A"/>
                </a:solidFill>
              </a:rPr>
              <a:t>BESS</a:t>
            </a:r>
            <a:endParaRPr lang="en-US" sz="1000" dirty="0"/>
          </a:p>
        </p:txBody>
      </p:sp>
      <p:sp>
        <p:nvSpPr>
          <p:cNvPr id="24" name="Text 22"/>
          <p:cNvSpPr/>
          <p:nvPr/>
        </p:nvSpPr>
        <p:spPr>
          <a:xfrm>
            <a:off x="7150608" y="1801368"/>
            <a:ext cx="1627632" cy="201168"/>
          </a:xfrm>
          <a:prstGeom prst="rect">
            <a:avLst/>
          </a:prstGeom>
          <a:noFill/>
          <a:ln/>
        </p:spPr>
        <p:txBody>
          <a:bodyPr wrap="square" lIns="0" tIns="0" rIns="0" bIns="0" rtlCol="0" anchor="ctr"/>
          <a:lstStyle/>
          <a:p>
            <a:pPr algn="ctr" indent="0" marL="0">
              <a:buNone/>
            </a:pPr>
            <a:r>
              <a:rPr lang="en-US" sz="950" dirty="0">
                <a:solidFill>
                  <a:srgbClr val="5F5E5A"/>
                </a:solidFill>
              </a:rPr>
              <a:t>Centralized</a:t>
            </a:r>
            <a:endParaRPr lang="en-US" sz="950" dirty="0"/>
          </a:p>
        </p:txBody>
      </p:sp>
      <p:sp>
        <p:nvSpPr>
          <p:cNvPr id="25" name="Text 23"/>
          <p:cNvSpPr/>
          <p:nvPr/>
        </p:nvSpPr>
        <p:spPr>
          <a:xfrm>
            <a:off x="274320" y="2377440"/>
            <a:ext cx="8595360" cy="274320"/>
          </a:xfrm>
          <a:prstGeom prst="rect">
            <a:avLst/>
          </a:prstGeom>
          <a:noFill/>
          <a:ln/>
        </p:spPr>
        <p:txBody>
          <a:bodyPr wrap="square" lIns="0" tIns="0" rIns="0" bIns="0" rtlCol="0" anchor="ctr"/>
          <a:lstStyle/>
          <a:p>
            <a:pPr indent="0" marL="0">
              <a:buNone/>
            </a:pPr>
            <a:r>
              <a:rPr lang="en-US" sz="1200" b="1" dirty="0">
                <a:solidFill>
                  <a:srgbClr val="1A1A1A"/>
                </a:solidFill>
              </a:rPr>
              <a:t>Core requirements — as stated by VSIP</a:t>
            </a:r>
            <a:endParaRPr lang="en-US" sz="1200" dirty="0"/>
          </a:p>
        </p:txBody>
      </p:sp>
      <p:sp>
        <p:nvSpPr>
          <p:cNvPr id="26" name="Shape 24"/>
          <p:cNvSpPr/>
          <p:nvPr/>
        </p:nvSpPr>
        <p:spPr>
          <a:xfrm>
            <a:off x="274320" y="2834640"/>
            <a:ext cx="146304" cy="146304"/>
          </a:xfrm>
          <a:prstGeom prst="ellipse">
            <a:avLst/>
          </a:prstGeom>
          <a:solidFill>
            <a:srgbClr val="1D9E75"/>
          </a:solidFill>
          <a:ln w="12700">
            <a:solidFill>
              <a:srgbClr val="1D9E75"/>
            </a:solidFill>
            <a:prstDash val="solid"/>
          </a:ln>
        </p:spPr>
      </p:sp>
      <p:sp>
        <p:nvSpPr>
          <p:cNvPr id="27" name="Text 25"/>
          <p:cNvSpPr/>
          <p:nvPr/>
        </p:nvSpPr>
        <p:spPr>
          <a:xfrm>
            <a:off x="512064" y="2761488"/>
            <a:ext cx="1920240" cy="347472"/>
          </a:xfrm>
          <a:prstGeom prst="rect">
            <a:avLst/>
          </a:prstGeom>
          <a:noFill/>
          <a:ln/>
        </p:spPr>
        <p:txBody>
          <a:bodyPr wrap="square" lIns="0" tIns="0" rIns="0" bIns="0" rtlCol="0" anchor="ctr"/>
          <a:lstStyle/>
          <a:p>
            <a:pPr indent="0" marL="0">
              <a:buNone/>
            </a:pPr>
            <a:r>
              <a:rPr lang="en-US" sz="1200" b="1" dirty="0">
                <a:solidFill>
                  <a:srgbClr val="1A1A1A"/>
                </a:solidFill>
              </a:rPr>
              <a:t>Multi-vendor integration</a:t>
            </a:r>
            <a:endParaRPr lang="en-US" sz="1200" dirty="0"/>
          </a:p>
        </p:txBody>
      </p:sp>
      <p:sp>
        <p:nvSpPr>
          <p:cNvPr id="28" name="Text 26"/>
          <p:cNvSpPr/>
          <p:nvPr/>
        </p:nvSpPr>
        <p:spPr>
          <a:xfrm>
            <a:off x="2468880" y="2761488"/>
            <a:ext cx="6309360" cy="347472"/>
          </a:xfrm>
          <a:prstGeom prst="rect">
            <a:avLst/>
          </a:prstGeom>
          <a:noFill/>
          <a:ln/>
        </p:spPr>
        <p:txBody>
          <a:bodyPr wrap="square" lIns="0" tIns="0" rIns="0" bIns="0" rtlCol="0" anchor="ctr"/>
          <a:lstStyle/>
          <a:p>
            <a:pPr indent="0" marL="0">
              <a:buNone/>
            </a:pPr>
            <a:r>
              <a:rPr lang="en-US" sz="1150" dirty="0">
                <a:solidFill>
                  <a:srgbClr val="5F5E5A"/>
                </a:solidFill>
              </a:rPr>
              <a:t>IEC-104, Modbus, IEC 61850 — RTS inverters, BESS, meters, protection relays</a:t>
            </a:r>
            <a:endParaRPr lang="en-US" sz="1150" dirty="0"/>
          </a:p>
        </p:txBody>
      </p:sp>
      <p:sp>
        <p:nvSpPr>
          <p:cNvPr id="29" name="Shape 27"/>
          <p:cNvSpPr/>
          <p:nvPr/>
        </p:nvSpPr>
        <p:spPr>
          <a:xfrm>
            <a:off x="274320" y="3255264"/>
            <a:ext cx="146304" cy="146304"/>
          </a:xfrm>
          <a:prstGeom prst="ellipse">
            <a:avLst/>
          </a:prstGeom>
          <a:solidFill>
            <a:srgbClr val="1D9E75"/>
          </a:solidFill>
          <a:ln w="12700">
            <a:solidFill>
              <a:srgbClr val="1D9E75"/>
            </a:solidFill>
            <a:prstDash val="solid"/>
          </a:ln>
        </p:spPr>
      </p:sp>
      <p:sp>
        <p:nvSpPr>
          <p:cNvPr id="30" name="Text 28"/>
          <p:cNvSpPr/>
          <p:nvPr/>
        </p:nvSpPr>
        <p:spPr>
          <a:xfrm>
            <a:off x="512064" y="3182112"/>
            <a:ext cx="1920240" cy="347472"/>
          </a:xfrm>
          <a:prstGeom prst="rect">
            <a:avLst/>
          </a:prstGeom>
          <a:noFill/>
          <a:ln/>
        </p:spPr>
        <p:txBody>
          <a:bodyPr wrap="square" lIns="0" tIns="0" rIns="0" bIns="0" rtlCol="0" anchor="ctr"/>
          <a:lstStyle/>
          <a:p>
            <a:pPr indent="0" marL="0">
              <a:buNone/>
            </a:pPr>
            <a:r>
              <a:rPr lang="en-US" sz="1200" b="1" dirty="0">
                <a:solidFill>
                  <a:srgbClr val="1A1A1A"/>
                </a:solidFill>
              </a:rPr>
              <a:t>Zero-export control</a:t>
            </a:r>
            <a:endParaRPr lang="en-US" sz="1200" dirty="0"/>
          </a:p>
        </p:txBody>
      </p:sp>
      <p:sp>
        <p:nvSpPr>
          <p:cNvPr id="31" name="Text 29"/>
          <p:cNvSpPr/>
          <p:nvPr/>
        </p:nvSpPr>
        <p:spPr>
          <a:xfrm>
            <a:off x="2468880" y="3182112"/>
            <a:ext cx="6309360" cy="347472"/>
          </a:xfrm>
          <a:prstGeom prst="rect">
            <a:avLst/>
          </a:prstGeom>
          <a:noFill/>
          <a:ln/>
        </p:spPr>
        <p:txBody>
          <a:bodyPr wrap="square" lIns="0" tIns="0" rIns="0" bIns="0" rtlCol="0" anchor="ctr"/>
          <a:lstStyle/>
          <a:p>
            <a:pPr indent="0" marL="0">
              <a:buNone/>
            </a:pPr>
            <a:r>
              <a:rPr lang="en-US" sz="1150" dirty="0">
                <a:solidFill>
                  <a:srgbClr val="5F5E5A"/>
                </a:solidFill>
              </a:rPr>
              <a:t>Prevent rooftop solar from backfeeding to the national grid under any operating condition</a:t>
            </a:r>
            <a:endParaRPr lang="en-US" sz="1150" dirty="0"/>
          </a:p>
        </p:txBody>
      </p:sp>
      <p:sp>
        <p:nvSpPr>
          <p:cNvPr id="32" name="Shape 30"/>
          <p:cNvSpPr/>
          <p:nvPr/>
        </p:nvSpPr>
        <p:spPr>
          <a:xfrm>
            <a:off x="274320" y="3675888"/>
            <a:ext cx="146304" cy="146304"/>
          </a:xfrm>
          <a:prstGeom prst="ellipse">
            <a:avLst/>
          </a:prstGeom>
          <a:solidFill>
            <a:srgbClr val="1D9E75"/>
          </a:solidFill>
          <a:ln w="12700">
            <a:solidFill>
              <a:srgbClr val="1D9E75"/>
            </a:solidFill>
            <a:prstDash val="solid"/>
          </a:ln>
        </p:spPr>
      </p:sp>
      <p:sp>
        <p:nvSpPr>
          <p:cNvPr id="33" name="Text 31"/>
          <p:cNvSpPr/>
          <p:nvPr/>
        </p:nvSpPr>
        <p:spPr>
          <a:xfrm>
            <a:off x="512064" y="3602736"/>
            <a:ext cx="1920240" cy="347472"/>
          </a:xfrm>
          <a:prstGeom prst="rect">
            <a:avLst/>
          </a:prstGeom>
          <a:noFill/>
          <a:ln/>
        </p:spPr>
        <p:txBody>
          <a:bodyPr wrap="square" lIns="0" tIns="0" rIns="0" bIns="0" rtlCol="0" anchor="ctr"/>
          <a:lstStyle/>
          <a:p>
            <a:pPr indent="0" marL="0">
              <a:buNone/>
            </a:pPr>
            <a:r>
              <a:rPr lang="en-US" sz="1200" b="1" dirty="0">
                <a:solidFill>
                  <a:srgbClr val="1A1A1A"/>
                </a:solidFill>
              </a:rPr>
              <a:t>Islanding &amp; black start</a:t>
            </a:r>
            <a:endParaRPr lang="en-US" sz="1200" dirty="0"/>
          </a:p>
        </p:txBody>
      </p:sp>
      <p:sp>
        <p:nvSpPr>
          <p:cNvPr id="34" name="Text 32"/>
          <p:cNvSpPr/>
          <p:nvPr/>
        </p:nvSpPr>
        <p:spPr>
          <a:xfrm>
            <a:off x="2468880" y="3602736"/>
            <a:ext cx="6309360" cy="347472"/>
          </a:xfrm>
          <a:prstGeom prst="rect">
            <a:avLst/>
          </a:prstGeom>
          <a:noFill/>
          <a:ln/>
        </p:spPr>
        <p:txBody>
          <a:bodyPr wrap="square" lIns="0" tIns="0" rIns="0" bIns="0" rtlCol="0" anchor="ctr"/>
          <a:lstStyle/>
          <a:p>
            <a:pPr indent="0" marL="0">
              <a:buNone/>
            </a:pPr>
            <a:r>
              <a:rPr lang="en-US" sz="1150" dirty="0">
                <a:solidFill>
                  <a:srgbClr val="5F5E5A"/>
                </a:solidFill>
              </a:rPr>
              <a:t>Maintain power to the industrial park through national grid outages</a:t>
            </a:r>
            <a:endParaRPr lang="en-US" sz="1150" dirty="0"/>
          </a:p>
        </p:txBody>
      </p:sp>
      <p:sp>
        <p:nvSpPr>
          <p:cNvPr id="35" name="Shape 33"/>
          <p:cNvSpPr/>
          <p:nvPr/>
        </p:nvSpPr>
        <p:spPr>
          <a:xfrm>
            <a:off x="274320" y="4096512"/>
            <a:ext cx="146304" cy="146304"/>
          </a:xfrm>
          <a:prstGeom prst="ellipse">
            <a:avLst/>
          </a:prstGeom>
          <a:solidFill>
            <a:srgbClr val="1D9E75"/>
          </a:solidFill>
          <a:ln w="12700">
            <a:solidFill>
              <a:srgbClr val="1D9E75"/>
            </a:solidFill>
            <a:prstDash val="solid"/>
          </a:ln>
        </p:spPr>
      </p:sp>
      <p:sp>
        <p:nvSpPr>
          <p:cNvPr id="36" name="Text 34"/>
          <p:cNvSpPr/>
          <p:nvPr/>
        </p:nvSpPr>
        <p:spPr>
          <a:xfrm>
            <a:off x="512064" y="4023360"/>
            <a:ext cx="1920240" cy="347472"/>
          </a:xfrm>
          <a:prstGeom prst="rect">
            <a:avLst/>
          </a:prstGeom>
          <a:noFill/>
          <a:ln/>
        </p:spPr>
        <p:txBody>
          <a:bodyPr wrap="square" lIns="0" tIns="0" rIns="0" bIns="0" rtlCol="0" anchor="ctr"/>
          <a:lstStyle/>
          <a:p>
            <a:pPr indent="0" marL="0">
              <a:buNone/>
            </a:pPr>
            <a:r>
              <a:rPr lang="en-US" sz="1200" b="1" dirty="0">
                <a:solidFill>
                  <a:srgbClr val="1A1A1A"/>
                </a:solidFill>
              </a:rPr>
              <a:t>Industrial cybersecurity</a:t>
            </a:r>
            <a:endParaRPr lang="en-US" sz="1200" dirty="0"/>
          </a:p>
        </p:txBody>
      </p:sp>
      <p:sp>
        <p:nvSpPr>
          <p:cNvPr id="37" name="Text 35"/>
          <p:cNvSpPr/>
          <p:nvPr/>
        </p:nvSpPr>
        <p:spPr>
          <a:xfrm>
            <a:off x="2468880" y="4023360"/>
            <a:ext cx="6309360" cy="347472"/>
          </a:xfrm>
          <a:prstGeom prst="rect">
            <a:avLst/>
          </a:prstGeom>
          <a:noFill/>
          <a:ln/>
        </p:spPr>
        <p:txBody>
          <a:bodyPr wrap="square" lIns="0" tIns="0" rIns="0" bIns="0" rtlCol="0" anchor="ctr"/>
          <a:lstStyle/>
          <a:p>
            <a:pPr indent="0" marL="0">
              <a:buNone/>
            </a:pPr>
            <a:r>
              <a:rPr lang="en-US" sz="1150" dirty="0">
                <a:solidFill>
                  <a:srgbClr val="5F5E5A"/>
                </a:solidFill>
              </a:rPr>
              <a:t>IEC 62443-compliant OT architecture — built in, not bolted on</a:t>
            </a:r>
            <a:endParaRPr lang="en-US" sz="1150" dirty="0"/>
          </a:p>
        </p:txBody>
      </p:sp>
      <p:sp>
        <p:nvSpPr>
          <p:cNvPr id="38" name="Shape 36"/>
          <p:cNvSpPr/>
          <p:nvPr/>
        </p:nvSpPr>
        <p:spPr>
          <a:xfrm>
            <a:off x="274320" y="4517136"/>
            <a:ext cx="146304" cy="146304"/>
          </a:xfrm>
          <a:prstGeom prst="ellipse">
            <a:avLst/>
          </a:prstGeom>
          <a:solidFill>
            <a:srgbClr val="1D9E75"/>
          </a:solidFill>
          <a:ln w="12700">
            <a:solidFill>
              <a:srgbClr val="1D9E75"/>
            </a:solidFill>
            <a:prstDash val="solid"/>
          </a:ln>
        </p:spPr>
      </p:sp>
      <p:sp>
        <p:nvSpPr>
          <p:cNvPr id="39" name="Text 37"/>
          <p:cNvSpPr/>
          <p:nvPr/>
        </p:nvSpPr>
        <p:spPr>
          <a:xfrm>
            <a:off x="512064" y="4443984"/>
            <a:ext cx="1920240" cy="347472"/>
          </a:xfrm>
          <a:prstGeom prst="rect">
            <a:avLst/>
          </a:prstGeom>
          <a:noFill/>
          <a:ln/>
        </p:spPr>
        <p:txBody>
          <a:bodyPr wrap="square" lIns="0" tIns="0" rIns="0" bIns="0" rtlCol="0" anchor="ctr"/>
          <a:lstStyle/>
          <a:p>
            <a:pPr indent="0" marL="0">
              <a:buNone/>
            </a:pPr>
            <a:r>
              <a:rPr lang="en-US" sz="1200" b="1" dirty="0">
                <a:solidFill>
                  <a:srgbClr val="1A1A1A"/>
                </a:solidFill>
              </a:rPr>
              <a:t>API-ready for AMI &amp; VPP</a:t>
            </a:r>
            <a:endParaRPr lang="en-US" sz="1200" dirty="0"/>
          </a:p>
        </p:txBody>
      </p:sp>
      <p:sp>
        <p:nvSpPr>
          <p:cNvPr id="40" name="Text 38"/>
          <p:cNvSpPr/>
          <p:nvPr/>
        </p:nvSpPr>
        <p:spPr>
          <a:xfrm>
            <a:off x="2468880" y="4443984"/>
            <a:ext cx="6309360" cy="347472"/>
          </a:xfrm>
          <a:prstGeom prst="rect">
            <a:avLst/>
          </a:prstGeom>
          <a:noFill/>
          <a:ln/>
        </p:spPr>
        <p:txBody>
          <a:bodyPr wrap="square" lIns="0" tIns="0" rIns="0" bIns="0" rtlCol="0" anchor="ctr"/>
          <a:lstStyle/>
          <a:p>
            <a:pPr indent="0" marL="0">
              <a:buNone/>
            </a:pPr>
            <a:r>
              <a:rPr lang="en-US" sz="1150" dirty="0">
                <a:solidFill>
                  <a:srgbClr val="5F5E5A"/>
                </a:solidFill>
              </a:rPr>
              <a:t>Future-proofed for advanced metering infrastructure and virtual power plant integration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6858000"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Survalent Brings to VSIP 4</a:t>
            </a:r>
            <a:endParaRPr lang="en-US" sz="2600" dirty="0"/>
          </a:p>
        </p:txBody>
      </p:sp>
      <p:sp>
        <p:nvSpPr>
          <p:cNvPr id="4" name="Shape 2"/>
          <p:cNvSpPr/>
          <p:nvPr/>
        </p:nvSpPr>
        <p:spPr>
          <a:xfrm>
            <a:off x="274320" y="1115568"/>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5" name="Shape 3"/>
          <p:cNvSpPr/>
          <p:nvPr/>
        </p:nvSpPr>
        <p:spPr>
          <a:xfrm>
            <a:off x="438912" y="1280160"/>
            <a:ext cx="384048" cy="384048"/>
          </a:xfrm>
          <a:prstGeom prst="ellipse">
            <a:avLst/>
          </a:prstGeom>
          <a:solidFill>
            <a:srgbClr val="E1F5EE"/>
          </a:solidFill>
          <a:ln w="12700">
            <a:solidFill>
              <a:srgbClr val="E1F5EE"/>
            </a:solidFill>
            <a:prstDash val="solid"/>
          </a:ln>
        </p:spPr>
      </p:sp>
      <p:pic>
        <p:nvPicPr>
          <p:cNvPr id="6" name="Image 0" descr="preencoded.png">    </p:cNvPr>
          <p:cNvPicPr>
            <a:picLocks noChangeAspect="1"/>
          </p:cNvPicPr>
          <p:nvPr/>
        </p:nvPicPr>
        <p:blipFill>
          <a:blip r:embed="rId1"/>
          <a:stretch>
            <a:fillRect/>
          </a:stretch>
        </p:blipFill>
        <p:spPr>
          <a:xfrm>
            <a:off x="493776" y="1335024"/>
            <a:ext cx="274320" cy="274320"/>
          </a:xfrm>
          <a:prstGeom prst="rect">
            <a:avLst/>
          </a:prstGeom>
        </p:spPr>
      </p:pic>
      <p:sp>
        <p:nvSpPr>
          <p:cNvPr id="7" name="Text 4"/>
          <p:cNvSpPr/>
          <p:nvPr/>
        </p:nvSpPr>
        <p:spPr>
          <a:xfrm>
            <a:off x="438912" y="1755648"/>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ADMS</a:t>
            </a:r>
            <a:endParaRPr lang="en-US" sz="1300" dirty="0"/>
          </a:p>
        </p:txBody>
      </p:sp>
      <p:sp>
        <p:nvSpPr>
          <p:cNvPr id="8" name="Text 5"/>
          <p:cNvSpPr/>
          <p:nvPr/>
        </p:nvSpPr>
        <p:spPr>
          <a:xfrm>
            <a:off x="438912" y="2066544"/>
            <a:ext cx="2468880" cy="713232"/>
          </a:xfrm>
          <a:prstGeom prst="rect">
            <a:avLst/>
          </a:prstGeom>
          <a:noFill/>
          <a:ln/>
        </p:spPr>
        <p:txBody>
          <a:bodyPr wrap="square" lIns="0" tIns="0" rIns="0" bIns="0" rtlCol="0" anchor="ctr"/>
          <a:lstStyle/>
          <a:p>
            <a:pPr indent="0" marL="0">
              <a:buNone/>
            </a:pPr>
            <a:r>
              <a:rPr lang="en-US" sz="1050" dirty="0">
                <a:solidFill>
                  <a:srgbClr val="5F5E5A"/>
                </a:solidFill>
              </a:rPr>
              <a:t>Real-time topology, outage management, FLISR, Volt/VAR — across all 3 substations and the full 22kV grid</a:t>
            </a:r>
            <a:endParaRPr lang="en-US" sz="1050" dirty="0"/>
          </a:p>
        </p:txBody>
      </p:sp>
      <p:sp>
        <p:nvSpPr>
          <p:cNvPr id="9" name="Shape 6"/>
          <p:cNvSpPr/>
          <p:nvPr/>
        </p:nvSpPr>
        <p:spPr>
          <a:xfrm>
            <a:off x="3182112" y="1115568"/>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10" name="Shape 7"/>
          <p:cNvSpPr/>
          <p:nvPr/>
        </p:nvSpPr>
        <p:spPr>
          <a:xfrm>
            <a:off x="3346704" y="1280160"/>
            <a:ext cx="384048" cy="384048"/>
          </a:xfrm>
          <a:prstGeom prst="ellipse">
            <a:avLst/>
          </a:prstGeom>
          <a:solidFill>
            <a:srgbClr val="EAF3DE"/>
          </a:solidFill>
          <a:ln w="12700">
            <a:solidFill>
              <a:srgbClr val="EAF3DE"/>
            </a:solidFill>
            <a:prstDash val="solid"/>
          </a:ln>
        </p:spPr>
      </p:sp>
      <p:pic>
        <p:nvPicPr>
          <p:cNvPr id="11" name="Image 1" descr="preencoded.png">    </p:cNvPr>
          <p:cNvPicPr>
            <a:picLocks noChangeAspect="1"/>
          </p:cNvPicPr>
          <p:nvPr/>
        </p:nvPicPr>
        <p:blipFill>
          <a:blip r:embed="rId2"/>
          <a:stretch>
            <a:fillRect/>
          </a:stretch>
        </p:blipFill>
        <p:spPr>
          <a:xfrm>
            <a:off x="3401568" y="1335024"/>
            <a:ext cx="274320" cy="274320"/>
          </a:xfrm>
          <a:prstGeom prst="rect">
            <a:avLst/>
          </a:prstGeom>
        </p:spPr>
      </p:pic>
      <p:sp>
        <p:nvSpPr>
          <p:cNvPr id="12" name="Text 8"/>
          <p:cNvSpPr/>
          <p:nvPr/>
        </p:nvSpPr>
        <p:spPr>
          <a:xfrm>
            <a:off x="3346704" y="1755648"/>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DERMS</a:t>
            </a:r>
            <a:endParaRPr lang="en-US" sz="1300" dirty="0"/>
          </a:p>
        </p:txBody>
      </p:sp>
      <p:sp>
        <p:nvSpPr>
          <p:cNvPr id="13" name="Text 9"/>
          <p:cNvSpPr/>
          <p:nvPr/>
        </p:nvSpPr>
        <p:spPr>
          <a:xfrm>
            <a:off x="3346704" y="2066544"/>
            <a:ext cx="2468880" cy="713232"/>
          </a:xfrm>
          <a:prstGeom prst="rect">
            <a:avLst/>
          </a:prstGeom>
          <a:noFill/>
          <a:ln/>
        </p:spPr>
        <p:txBody>
          <a:bodyPr wrap="square" lIns="0" tIns="0" rIns="0" bIns="0" rtlCol="0" anchor="ctr"/>
          <a:lstStyle/>
          <a:p>
            <a:pPr indent="0" marL="0">
              <a:buNone/>
            </a:pPr>
            <a:r>
              <a:rPr lang="en-US" sz="1050" dirty="0">
                <a:solidFill>
                  <a:srgbClr val="5F5E5A"/>
                </a:solidFill>
              </a:rPr>
              <a:t>Orchestrate 187 MW of distributed rooftop solar — automated curtailment, zero-export enforcement, forecasting</a:t>
            </a:r>
            <a:endParaRPr lang="en-US" sz="1050" dirty="0"/>
          </a:p>
        </p:txBody>
      </p:sp>
      <p:sp>
        <p:nvSpPr>
          <p:cNvPr id="14" name="Shape 10"/>
          <p:cNvSpPr/>
          <p:nvPr/>
        </p:nvSpPr>
        <p:spPr>
          <a:xfrm>
            <a:off x="6089904" y="1115568"/>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15" name="Shape 11"/>
          <p:cNvSpPr/>
          <p:nvPr/>
        </p:nvSpPr>
        <p:spPr>
          <a:xfrm>
            <a:off x="6254496" y="1280160"/>
            <a:ext cx="384048" cy="384048"/>
          </a:xfrm>
          <a:prstGeom prst="ellipse">
            <a:avLst/>
          </a:prstGeom>
          <a:solidFill>
            <a:srgbClr val="FAEEDA"/>
          </a:solidFill>
          <a:ln w="12700">
            <a:solidFill>
              <a:srgbClr val="FAEEDA"/>
            </a:solidFill>
            <a:prstDash val="solid"/>
          </a:ln>
        </p:spPr>
      </p:sp>
      <p:pic>
        <p:nvPicPr>
          <p:cNvPr id="16" name="Image 2" descr="preencoded.png">    </p:cNvPr>
          <p:cNvPicPr>
            <a:picLocks noChangeAspect="1"/>
          </p:cNvPicPr>
          <p:nvPr/>
        </p:nvPicPr>
        <p:blipFill>
          <a:blip r:embed="rId3"/>
          <a:stretch>
            <a:fillRect/>
          </a:stretch>
        </p:blipFill>
        <p:spPr>
          <a:xfrm>
            <a:off x="6309360" y="1335024"/>
            <a:ext cx="274320" cy="274320"/>
          </a:xfrm>
          <a:prstGeom prst="rect">
            <a:avLst/>
          </a:prstGeom>
        </p:spPr>
      </p:pic>
      <p:sp>
        <p:nvSpPr>
          <p:cNvPr id="17" name="Text 12"/>
          <p:cNvSpPr/>
          <p:nvPr/>
        </p:nvSpPr>
        <p:spPr>
          <a:xfrm>
            <a:off x="6254496" y="1755648"/>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Microgrid &amp; BESS</a:t>
            </a:r>
            <a:endParaRPr lang="en-US" sz="1300" dirty="0"/>
          </a:p>
        </p:txBody>
      </p:sp>
      <p:sp>
        <p:nvSpPr>
          <p:cNvPr id="18" name="Text 13"/>
          <p:cNvSpPr/>
          <p:nvPr/>
        </p:nvSpPr>
        <p:spPr>
          <a:xfrm>
            <a:off x="6254496" y="2066544"/>
            <a:ext cx="2468880" cy="713232"/>
          </a:xfrm>
          <a:prstGeom prst="rect">
            <a:avLst/>
          </a:prstGeom>
          <a:noFill/>
          <a:ln/>
        </p:spPr>
        <p:txBody>
          <a:bodyPr wrap="square" lIns="0" tIns="0" rIns="0" bIns="0" rtlCol="0" anchor="ctr"/>
          <a:lstStyle/>
          <a:p>
            <a:pPr indent="0" marL="0">
              <a:buNone/>
            </a:pPr>
            <a:r>
              <a:rPr lang="en-US" sz="1050" dirty="0">
                <a:solidFill>
                  <a:srgbClr val="5F5E5A"/>
                </a:solidFill>
              </a:rPr>
              <a:t>Closed-loop BESS dispatch, peak shaving, islanding, black start, and grid-forming inverter control</a:t>
            </a:r>
            <a:endParaRPr lang="en-US" sz="1050" dirty="0"/>
          </a:p>
        </p:txBody>
      </p:sp>
      <p:sp>
        <p:nvSpPr>
          <p:cNvPr id="19" name="Shape 14"/>
          <p:cNvSpPr/>
          <p:nvPr/>
        </p:nvSpPr>
        <p:spPr>
          <a:xfrm>
            <a:off x="274320" y="2980944"/>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20" name="Shape 15"/>
          <p:cNvSpPr/>
          <p:nvPr/>
        </p:nvSpPr>
        <p:spPr>
          <a:xfrm>
            <a:off x="438912" y="3145536"/>
            <a:ext cx="384048" cy="384048"/>
          </a:xfrm>
          <a:prstGeom prst="ellipse">
            <a:avLst/>
          </a:prstGeom>
          <a:solidFill>
            <a:srgbClr val="EEEDFE"/>
          </a:solidFill>
          <a:ln w="12700">
            <a:solidFill>
              <a:srgbClr val="EEEDFE"/>
            </a:solidFill>
            <a:prstDash val="solid"/>
          </a:ln>
        </p:spPr>
      </p:sp>
      <p:pic>
        <p:nvPicPr>
          <p:cNvPr id="21" name="Image 3" descr="preencoded.png">    </p:cNvPr>
          <p:cNvPicPr>
            <a:picLocks noChangeAspect="1"/>
          </p:cNvPicPr>
          <p:nvPr/>
        </p:nvPicPr>
        <p:blipFill>
          <a:blip r:embed="rId4"/>
          <a:stretch>
            <a:fillRect/>
          </a:stretch>
        </p:blipFill>
        <p:spPr>
          <a:xfrm>
            <a:off x="493776" y="3200400"/>
            <a:ext cx="274320" cy="274320"/>
          </a:xfrm>
          <a:prstGeom prst="rect">
            <a:avLst/>
          </a:prstGeom>
        </p:spPr>
      </p:pic>
      <p:sp>
        <p:nvSpPr>
          <p:cNvPr id="22" name="Text 16"/>
          <p:cNvSpPr/>
          <p:nvPr/>
        </p:nvSpPr>
        <p:spPr>
          <a:xfrm>
            <a:off x="438912" y="3621024"/>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Cybersecurity</a:t>
            </a:r>
            <a:endParaRPr lang="en-US" sz="1300" dirty="0"/>
          </a:p>
        </p:txBody>
      </p:sp>
      <p:sp>
        <p:nvSpPr>
          <p:cNvPr id="23" name="Text 17"/>
          <p:cNvSpPr/>
          <p:nvPr/>
        </p:nvSpPr>
        <p:spPr>
          <a:xfrm>
            <a:off x="438912" y="3931920"/>
            <a:ext cx="2468880" cy="713232"/>
          </a:xfrm>
          <a:prstGeom prst="rect">
            <a:avLst/>
          </a:prstGeom>
          <a:noFill/>
          <a:ln/>
        </p:spPr>
        <p:txBody>
          <a:bodyPr wrap="square" lIns="0" tIns="0" rIns="0" bIns="0" rtlCol="0" anchor="ctr"/>
          <a:lstStyle/>
          <a:p>
            <a:pPr indent="0" marL="0">
              <a:buNone/>
            </a:pPr>
            <a:r>
              <a:rPr lang="en-US" sz="1050" dirty="0">
                <a:solidFill>
                  <a:srgbClr val="5F5E5A"/>
                </a:solidFill>
              </a:rPr>
              <a:t>OT network segmentation, RBAC, audit logging. IEC 62443-compliant by design — not retrofitted</a:t>
            </a:r>
            <a:endParaRPr lang="en-US" sz="1050" dirty="0"/>
          </a:p>
        </p:txBody>
      </p:sp>
      <p:sp>
        <p:nvSpPr>
          <p:cNvPr id="24" name="Shape 18"/>
          <p:cNvSpPr/>
          <p:nvPr/>
        </p:nvSpPr>
        <p:spPr>
          <a:xfrm>
            <a:off x="3182112" y="2980944"/>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25" name="Shape 19"/>
          <p:cNvSpPr/>
          <p:nvPr/>
        </p:nvSpPr>
        <p:spPr>
          <a:xfrm>
            <a:off x="3346704" y="3145536"/>
            <a:ext cx="384048" cy="384048"/>
          </a:xfrm>
          <a:prstGeom prst="ellipse">
            <a:avLst/>
          </a:prstGeom>
          <a:solidFill>
            <a:srgbClr val="E6F1FB"/>
          </a:solidFill>
          <a:ln w="12700">
            <a:solidFill>
              <a:srgbClr val="E6F1FB"/>
            </a:solidFill>
            <a:prstDash val="solid"/>
          </a:ln>
        </p:spPr>
      </p:sp>
      <p:pic>
        <p:nvPicPr>
          <p:cNvPr id="26" name="Image 4" descr="preencoded.png">    </p:cNvPr>
          <p:cNvPicPr>
            <a:picLocks noChangeAspect="1"/>
          </p:cNvPicPr>
          <p:nvPr/>
        </p:nvPicPr>
        <p:blipFill>
          <a:blip r:embed="rId5"/>
          <a:stretch>
            <a:fillRect/>
          </a:stretch>
        </p:blipFill>
        <p:spPr>
          <a:xfrm>
            <a:off x="3401568" y="3200400"/>
            <a:ext cx="274320" cy="274320"/>
          </a:xfrm>
          <a:prstGeom prst="rect">
            <a:avLst/>
          </a:prstGeom>
        </p:spPr>
      </p:pic>
      <p:sp>
        <p:nvSpPr>
          <p:cNvPr id="27" name="Text 20"/>
          <p:cNvSpPr/>
          <p:nvPr/>
        </p:nvSpPr>
        <p:spPr>
          <a:xfrm>
            <a:off x="3346704" y="3621024"/>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Multi-vendor integration</a:t>
            </a:r>
            <a:endParaRPr lang="en-US" sz="1300" dirty="0"/>
          </a:p>
        </p:txBody>
      </p:sp>
      <p:sp>
        <p:nvSpPr>
          <p:cNvPr id="28" name="Text 21"/>
          <p:cNvSpPr/>
          <p:nvPr/>
        </p:nvSpPr>
        <p:spPr>
          <a:xfrm>
            <a:off x="3346704" y="3931920"/>
            <a:ext cx="2468880" cy="713232"/>
          </a:xfrm>
          <a:prstGeom prst="rect">
            <a:avLst/>
          </a:prstGeom>
          <a:noFill/>
          <a:ln/>
        </p:spPr>
        <p:txBody>
          <a:bodyPr wrap="square" lIns="0" tIns="0" rIns="0" bIns="0" rtlCol="0" anchor="ctr"/>
          <a:lstStyle/>
          <a:p>
            <a:pPr indent="0" marL="0">
              <a:buNone/>
            </a:pPr>
            <a:r>
              <a:rPr lang="en-US" sz="1050" dirty="0">
                <a:solidFill>
                  <a:srgbClr val="5F5E5A"/>
                </a:solidFill>
              </a:rPr>
              <a:t>DNP3, IEC 61850, IEC-104, Modbus, IEEE 2030.5, Sunspec. Vendor-agnostic across all DER types</a:t>
            </a:r>
            <a:endParaRPr lang="en-US" sz="1050" dirty="0"/>
          </a:p>
        </p:txBody>
      </p:sp>
      <p:sp>
        <p:nvSpPr>
          <p:cNvPr id="29" name="Shape 22"/>
          <p:cNvSpPr/>
          <p:nvPr/>
        </p:nvSpPr>
        <p:spPr>
          <a:xfrm>
            <a:off x="6089904" y="2980944"/>
            <a:ext cx="2743200" cy="1719072"/>
          </a:xfrm>
          <a:prstGeom prst="roundRect">
            <a:avLst>
              <a:gd name="adj" fmla="val 5319"/>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30" name="Shape 23"/>
          <p:cNvSpPr/>
          <p:nvPr/>
        </p:nvSpPr>
        <p:spPr>
          <a:xfrm>
            <a:off x="6254496" y="3145536"/>
            <a:ext cx="384048" cy="384048"/>
          </a:xfrm>
          <a:prstGeom prst="ellipse">
            <a:avLst/>
          </a:prstGeom>
          <a:solidFill>
            <a:srgbClr val="FBEAF0"/>
          </a:solidFill>
          <a:ln w="12700">
            <a:solidFill>
              <a:srgbClr val="FBEAF0"/>
            </a:solidFill>
            <a:prstDash val="solid"/>
          </a:ln>
        </p:spPr>
      </p:sp>
      <p:pic>
        <p:nvPicPr>
          <p:cNvPr id="31" name="Image 5" descr="preencoded.png">    </p:cNvPr>
          <p:cNvPicPr>
            <a:picLocks noChangeAspect="1"/>
          </p:cNvPicPr>
          <p:nvPr/>
        </p:nvPicPr>
        <p:blipFill>
          <a:blip r:embed="rId6"/>
          <a:stretch>
            <a:fillRect/>
          </a:stretch>
        </p:blipFill>
        <p:spPr>
          <a:xfrm>
            <a:off x="6309360" y="3200400"/>
            <a:ext cx="274320" cy="274320"/>
          </a:xfrm>
          <a:prstGeom prst="rect">
            <a:avLst/>
          </a:prstGeom>
        </p:spPr>
      </p:pic>
      <p:sp>
        <p:nvSpPr>
          <p:cNvPr id="32" name="Text 24"/>
          <p:cNvSpPr/>
          <p:nvPr/>
        </p:nvSpPr>
        <p:spPr>
          <a:xfrm>
            <a:off x="6254496" y="3621024"/>
            <a:ext cx="2468880" cy="292608"/>
          </a:xfrm>
          <a:prstGeom prst="rect">
            <a:avLst/>
          </a:prstGeom>
          <a:noFill/>
          <a:ln/>
        </p:spPr>
        <p:txBody>
          <a:bodyPr wrap="square" lIns="0" tIns="0" rIns="0" bIns="0" rtlCol="0" anchor="ctr"/>
          <a:lstStyle/>
          <a:p>
            <a:pPr indent="0" marL="0">
              <a:buNone/>
            </a:pPr>
            <a:r>
              <a:rPr lang="en-US" sz="1300" b="1" dirty="0">
                <a:solidFill>
                  <a:srgbClr val="1A1A1A"/>
                </a:solidFill>
              </a:rPr>
              <a:t>VPP &amp; AMI readiness</a:t>
            </a:r>
            <a:endParaRPr lang="en-US" sz="1300" dirty="0"/>
          </a:p>
        </p:txBody>
      </p:sp>
      <p:sp>
        <p:nvSpPr>
          <p:cNvPr id="33" name="Text 25"/>
          <p:cNvSpPr/>
          <p:nvPr/>
        </p:nvSpPr>
        <p:spPr>
          <a:xfrm>
            <a:off x="6254496" y="3931920"/>
            <a:ext cx="2468880" cy="713232"/>
          </a:xfrm>
          <a:prstGeom prst="rect">
            <a:avLst/>
          </a:prstGeom>
          <a:noFill/>
          <a:ln/>
        </p:spPr>
        <p:txBody>
          <a:bodyPr wrap="square" lIns="0" tIns="0" rIns="0" bIns="0" rtlCol="0" anchor="ctr"/>
          <a:lstStyle/>
          <a:p>
            <a:pPr indent="0" marL="0">
              <a:buNone/>
            </a:pPr>
            <a:r>
              <a:rPr lang="en-US" sz="1050" dirty="0">
                <a:solidFill>
                  <a:srgbClr val="5F5E5A"/>
                </a:solidFill>
              </a:rPr>
              <a:t>Open API for AMI and VPP integration. Demand response, market participation, ESG reporting — ready when VSIP is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6858000"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Recommended System Architecture</a:t>
            </a:r>
            <a:endParaRPr lang="en-US" sz="2600" dirty="0"/>
          </a:p>
        </p:txBody>
      </p:sp>
      <p:sp>
        <p:nvSpPr>
          <p:cNvPr id="4" name="Text 2"/>
          <p:cNvSpPr/>
          <p:nvPr/>
        </p:nvSpPr>
        <p:spPr>
          <a:xfrm>
            <a:off x="5669280" y="0"/>
            <a:ext cx="3291840" cy="1005840"/>
          </a:xfrm>
          <a:prstGeom prst="rect">
            <a:avLst/>
          </a:prstGeom>
          <a:noFill/>
          <a:ln/>
        </p:spPr>
        <p:txBody>
          <a:bodyPr wrap="square" rtlCol="0" anchor="ctr"/>
          <a:lstStyle/>
          <a:p>
            <a:pPr algn="r" indent="0" marL="0">
              <a:buNone/>
            </a:pPr>
            <a:r>
              <a:rPr lang="en-US" sz="1100" i="1" dirty="0">
                <a:solidFill>
                  <a:srgbClr val="9FE1CB"/>
                </a:solidFill>
              </a:rPr>
              <a:t>Design for Phase 5. Build in Phase 1.</a:t>
            </a:r>
            <a:endParaRPr lang="en-US" sz="1100" dirty="0"/>
          </a:p>
        </p:txBody>
      </p:sp>
      <p:sp>
        <p:nvSpPr>
          <p:cNvPr id="5" name="Shape 3"/>
          <p:cNvSpPr/>
          <p:nvPr/>
        </p:nvSpPr>
        <p:spPr>
          <a:xfrm>
            <a:off x="274320" y="1115568"/>
            <a:ext cx="8595360" cy="658368"/>
          </a:xfrm>
          <a:prstGeom prst="roundRect">
            <a:avLst>
              <a:gd name="adj" fmla="val 11111"/>
            </a:avLst>
          </a:prstGeom>
          <a:solidFill>
            <a:srgbClr val="EEEDFE"/>
          </a:solidFill>
          <a:ln w="9525">
            <a:solidFill>
              <a:srgbClr val="AFA9EC"/>
            </a:solidFill>
            <a:prstDash val="solid"/>
          </a:ln>
        </p:spPr>
      </p:sp>
      <p:sp>
        <p:nvSpPr>
          <p:cNvPr id="6" name="Text 4"/>
          <p:cNvSpPr/>
          <p:nvPr/>
        </p:nvSpPr>
        <p:spPr>
          <a:xfrm>
            <a:off x="475488" y="1152144"/>
            <a:ext cx="1828800" cy="585216"/>
          </a:xfrm>
          <a:prstGeom prst="rect">
            <a:avLst/>
          </a:prstGeom>
          <a:noFill/>
          <a:ln/>
        </p:spPr>
        <p:txBody>
          <a:bodyPr wrap="square" lIns="0" tIns="0" rIns="0" bIns="0" rtlCol="0" anchor="ctr"/>
          <a:lstStyle/>
          <a:p>
            <a:pPr indent="0" marL="0">
              <a:buNone/>
            </a:pPr>
            <a:r>
              <a:rPr lang="en-US" sz="1000" b="1" spc="100" kern="0" dirty="0">
                <a:solidFill>
                  <a:srgbClr val="3C3489"/>
                </a:solidFill>
              </a:rPr>
              <a:t>SMART ENERGY LAYER</a:t>
            </a:r>
            <a:endParaRPr lang="en-US" sz="1000" dirty="0"/>
          </a:p>
        </p:txBody>
      </p:sp>
      <p:sp>
        <p:nvSpPr>
          <p:cNvPr id="7" name="Shape 5"/>
          <p:cNvSpPr/>
          <p:nvPr/>
        </p:nvSpPr>
        <p:spPr>
          <a:xfrm>
            <a:off x="2377440" y="1444752"/>
            <a:ext cx="0" cy="0"/>
          </a:xfrm>
          <a:prstGeom prst="line">
            <a:avLst/>
          </a:prstGeom>
          <a:noFill/>
          <a:ln w="12700">
            <a:solidFill>
              <a:srgbClr val="AFA9EC"/>
            </a:solidFill>
            <a:prstDash val="solid"/>
          </a:ln>
        </p:spPr>
      </p:sp>
      <p:sp>
        <p:nvSpPr>
          <p:cNvPr id="8" name="Shape 6"/>
          <p:cNvSpPr/>
          <p:nvPr/>
        </p:nvSpPr>
        <p:spPr>
          <a:xfrm>
            <a:off x="2395728" y="1225296"/>
            <a:ext cx="9144" cy="438912"/>
          </a:xfrm>
          <a:prstGeom prst="rect">
            <a:avLst/>
          </a:prstGeom>
          <a:solidFill>
            <a:srgbClr val="AFA9EC"/>
          </a:solidFill>
          <a:ln w="6350">
            <a:solidFill>
              <a:srgbClr val="AFA9EC"/>
            </a:solidFill>
            <a:prstDash val="solid"/>
          </a:ln>
        </p:spPr>
      </p:sp>
      <p:sp>
        <p:nvSpPr>
          <p:cNvPr id="9" name="Text 7"/>
          <p:cNvSpPr/>
          <p:nvPr/>
        </p:nvSpPr>
        <p:spPr>
          <a:xfrm>
            <a:off x="2560320" y="1152144"/>
            <a:ext cx="6126480" cy="585216"/>
          </a:xfrm>
          <a:prstGeom prst="rect">
            <a:avLst/>
          </a:prstGeom>
          <a:noFill/>
          <a:ln/>
        </p:spPr>
        <p:txBody>
          <a:bodyPr wrap="square" lIns="0" tIns="0" rIns="0" bIns="0" rtlCol="0" anchor="ctr"/>
          <a:lstStyle/>
          <a:p>
            <a:pPr indent="0" marL="0">
              <a:buNone/>
            </a:pPr>
            <a:r>
              <a:rPr lang="en-US" sz="1100" dirty="0">
                <a:solidFill>
                  <a:srgbClr val="5F5E5A"/>
                </a:solidFill>
              </a:rPr>
              <a:t>VPP platform · AMI integration · carbon reporting · demand response · market participation</a:t>
            </a:r>
            <a:endParaRPr lang="en-US" sz="1100" dirty="0"/>
          </a:p>
        </p:txBody>
      </p:sp>
      <p:sp>
        <p:nvSpPr>
          <p:cNvPr id="10" name="Shape 8"/>
          <p:cNvSpPr/>
          <p:nvPr/>
        </p:nvSpPr>
        <p:spPr>
          <a:xfrm>
            <a:off x="274320" y="1865376"/>
            <a:ext cx="8595360" cy="658368"/>
          </a:xfrm>
          <a:prstGeom prst="roundRect">
            <a:avLst>
              <a:gd name="adj" fmla="val 11111"/>
            </a:avLst>
          </a:prstGeom>
          <a:solidFill>
            <a:srgbClr val="FAEEDA"/>
          </a:solidFill>
          <a:ln w="9525">
            <a:solidFill>
              <a:srgbClr val="FAC775"/>
            </a:solidFill>
            <a:prstDash val="solid"/>
          </a:ln>
        </p:spPr>
      </p:sp>
      <p:sp>
        <p:nvSpPr>
          <p:cNvPr id="11" name="Text 9"/>
          <p:cNvSpPr/>
          <p:nvPr/>
        </p:nvSpPr>
        <p:spPr>
          <a:xfrm>
            <a:off x="475488" y="1901952"/>
            <a:ext cx="1828800" cy="585216"/>
          </a:xfrm>
          <a:prstGeom prst="rect">
            <a:avLst/>
          </a:prstGeom>
          <a:noFill/>
          <a:ln/>
        </p:spPr>
        <p:txBody>
          <a:bodyPr wrap="square" lIns="0" tIns="0" rIns="0" bIns="0" rtlCol="0" anchor="ctr"/>
          <a:lstStyle/>
          <a:p>
            <a:pPr indent="0" marL="0">
              <a:buNone/>
            </a:pPr>
            <a:r>
              <a:rPr lang="en-US" sz="1000" b="1" spc="100" kern="0" dirty="0">
                <a:solidFill>
                  <a:srgbClr val="854F0B"/>
                </a:solidFill>
              </a:rPr>
              <a:t>MICROGRID LAYER</a:t>
            </a:r>
            <a:endParaRPr lang="en-US" sz="1000" dirty="0"/>
          </a:p>
        </p:txBody>
      </p:sp>
      <p:sp>
        <p:nvSpPr>
          <p:cNvPr id="12" name="Shape 10"/>
          <p:cNvSpPr/>
          <p:nvPr/>
        </p:nvSpPr>
        <p:spPr>
          <a:xfrm>
            <a:off x="2377440" y="2194560"/>
            <a:ext cx="0" cy="0"/>
          </a:xfrm>
          <a:prstGeom prst="line">
            <a:avLst/>
          </a:prstGeom>
          <a:noFill/>
          <a:ln w="12700">
            <a:solidFill>
              <a:srgbClr val="FAC775"/>
            </a:solidFill>
            <a:prstDash val="solid"/>
          </a:ln>
        </p:spPr>
      </p:sp>
      <p:sp>
        <p:nvSpPr>
          <p:cNvPr id="13" name="Shape 11"/>
          <p:cNvSpPr/>
          <p:nvPr/>
        </p:nvSpPr>
        <p:spPr>
          <a:xfrm>
            <a:off x="2395728" y="1975104"/>
            <a:ext cx="9144" cy="438912"/>
          </a:xfrm>
          <a:prstGeom prst="rect">
            <a:avLst/>
          </a:prstGeom>
          <a:solidFill>
            <a:srgbClr val="FAC775"/>
          </a:solidFill>
          <a:ln w="6350">
            <a:solidFill>
              <a:srgbClr val="FAC775"/>
            </a:solidFill>
            <a:prstDash val="solid"/>
          </a:ln>
        </p:spPr>
      </p:sp>
      <p:sp>
        <p:nvSpPr>
          <p:cNvPr id="14" name="Text 12"/>
          <p:cNvSpPr/>
          <p:nvPr/>
        </p:nvSpPr>
        <p:spPr>
          <a:xfrm>
            <a:off x="2560320" y="1901952"/>
            <a:ext cx="6126480" cy="585216"/>
          </a:xfrm>
          <a:prstGeom prst="rect">
            <a:avLst/>
          </a:prstGeom>
          <a:noFill/>
          <a:ln/>
        </p:spPr>
        <p:txBody>
          <a:bodyPr wrap="square" lIns="0" tIns="0" rIns="0" bIns="0" rtlCol="0" anchor="ctr"/>
          <a:lstStyle/>
          <a:p>
            <a:pPr indent="0" marL="0">
              <a:buNone/>
            </a:pPr>
            <a:r>
              <a:rPr lang="en-US" sz="1100" dirty="0">
                <a:solidFill>
                  <a:srgbClr val="5F5E5A"/>
                </a:solidFill>
              </a:rPr>
              <a:t>Microgrid controller · BESS dispatch · islanding detection · black start · grid-forming control</a:t>
            </a:r>
            <a:endParaRPr lang="en-US" sz="1100" dirty="0"/>
          </a:p>
        </p:txBody>
      </p:sp>
      <p:sp>
        <p:nvSpPr>
          <p:cNvPr id="15" name="Shape 13"/>
          <p:cNvSpPr/>
          <p:nvPr/>
        </p:nvSpPr>
        <p:spPr>
          <a:xfrm>
            <a:off x="274320" y="2615184"/>
            <a:ext cx="8595360" cy="658368"/>
          </a:xfrm>
          <a:prstGeom prst="roundRect">
            <a:avLst>
              <a:gd name="adj" fmla="val 11111"/>
            </a:avLst>
          </a:prstGeom>
          <a:solidFill>
            <a:srgbClr val="EAF3DE"/>
          </a:solidFill>
          <a:ln w="9525">
            <a:solidFill>
              <a:srgbClr val="C0DD97"/>
            </a:solidFill>
            <a:prstDash val="solid"/>
          </a:ln>
        </p:spPr>
      </p:sp>
      <p:sp>
        <p:nvSpPr>
          <p:cNvPr id="16" name="Text 14"/>
          <p:cNvSpPr/>
          <p:nvPr/>
        </p:nvSpPr>
        <p:spPr>
          <a:xfrm>
            <a:off x="475488" y="2651760"/>
            <a:ext cx="1828800" cy="585216"/>
          </a:xfrm>
          <a:prstGeom prst="rect">
            <a:avLst/>
          </a:prstGeom>
          <a:noFill/>
          <a:ln/>
        </p:spPr>
        <p:txBody>
          <a:bodyPr wrap="square" lIns="0" tIns="0" rIns="0" bIns="0" rtlCol="0" anchor="ctr"/>
          <a:lstStyle/>
          <a:p>
            <a:pPr indent="0" marL="0">
              <a:buNone/>
            </a:pPr>
            <a:r>
              <a:rPr lang="en-US" sz="1000" b="1" spc="100" kern="0" dirty="0">
                <a:solidFill>
                  <a:srgbClr val="3B6D11"/>
                </a:solidFill>
              </a:rPr>
              <a:t>DERMS LAYER</a:t>
            </a:r>
            <a:endParaRPr lang="en-US" sz="1000" dirty="0"/>
          </a:p>
        </p:txBody>
      </p:sp>
      <p:sp>
        <p:nvSpPr>
          <p:cNvPr id="17" name="Shape 15"/>
          <p:cNvSpPr/>
          <p:nvPr/>
        </p:nvSpPr>
        <p:spPr>
          <a:xfrm>
            <a:off x="2377440" y="2944368"/>
            <a:ext cx="0" cy="0"/>
          </a:xfrm>
          <a:prstGeom prst="line">
            <a:avLst/>
          </a:prstGeom>
          <a:noFill/>
          <a:ln w="12700">
            <a:solidFill>
              <a:srgbClr val="C0DD97"/>
            </a:solidFill>
            <a:prstDash val="solid"/>
          </a:ln>
        </p:spPr>
      </p:sp>
      <p:sp>
        <p:nvSpPr>
          <p:cNvPr id="18" name="Shape 16"/>
          <p:cNvSpPr/>
          <p:nvPr/>
        </p:nvSpPr>
        <p:spPr>
          <a:xfrm>
            <a:off x="2395728" y="2724912"/>
            <a:ext cx="9144" cy="438912"/>
          </a:xfrm>
          <a:prstGeom prst="rect">
            <a:avLst/>
          </a:prstGeom>
          <a:solidFill>
            <a:srgbClr val="C0DD97"/>
          </a:solidFill>
          <a:ln w="6350">
            <a:solidFill>
              <a:srgbClr val="C0DD97"/>
            </a:solidFill>
            <a:prstDash val="solid"/>
          </a:ln>
        </p:spPr>
      </p:sp>
      <p:sp>
        <p:nvSpPr>
          <p:cNvPr id="19" name="Text 17"/>
          <p:cNvSpPr/>
          <p:nvPr/>
        </p:nvSpPr>
        <p:spPr>
          <a:xfrm>
            <a:off x="2560320" y="2651760"/>
            <a:ext cx="6126480" cy="585216"/>
          </a:xfrm>
          <a:prstGeom prst="rect">
            <a:avLst/>
          </a:prstGeom>
          <a:noFill/>
          <a:ln/>
        </p:spPr>
        <p:txBody>
          <a:bodyPr wrap="square" lIns="0" tIns="0" rIns="0" bIns="0" rtlCol="0" anchor="ctr"/>
          <a:lstStyle/>
          <a:p>
            <a:pPr indent="0" marL="0">
              <a:buNone/>
            </a:pPr>
            <a:r>
              <a:rPr lang="en-US" sz="1100" dirty="0">
                <a:solidFill>
                  <a:srgbClr val="5F5E5A"/>
                </a:solidFill>
              </a:rPr>
              <a:t>RTS monitoring · curtailment · zero-export enforcement · solar &amp; load forecasting · BESS optimization</a:t>
            </a:r>
            <a:endParaRPr lang="en-US" sz="1100" dirty="0"/>
          </a:p>
        </p:txBody>
      </p:sp>
      <p:sp>
        <p:nvSpPr>
          <p:cNvPr id="20" name="Shape 18"/>
          <p:cNvSpPr/>
          <p:nvPr/>
        </p:nvSpPr>
        <p:spPr>
          <a:xfrm>
            <a:off x="274320" y="3364992"/>
            <a:ext cx="8595360" cy="658368"/>
          </a:xfrm>
          <a:prstGeom prst="roundRect">
            <a:avLst>
              <a:gd name="adj" fmla="val 11111"/>
            </a:avLst>
          </a:prstGeom>
          <a:solidFill>
            <a:srgbClr val="E6F1FB"/>
          </a:solidFill>
          <a:ln w="9525">
            <a:solidFill>
              <a:srgbClr val="85B7EB"/>
            </a:solidFill>
            <a:prstDash val="solid"/>
          </a:ln>
        </p:spPr>
      </p:sp>
      <p:sp>
        <p:nvSpPr>
          <p:cNvPr id="21" name="Text 19"/>
          <p:cNvSpPr/>
          <p:nvPr/>
        </p:nvSpPr>
        <p:spPr>
          <a:xfrm>
            <a:off x="475488" y="3401568"/>
            <a:ext cx="1828800" cy="585216"/>
          </a:xfrm>
          <a:prstGeom prst="rect">
            <a:avLst/>
          </a:prstGeom>
          <a:noFill/>
          <a:ln/>
        </p:spPr>
        <p:txBody>
          <a:bodyPr wrap="square" lIns="0" tIns="0" rIns="0" bIns="0" rtlCol="0" anchor="ctr"/>
          <a:lstStyle/>
          <a:p>
            <a:pPr indent="0" marL="0">
              <a:buNone/>
            </a:pPr>
            <a:r>
              <a:rPr lang="en-US" sz="1000" b="1" spc="100" kern="0" dirty="0">
                <a:solidFill>
                  <a:srgbClr val="0C447C"/>
                </a:solidFill>
              </a:rPr>
              <a:t>ADMS LAYER</a:t>
            </a:r>
            <a:endParaRPr lang="en-US" sz="1000" dirty="0"/>
          </a:p>
        </p:txBody>
      </p:sp>
      <p:sp>
        <p:nvSpPr>
          <p:cNvPr id="22" name="Shape 20"/>
          <p:cNvSpPr/>
          <p:nvPr/>
        </p:nvSpPr>
        <p:spPr>
          <a:xfrm>
            <a:off x="2377440" y="3694176"/>
            <a:ext cx="0" cy="0"/>
          </a:xfrm>
          <a:prstGeom prst="line">
            <a:avLst/>
          </a:prstGeom>
          <a:noFill/>
          <a:ln w="12700">
            <a:solidFill>
              <a:srgbClr val="85B7EB"/>
            </a:solidFill>
            <a:prstDash val="solid"/>
          </a:ln>
        </p:spPr>
      </p:sp>
      <p:sp>
        <p:nvSpPr>
          <p:cNvPr id="23" name="Shape 21"/>
          <p:cNvSpPr/>
          <p:nvPr/>
        </p:nvSpPr>
        <p:spPr>
          <a:xfrm>
            <a:off x="2395728" y="3474720"/>
            <a:ext cx="9144" cy="438912"/>
          </a:xfrm>
          <a:prstGeom prst="rect">
            <a:avLst/>
          </a:prstGeom>
          <a:solidFill>
            <a:srgbClr val="85B7EB"/>
          </a:solidFill>
          <a:ln w="6350">
            <a:solidFill>
              <a:srgbClr val="85B7EB"/>
            </a:solidFill>
            <a:prstDash val="solid"/>
          </a:ln>
        </p:spPr>
      </p:sp>
      <p:sp>
        <p:nvSpPr>
          <p:cNvPr id="24" name="Text 22"/>
          <p:cNvSpPr/>
          <p:nvPr/>
        </p:nvSpPr>
        <p:spPr>
          <a:xfrm>
            <a:off x="2560320" y="3401568"/>
            <a:ext cx="6126480" cy="585216"/>
          </a:xfrm>
          <a:prstGeom prst="rect">
            <a:avLst/>
          </a:prstGeom>
          <a:noFill/>
          <a:ln/>
        </p:spPr>
        <p:txBody>
          <a:bodyPr wrap="square" lIns="0" tIns="0" rIns="0" bIns="0" rtlCol="0" anchor="ctr"/>
          <a:lstStyle/>
          <a:p>
            <a:pPr indent="0" marL="0">
              <a:buNone/>
            </a:pPr>
            <a:r>
              <a:rPr lang="en-US" sz="1100" dirty="0">
                <a:solidFill>
                  <a:srgbClr val="5F5E5A"/>
                </a:solidFill>
              </a:rPr>
              <a:t>Network topology · outage management · FLISR · Volt/VAR · fault location · operator alarms</a:t>
            </a:r>
            <a:endParaRPr lang="en-US" sz="1100" dirty="0"/>
          </a:p>
        </p:txBody>
      </p:sp>
      <p:sp>
        <p:nvSpPr>
          <p:cNvPr id="25" name="Shape 23"/>
          <p:cNvSpPr/>
          <p:nvPr/>
        </p:nvSpPr>
        <p:spPr>
          <a:xfrm>
            <a:off x="274320" y="4114800"/>
            <a:ext cx="8595360" cy="658368"/>
          </a:xfrm>
          <a:prstGeom prst="roundRect">
            <a:avLst>
              <a:gd name="adj" fmla="val 11111"/>
            </a:avLst>
          </a:prstGeom>
          <a:solidFill>
            <a:srgbClr val="E1F5EE"/>
          </a:solidFill>
          <a:ln w="9525">
            <a:solidFill>
              <a:srgbClr val="5DCAA5"/>
            </a:solidFill>
            <a:prstDash val="solid"/>
          </a:ln>
        </p:spPr>
      </p:sp>
      <p:sp>
        <p:nvSpPr>
          <p:cNvPr id="26" name="Text 24"/>
          <p:cNvSpPr/>
          <p:nvPr/>
        </p:nvSpPr>
        <p:spPr>
          <a:xfrm>
            <a:off x="475488" y="4151376"/>
            <a:ext cx="1828800" cy="585216"/>
          </a:xfrm>
          <a:prstGeom prst="rect">
            <a:avLst/>
          </a:prstGeom>
          <a:noFill/>
          <a:ln/>
        </p:spPr>
        <p:txBody>
          <a:bodyPr wrap="square" lIns="0" tIns="0" rIns="0" bIns="0" rtlCol="0" anchor="ctr"/>
          <a:lstStyle/>
          <a:p>
            <a:pPr indent="0" marL="0">
              <a:buNone/>
            </a:pPr>
            <a:r>
              <a:rPr lang="en-US" sz="1000" b="1" spc="100" kern="0" dirty="0">
                <a:solidFill>
                  <a:srgbClr val="0F6E56"/>
                </a:solidFill>
              </a:rPr>
              <a:t>FOUNDATION LAYER</a:t>
            </a:r>
            <a:endParaRPr lang="en-US" sz="1000" dirty="0"/>
          </a:p>
        </p:txBody>
      </p:sp>
      <p:sp>
        <p:nvSpPr>
          <p:cNvPr id="27" name="Shape 25"/>
          <p:cNvSpPr/>
          <p:nvPr/>
        </p:nvSpPr>
        <p:spPr>
          <a:xfrm>
            <a:off x="2377440" y="4443984"/>
            <a:ext cx="0" cy="0"/>
          </a:xfrm>
          <a:prstGeom prst="line">
            <a:avLst/>
          </a:prstGeom>
          <a:noFill/>
          <a:ln w="12700">
            <a:solidFill>
              <a:srgbClr val="5DCAA5"/>
            </a:solidFill>
            <a:prstDash val="solid"/>
          </a:ln>
        </p:spPr>
      </p:sp>
      <p:sp>
        <p:nvSpPr>
          <p:cNvPr id="28" name="Shape 26"/>
          <p:cNvSpPr/>
          <p:nvPr/>
        </p:nvSpPr>
        <p:spPr>
          <a:xfrm>
            <a:off x="2395728" y="4224528"/>
            <a:ext cx="9144" cy="438912"/>
          </a:xfrm>
          <a:prstGeom prst="rect">
            <a:avLst/>
          </a:prstGeom>
          <a:solidFill>
            <a:srgbClr val="5DCAA5"/>
          </a:solidFill>
          <a:ln w="6350">
            <a:solidFill>
              <a:srgbClr val="5DCAA5"/>
            </a:solidFill>
            <a:prstDash val="solid"/>
          </a:ln>
        </p:spPr>
      </p:sp>
      <p:sp>
        <p:nvSpPr>
          <p:cNvPr id="29" name="Text 27"/>
          <p:cNvSpPr/>
          <p:nvPr/>
        </p:nvSpPr>
        <p:spPr>
          <a:xfrm>
            <a:off x="2560320" y="4151376"/>
            <a:ext cx="6126480" cy="585216"/>
          </a:xfrm>
          <a:prstGeom prst="rect">
            <a:avLst/>
          </a:prstGeom>
          <a:noFill/>
          <a:ln/>
        </p:spPr>
        <p:txBody>
          <a:bodyPr wrap="square" lIns="0" tIns="0" rIns="0" bIns="0" rtlCol="0" anchor="ctr"/>
          <a:lstStyle/>
          <a:p>
            <a:pPr indent="0" marL="0">
              <a:buNone/>
            </a:pPr>
            <a:r>
              <a:rPr lang="en-US" sz="1100" dirty="0">
                <a:solidFill>
                  <a:srgbClr val="5F5E5A"/>
                </a:solidFill>
              </a:rPr>
              <a:t>SCADA · 3× 110kV substations · 22kV grid · reclosers / LBS / RMUs · power quality · OT cybersecurity · fiber comms backbone</a:t>
            </a:r>
            <a:endParaRPr lang="en-US" sz="1100" dirty="0"/>
          </a:p>
        </p:txBody>
      </p:sp>
      <p:sp>
        <p:nvSpPr>
          <p:cNvPr id="30" name="Shape 28"/>
          <p:cNvSpPr/>
          <p:nvPr/>
        </p:nvSpPr>
        <p:spPr>
          <a:xfrm>
            <a:off x="274320" y="4773168"/>
            <a:ext cx="8595360" cy="256032"/>
          </a:xfrm>
          <a:prstGeom prst="roundRect">
            <a:avLst>
              <a:gd name="adj" fmla="val 17857"/>
            </a:avLst>
          </a:prstGeom>
          <a:solidFill>
            <a:srgbClr val="E1F5EE"/>
          </a:solidFill>
          <a:ln w="6350">
            <a:solidFill>
              <a:srgbClr val="9FE1CB"/>
            </a:solidFill>
            <a:prstDash val="solid"/>
          </a:ln>
        </p:spPr>
      </p:sp>
      <p:sp>
        <p:nvSpPr>
          <p:cNvPr id="31" name="Text 29"/>
          <p:cNvSpPr/>
          <p:nvPr/>
        </p:nvSpPr>
        <p:spPr>
          <a:xfrm>
            <a:off x="457200" y="4773168"/>
            <a:ext cx="8321040" cy="256032"/>
          </a:xfrm>
          <a:prstGeom prst="rect">
            <a:avLst/>
          </a:prstGeom>
          <a:noFill/>
          <a:ln/>
        </p:spPr>
        <p:txBody>
          <a:bodyPr wrap="square" lIns="0" tIns="0" rIns="0" bIns="0" rtlCol="0" anchor="ctr"/>
          <a:lstStyle/>
          <a:p>
            <a:pPr indent="0" marL="0">
              <a:buNone/>
            </a:pPr>
            <a:r>
              <a:rPr lang="en-US" sz="1000" i="1" dirty="0">
                <a:solidFill>
                  <a:srgbClr val="0F6E56"/>
                </a:solidFill>
              </a:rPr>
              <a:t>Key principle: The foundation data model, communication backbone, and cybersecurity architecture must be designed for all 5 layers from day one. Retrofitting later costs years and money.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6858000"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5-Phase Investment Roadmap</a:t>
            </a:r>
            <a:endParaRPr lang="en-US" sz="2600" dirty="0"/>
          </a:p>
        </p:txBody>
      </p:sp>
      <p:sp>
        <p:nvSpPr>
          <p:cNvPr id="4" name="Text 2"/>
          <p:cNvSpPr/>
          <p:nvPr/>
        </p:nvSpPr>
        <p:spPr>
          <a:xfrm>
            <a:off x="6217920" y="0"/>
            <a:ext cx="2743200" cy="1005840"/>
          </a:xfrm>
          <a:prstGeom prst="rect">
            <a:avLst/>
          </a:prstGeom>
          <a:noFill/>
          <a:ln/>
        </p:spPr>
        <p:txBody>
          <a:bodyPr wrap="square" rtlCol="0" anchor="ctr"/>
          <a:lstStyle/>
          <a:p>
            <a:pPr algn="r" indent="0" marL="0">
              <a:buNone/>
            </a:pPr>
            <a:r>
              <a:rPr lang="en-US" sz="1100" i="1" dirty="0">
                <a:solidFill>
                  <a:srgbClr val="9FE1CB"/>
                </a:solidFill>
              </a:rPr>
              <a:t>Each phase delivers standalone value</a:t>
            </a:r>
            <a:endParaRPr lang="en-US" sz="1100" dirty="0"/>
          </a:p>
        </p:txBody>
      </p:sp>
      <p:sp>
        <p:nvSpPr>
          <p:cNvPr id="5" name="Shape 3"/>
          <p:cNvSpPr/>
          <p:nvPr/>
        </p:nvSpPr>
        <p:spPr>
          <a:xfrm>
            <a:off x="274320" y="1115568"/>
            <a:ext cx="1609344" cy="3840480"/>
          </a:xfrm>
          <a:prstGeom prst="roundRect">
            <a:avLst>
              <a:gd name="adj" fmla="val 5682"/>
            </a:avLst>
          </a:prstGeom>
          <a:solidFill>
            <a:srgbClr val="E1F5EE"/>
          </a:solidFill>
          <a:ln w="9525">
            <a:solidFill>
              <a:srgbClr val="5DCAA5"/>
            </a:solidFill>
            <a:prstDash val="solid"/>
          </a:ln>
          <a:effectLst>
            <a:outerShdw sx="100000" sy="100000" kx="0" ky="0" algn="bl" rotWithShape="0" blurRad="63500" dist="25400" dir="2700000">
              <a:srgbClr val="000000">
                <a:alpha val="8000"/>
              </a:srgbClr>
            </a:outerShdw>
          </a:effectLst>
        </p:spPr>
      </p:sp>
      <p:sp>
        <p:nvSpPr>
          <p:cNvPr id="6" name="Shape 4"/>
          <p:cNvSpPr/>
          <p:nvPr/>
        </p:nvSpPr>
        <p:spPr>
          <a:xfrm>
            <a:off x="859536" y="1261872"/>
            <a:ext cx="438912" cy="438912"/>
          </a:xfrm>
          <a:prstGeom prst="ellipse">
            <a:avLst/>
          </a:prstGeom>
          <a:solidFill>
            <a:srgbClr val="0F6E56"/>
          </a:solidFill>
          <a:ln w="12700">
            <a:solidFill>
              <a:srgbClr val="0F6E56"/>
            </a:solidFill>
            <a:prstDash val="solid"/>
          </a:ln>
        </p:spPr>
      </p:sp>
      <p:sp>
        <p:nvSpPr>
          <p:cNvPr id="7" name="Text 5"/>
          <p:cNvSpPr/>
          <p:nvPr/>
        </p:nvSpPr>
        <p:spPr>
          <a:xfrm>
            <a:off x="859536" y="12618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365760" y="1792224"/>
            <a:ext cx="1426464" cy="493776"/>
          </a:xfrm>
          <a:prstGeom prst="rect">
            <a:avLst/>
          </a:prstGeom>
          <a:noFill/>
          <a:ln/>
        </p:spPr>
        <p:txBody>
          <a:bodyPr wrap="square" lIns="0" tIns="0" rIns="0" bIns="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Foundation</a:t>
            </a:r>
            <a:endParaRPr lang="en-US" sz="1200" dirty="0"/>
          </a:p>
        </p:txBody>
      </p:sp>
      <p:sp>
        <p:nvSpPr>
          <p:cNvPr id="9" name="Text 7"/>
          <p:cNvSpPr/>
          <p:nvPr/>
        </p:nvSpPr>
        <p:spPr>
          <a:xfrm>
            <a:off x="365760" y="2286000"/>
            <a:ext cx="1426464" cy="274320"/>
          </a:xfrm>
          <a:prstGeom prst="rect">
            <a:avLst/>
          </a:prstGeom>
          <a:noFill/>
          <a:ln/>
        </p:spPr>
        <p:txBody>
          <a:bodyPr wrap="square" lIns="0" tIns="0" rIns="0" bIns="0" rtlCol="0" anchor="ctr"/>
          <a:lstStyle/>
          <a:p>
            <a:pPr algn="ctr" indent="0" marL="0">
              <a:buNone/>
            </a:pPr>
            <a:r>
              <a:rPr lang="en-US" sz="900" i="1" dirty="0">
                <a:solidFill>
                  <a:srgbClr val="888780"/>
                </a:solidFill>
              </a:rPr>
              <a:t>Construction → energization</a:t>
            </a:r>
            <a:endParaRPr lang="en-US" sz="900" dirty="0"/>
          </a:p>
        </p:txBody>
      </p:sp>
      <p:sp>
        <p:nvSpPr>
          <p:cNvPr id="10" name="Shape 8"/>
          <p:cNvSpPr/>
          <p:nvPr/>
        </p:nvSpPr>
        <p:spPr>
          <a:xfrm>
            <a:off x="457200" y="2615184"/>
            <a:ext cx="1243584" cy="0"/>
          </a:xfrm>
          <a:prstGeom prst="line">
            <a:avLst/>
          </a:prstGeom>
          <a:noFill/>
          <a:ln w="6350">
            <a:solidFill>
              <a:srgbClr val="5DCAA5"/>
            </a:solidFill>
            <a:prstDash val="solid"/>
          </a:ln>
        </p:spPr>
      </p:sp>
      <p:sp>
        <p:nvSpPr>
          <p:cNvPr id="11" name="Shape 9"/>
          <p:cNvSpPr/>
          <p:nvPr/>
        </p:nvSpPr>
        <p:spPr>
          <a:xfrm>
            <a:off x="384048" y="2743200"/>
            <a:ext cx="1389888" cy="274320"/>
          </a:xfrm>
          <a:prstGeom prst="roundRect">
            <a:avLst>
              <a:gd name="adj" fmla="val 20000"/>
            </a:avLst>
          </a:prstGeom>
          <a:solidFill>
            <a:srgbClr val="FFFFFF"/>
          </a:solidFill>
          <a:ln w="6350">
            <a:solidFill>
              <a:srgbClr val="5DCAA5"/>
            </a:solidFill>
            <a:prstDash val="solid"/>
          </a:ln>
        </p:spPr>
      </p:sp>
      <p:sp>
        <p:nvSpPr>
          <p:cNvPr id="12" name="Text 10"/>
          <p:cNvSpPr/>
          <p:nvPr/>
        </p:nvSpPr>
        <p:spPr>
          <a:xfrm>
            <a:off x="384048" y="274320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SCADA</a:t>
            </a:r>
            <a:endParaRPr lang="en-US" sz="950" dirty="0"/>
          </a:p>
        </p:txBody>
      </p:sp>
      <p:sp>
        <p:nvSpPr>
          <p:cNvPr id="13" name="Shape 11"/>
          <p:cNvSpPr/>
          <p:nvPr/>
        </p:nvSpPr>
        <p:spPr>
          <a:xfrm>
            <a:off x="384048" y="3090672"/>
            <a:ext cx="1389888" cy="274320"/>
          </a:xfrm>
          <a:prstGeom prst="roundRect">
            <a:avLst>
              <a:gd name="adj" fmla="val 20000"/>
            </a:avLst>
          </a:prstGeom>
          <a:solidFill>
            <a:srgbClr val="FFFFFF"/>
          </a:solidFill>
          <a:ln w="6350">
            <a:solidFill>
              <a:srgbClr val="5DCAA5"/>
            </a:solidFill>
            <a:prstDash val="solid"/>
          </a:ln>
        </p:spPr>
      </p:sp>
      <p:sp>
        <p:nvSpPr>
          <p:cNvPr id="14" name="Text 12"/>
          <p:cNvSpPr/>
          <p:nvPr/>
        </p:nvSpPr>
        <p:spPr>
          <a:xfrm>
            <a:off x="384048" y="3090672"/>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Substations</a:t>
            </a:r>
            <a:endParaRPr lang="en-US" sz="950" dirty="0"/>
          </a:p>
        </p:txBody>
      </p:sp>
      <p:sp>
        <p:nvSpPr>
          <p:cNvPr id="15" name="Shape 13"/>
          <p:cNvSpPr/>
          <p:nvPr/>
        </p:nvSpPr>
        <p:spPr>
          <a:xfrm>
            <a:off x="384048" y="3438144"/>
            <a:ext cx="1389888" cy="274320"/>
          </a:xfrm>
          <a:prstGeom prst="roundRect">
            <a:avLst>
              <a:gd name="adj" fmla="val 20000"/>
            </a:avLst>
          </a:prstGeom>
          <a:solidFill>
            <a:srgbClr val="FFFFFF"/>
          </a:solidFill>
          <a:ln w="6350">
            <a:solidFill>
              <a:srgbClr val="5DCAA5"/>
            </a:solidFill>
            <a:prstDash val="solid"/>
          </a:ln>
        </p:spPr>
      </p:sp>
      <p:sp>
        <p:nvSpPr>
          <p:cNvPr id="16" name="Text 14"/>
          <p:cNvSpPr/>
          <p:nvPr/>
        </p:nvSpPr>
        <p:spPr>
          <a:xfrm>
            <a:off x="384048" y="3438144"/>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Reclosers / LBS / RMUs</a:t>
            </a:r>
            <a:endParaRPr lang="en-US" sz="950" dirty="0"/>
          </a:p>
        </p:txBody>
      </p:sp>
      <p:sp>
        <p:nvSpPr>
          <p:cNvPr id="17" name="Shape 15"/>
          <p:cNvSpPr/>
          <p:nvPr/>
        </p:nvSpPr>
        <p:spPr>
          <a:xfrm>
            <a:off x="384048" y="3785616"/>
            <a:ext cx="1389888" cy="274320"/>
          </a:xfrm>
          <a:prstGeom prst="roundRect">
            <a:avLst>
              <a:gd name="adj" fmla="val 20000"/>
            </a:avLst>
          </a:prstGeom>
          <a:solidFill>
            <a:srgbClr val="FFFFFF"/>
          </a:solidFill>
          <a:ln w="6350">
            <a:solidFill>
              <a:srgbClr val="5DCAA5"/>
            </a:solidFill>
            <a:prstDash val="solid"/>
          </a:ln>
        </p:spPr>
      </p:sp>
      <p:sp>
        <p:nvSpPr>
          <p:cNvPr id="18" name="Text 16"/>
          <p:cNvSpPr/>
          <p:nvPr/>
        </p:nvSpPr>
        <p:spPr>
          <a:xfrm>
            <a:off x="384048" y="3785616"/>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Power quality</a:t>
            </a:r>
            <a:endParaRPr lang="en-US" sz="950" dirty="0"/>
          </a:p>
        </p:txBody>
      </p:sp>
      <p:sp>
        <p:nvSpPr>
          <p:cNvPr id="19" name="Shape 17"/>
          <p:cNvSpPr/>
          <p:nvPr/>
        </p:nvSpPr>
        <p:spPr>
          <a:xfrm>
            <a:off x="384048" y="4133088"/>
            <a:ext cx="1389888" cy="274320"/>
          </a:xfrm>
          <a:prstGeom prst="roundRect">
            <a:avLst>
              <a:gd name="adj" fmla="val 20000"/>
            </a:avLst>
          </a:prstGeom>
          <a:solidFill>
            <a:srgbClr val="FFFFFF"/>
          </a:solidFill>
          <a:ln w="6350">
            <a:solidFill>
              <a:srgbClr val="5DCAA5"/>
            </a:solidFill>
            <a:prstDash val="solid"/>
          </a:ln>
        </p:spPr>
      </p:sp>
      <p:sp>
        <p:nvSpPr>
          <p:cNvPr id="20" name="Text 18"/>
          <p:cNvSpPr/>
          <p:nvPr/>
        </p:nvSpPr>
        <p:spPr>
          <a:xfrm>
            <a:off x="384048" y="4133088"/>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OT cybersecurity</a:t>
            </a:r>
            <a:endParaRPr lang="en-US" sz="950" dirty="0"/>
          </a:p>
        </p:txBody>
      </p:sp>
      <p:sp>
        <p:nvSpPr>
          <p:cNvPr id="21" name="Shape 19"/>
          <p:cNvSpPr/>
          <p:nvPr/>
        </p:nvSpPr>
        <p:spPr>
          <a:xfrm>
            <a:off x="384048" y="4480560"/>
            <a:ext cx="1389888" cy="274320"/>
          </a:xfrm>
          <a:prstGeom prst="roundRect">
            <a:avLst>
              <a:gd name="adj" fmla="val 20000"/>
            </a:avLst>
          </a:prstGeom>
          <a:solidFill>
            <a:srgbClr val="FFFFFF"/>
          </a:solidFill>
          <a:ln w="6350">
            <a:solidFill>
              <a:srgbClr val="5DCAA5"/>
            </a:solidFill>
            <a:prstDash val="solid"/>
          </a:ln>
        </p:spPr>
      </p:sp>
      <p:sp>
        <p:nvSpPr>
          <p:cNvPr id="22" name="Text 20"/>
          <p:cNvSpPr/>
          <p:nvPr/>
        </p:nvSpPr>
        <p:spPr>
          <a:xfrm>
            <a:off x="384048" y="448056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Fiber comms backbone</a:t>
            </a:r>
            <a:endParaRPr lang="en-US" sz="950" dirty="0"/>
          </a:p>
        </p:txBody>
      </p:sp>
      <p:sp>
        <p:nvSpPr>
          <p:cNvPr id="23" name="Shape 21"/>
          <p:cNvSpPr/>
          <p:nvPr/>
        </p:nvSpPr>
        <p:spPr>
          <a:xfrm>
            <a:off x="1883664" y="3035808"/>
            <a:ext cx="128016" cy="0"/>
          </a:xfrm>
          <a:prstGeom prst="line">
            <a:avLst/>
          </a:prstGeom>
          <a:noFill/>
          <a:ln w="19050">
            <a:solidFill>
              <a:srgbClr val="D3D1C7"/>
            </a:solidFill>
            <a:prstDash val="solid"/>
          </a:ln>
        </p:spPr>
      </p:sp>
      <p:sp>
        <p:nvSpPr>
          <p:cNvPr id="24" name="Shape 22"/>
          <p:cNvSpPr/>
          <p:nvPr/>
        </p:nvSpPr>
        <p:spPr>
          <a:xfrm>
            <a:off x="2011680" y="1115568"/>
            <a:ext cx="1609344" cy="3840480"/>
          </a:xfrm>
          <a:prstGeom prst="roundRect">
            <a:avLst>
              <a:gd name="adj" fmla="val 5682"/>
            </a:avLst>
          </a:prstGeom>
          <a:solidFill>
            <a:srgbClr val="E6F1FB"/>
          </a:solidFill>
          <a:ln w="9525">
            <a:solidFill>
              <a:srgbClr val="85B7EB"/>
            </a:solidFill>
            <a:prstDash val="solid"/>
          </a:ln>
          <a:effectLst>
            <a:outerShdw sx="100000" sy="100000" kx="0" ky="0" algn="bl" rotWithShape="0" blurRad="63500" dist="25400" dir="2700000">
              <a:srgbClr val="000000">
                <a:alpha val="8000"/>
              </a:srgbClr>
            </a:outerShdw>
          </a:effectLst>
        </p:spPr>
      </p:sp>
      <p:sp>
        <p:nvSpPr>
          <p:cNvPr id="25" name="Shape 23"/>
          <p:cNvSpPr/>
          <p:nvPr/>
        </p:nvSpPr>
        <p:spPr>
          <a:xfrm>
            <a:off x="2596896" y="1261872"/>
            <a:ext cx="438912" cy="438912"/>
          </a:xfrm>
          <a:prstGeom prst="ellipse">
            <a:avLst/>
          </a:prstGeom>
          <a:solidFill>
            <a:srgbClr val="185FA5"/>
          </a:solidFill>
          <a:ln w="12700">
            <a:solidFill>
              <a:srgbClr val="185FA5"/>
            </a:solidFill>
            <a:prstDash val="solid"/>
          </a:ln>
        </p:spPr>
      </p:sp>
      <p:sp>
        <p:nvSpPr>
          <p:cNvPr id="26" name="Text 24"/>
          <p:cNvSpPr/>
          <p:nvPr/>
        </p:nvSpPr>
        <p:spPr>
          <a:xfrm>
            <a:off x="2596896" y="12618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7" name="Text 25"/>
          <p:cNvSpPr/>
          <p:nvPr/>
        </p:nvSpPr>
        <p:spPr>
          <a:xfrm>
            <a:off x="2103120" y="1792224"/>
            <a:ext cx="1426464" cy="493776"/>
          </a:xfrm>
          <a:prstGeom prst="rect">
            <a:avLst/>
          </a:prstGeom>
          <a:noFill/>
          <a:ln/>
        </p:spPr>
        <p:txBody>
          <a:bodyPr wrap="square" lIns="0" tIns="0" rIns="0" bIns="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Grid intelligence</a:t>
            </a:r>
            <a:endParaRPr lang="en-US" sz="1200" dirty="0"/>
          </a:p>
        </p:txBody>
      </p:sp>
      <p:sp>
        <p:nvSpPr>
          <p:cNvPr id="28" name="Text 26"/>
          <p:cNvSpPr/>
          <p:nvPr/>
        </p:nvSpPr>
        <p:spPr>
          <a:xfrm>
            <a:off x="2103120" y="2286000"/>
            <a:ext cx="1426464" cy="274320"/>
          </a:xfrm>
          <a:prstGeom prst="rect">
            <a:avLst/>
          </a:prstGeom>
          <a:noFill/>
          <a:ln/>
        </p:spPr>
        <p:txBody>
          <a:bodyPr wrap="square" lIns="0" tIns="0" rIns="0" bIns="0" rtlCol="0" anchor="ctr"/>
          <a:lstStyle/>
          <a:p>
            <a:pPr algn="ctr" indent="0" marL="0">
              <a:buNone/>
            </a:pPr>
            <a:r>
              <a:rPr lang="en-US" sz="900" i="1" dirty="0">
                <a:solidFill>
                  <a:srgbClr val="888780"/>
                </a:solidFill>
              </a:rPr>
              <a:t>Early operations</a:t>
            </a:r>
            <a:endParaRPr lang="en-US" sz="900" dirty="0"/>
          </a:p>
        </p:txBody>
      </p:sp>
      <p:sp>
        <p:nvSpPr>
          <p:cNvPr id="29" name="Shape 27"/>
          <p:cNvSpPr/>
          <p:nvPr/>
        </p:nvSpPr>
        <p:spPr>
          <a:xfrm>
            <a:off x="2194560" y="2615184"/>
            <a:ext cx="1243584" cy="0"/>
          </a:xfrm>
          <a:prstGeom prst="line">
            <a:avLst/>
          </a:prstGeom>
          <a:noFill/>
          <a:ln w="6350">
            <a:solidFill>
              <a:srgbClr val="85B7EB"/>
            </a:solidFill>
            <a:prstDash val="solid"/>
          </a:ln>
        </p:spPr>
      </p:sp>
      <p:sp>
        <p:nvSpPr>
          <p:cNvPr id="30" name="Shape 28"/>
          <p:cNvSpPr/>
          <p:nvPr/>
        </p:nvSpPr>
        <p:spPr>
          <a:xfrm>
            <a:off x="2121408" y="2743200"/>
            <a:ext cx="1389888" cy="274320"/>
          </a:xfrm>
          <a:prstGeom prst="roundRect">
            <a:avLst>
              <a:gd name="adj" fmla="val 20000"/>
            </a:avLst>
          </a:prstGeom>
          <a:solidFill>
            <a:srgbClr val="FFFFFF"/>
          </a:solidFill>
          <a:ln w="6350">
            <a:solidFill>
              <a:srgbClr val="85B7EB"/>
            </a:solidFill>
            <a:prstDash val="solid"/>
          </a:ln>
        </p:spPr>
      </p:sp>
      <p:sp>
        <p:nvSpPr>
          <p:cNvPr id="31" name="Text 29"/>
          <p:cNvSpPr/>
          <p:nvPr/>
        </p:nvSpPr>
        <p:spPr>
          <a:xfrm>
            <a:off x="2121408" y="274320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ADMS</a:t>
            </a:r>
            <a:endParaRPr lang="en-US" sz="950" dirty="0"/>
          </a:p>
        </p:txBody>
      </p:sp>
      <p:sp>
        <p:nvSpPr>
          <p:cNvPr id="32" name="Shape 30"/>
          <p:cNvSpPr/>
          <p:nvPr/>
        </p:nvSpPr>
        <p:spPr>
          <a:xfrm>
            <a:off x="2121408" y="3090672"/>
            <a:ext cx="1389888" cy="274320"/>
          </a:xfrm>
          <a:prstGeom prst="roundRect">
            <a:avLst>
              <a:gd name="adj" fmla="val 20000"/>
            </a:avLst>
          </a:prstGeom>
          <a:solidFill>
            <a:srgbClr val="FFFFFF"/>
          </a:solidFill>
          <a:ln w="6350">
            <a:solidFill>
              <a:srgbClr val="85B7EB"/>
            </a:solidFill>
            <a:prstDash val="solid"/>
          </a:ln>
        </p:spPr>
      </p:sp>
      <p:sp>
        <p:nvSpPr>
          <p:cNvPr id="33" name="Text 31"/>
          <p:cNvSpPr/>
          <p:nvPr/>
        </p:nvSpPr>
        <p:spPr>
          <a:xfrm>
            <a:off x="2121408" y="3090672"/>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Network topology</a:t>
            </a:r>
            <a:endParaRPr lang="en-US" sz="950" dirty="0"/>
          </a:p>
        </p:txBody>
      </p:sp>
      <p:sp>
        <p:nvSpPr>
          <p:cNvPr id="34" name="Shape 32"/>
          <p:cNvSpPr/>
          <p:nvPr/>
        </p:nvSpPr>
        <p:spPr>
          <a:xfrm>
            <a:off x="2121408" y="3438144"/>
            <a:ext cx="1389888" cy="274320"/>
          </a:xfrm>
          <a:prstGeom prst="roundRect">
            <a:avLst>
              <a:gd name="adj" fmla="val 20000"/>
            </a:avLst>
          </a:prstGeom>
          <a:solidFill>
            <a:srgbClr val="FFFFFF"/>
          </a:solidFill>
          <a:ln w="6350">
            <a:solidFill>
              <a:srgbClr val="85B7EB"/>
            </a:solidFill>
            <a:prstDash val="solid"/>
          </a:ln>
        </p:spPr>
      </p:sp>
      <p:sp>
        <p:nvSpPr>
          <p:cNvPr id="35" name="Text 33"/>
          <p:cNvSpPr/>
          <p:nvPr/>
        </p:nvSpPr>
        <p:spPr>
          <a:xfrm>
            <a:off x="2121408" y="3438144"/>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FLISR</a:t>
            </a:r>
            <a:endParaRPr lang="en-US" sz="950" dirty="0"/>
          </a:p>
        </p:txBody>
      </p:sp>
      <p:sp>
        <p:nvSpPr>
          <p:cNvPr id="36" name="Shape 34"/>
          <p:cNvSpPr/>
          <p:nvPr/>
        </p:nvSpPr>
        <p:spPr>
          <a:xfrm>
            <a:off x="2121408" y="3785616"/>
            <a:ext cx="1389888" cy="274320"/>
          </a:xfrm>
          <a:prstGeom prst="roundRect">
            <a:avLst>
              <a:gd name="adj" fmla="val 20000"/>
            </a:avLst>
          </a:prstGeom>
          <a:solidFill>
            <a:srgbClr val="FFFFFF"/>
          </a:solidFill>
          <a:ln w="6350">
            <a:solidFill>
              <a:srgbClr val="85B7EB"/>
            </a:solidFill>
            <a:prstDash val="solid"/>
          </a:ln>
        </p:spPr>
      </p:sp>
      <p:sp>
        <p:nvSpPr>
          <p:cNvPr id="37" name="Text 35"/>
          <p:cNvSpPr/>
          <p:nvPr/>
        </p:nvSpPr>
        <p:spPr>
          <a:xfrm>
            <a:off x="2121408" y="3785616"/>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Volt/VAR</a:t>
            </a:r>
            <a:endParaRPr lang="en-US" sz="950" dirty="0"/>
          </a:p>
        </p:txBody>
      </p:sp>
      <p:sp>
        <p:nvSpPr>
          <p:cNvPr id="38" name="Shape 36"/>
          <p:cNvSpPr/>
          <p:nvPr/>
        </p:nvSpPr>
        <p:spPr>
          <a:xfrm>
            <a:off x="2121408" y="4133088"/>
            <a:ext cx="1389888" cy="274320"/>
          </a:xfrm>
          <a:prstGeom prst="roundRect">
            <a:avLst>
              <a:gd name="adj" fmla="val 20000"/>
            </a:avLst>
          </a:prstGeom>
          <a:solidFill>
            <a:srgbClr val="FFFFFF"/>
          </a:solidFill>
          <a:ln w="6350">
            <a:solidFill>
              <a:srgbClr val="85B7EB"/>
            </a:solidFill>
            <a:prstDash val="solid"/>
          </a:ln>
        </p:spPr>
      </p:sp>
      <p:sp>
        <p:nvSpPr>
          <p:cNvPr id="39" name="Text 37"/>
          <p:cNvSpPr/>
          <p:nvPr/>
        </p:nvSpPr>
        <p:spPr>
          <a:xfrm>
            <a:off x="2121408" y="4133088"/>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Zero-export alarms</a:t>
            </a:r>
            <a:endParaRPr lang="en-US" sz="950" dirty="0"/>
          </a:p>
        </p:txBody>
      </p:sp>
      <p:sp>
        <p:nvSpPr>
          <p:cNvPr id="40" name="Shape 38"/>
          <p:cNvSpPr/>
          <p:nvPr/>
        </p:nvSpPr>
        <p:spPr>
          <a:xfrm>
            <a:off x="2121408" y="4480560"/>
            <a:ext cx="1389888" cy="274320"/>
          </a:xfrm>
          <a:prstGeom prst="roundRect">
            <a:avLst>
              <a:gd name="adj" fmla="val 20000"/>
            </a:avLst>
          </a:prstGeom>
          <a:solidFill>
            <a:srgbClr val="FFFFFF"/>
          </a:solidFill>
          <a:ln w="6350">
            <a:solidFill>
              <a:srgbClr val="85B7EB"/>
            </a:solidFill>
            <a:prstDash val="solid"/>
          </a:ln>
        </p:spPr>
      </p:sp>
      <p:sp>
        <p:nvSpPr>
          <p:cNvPr id="41" name="Text 39"/>
          <p:cNvSpPr/>
          <p:nvPr/>
        </p:nvSpPr>
        <p:spPr>
          <a:xfrm>
            <a:off x="2121408" y="448056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Basic BESS dispatch</a:t>
            </a:r>
            <a:endParaRPr lang="en-US" sz="950" dirty="0"/>
          </a:p>
        </p:txBody>
      </p:sp>
      <p:sp>
        <p:nvSpPr>
          <p:cNvPr id="42" name="Shape 40"/>
          <p:cNvSpPr/>
          <p:nvPr/>
        </p:nvSpPr>
        <p:spPr>
          <a:xfrm>
            <a:off x="3621024" y="3035808"/>
            <a:ext cx="128016" cy="0"/>
          </a:xfrm>
          <a:prstGeom prst="line">
            <a:avLst/>
          </a:prstGeom>
          <a:noFill/>
          <a:ln w="19050">
            <a:solidFill>
              <a:srgbClr val="D3D1C7"/>
            </a:solidFill>
            <a:prstDash val="solid"/>
          </a:ln>
        </p:spPr>
      </p:sp>
      <p:sp>
        <p:nvSpPr>
          <p:cNvPr id="43" name="Shape 41"/>
          <p:cNvSpPr/>
          <p:nvPr/>
        </p:nvSpPr>
        <p:spPr>
          <a:xfrm>
            <a:off x="3749040" y="1115568"/>
            <a:ext cx="1609344" cy="3840480"/>
          </a:xfrm>
          <a:prstGeom prst="roundRect">
            <a:avLst>
              <a:gd name="adj" fmla="val 5682"/>
            </a:avLst>
          </a:prstGeom>
          <a:solidFill>
            <a:srgbClr val="EAF3DE"/>
          </a:solidFill>
          <a:ln w="9525">
            <a:solidFill>
              <a:srgbClr val="97C459"/>
            </a:solidFill>
            <a:prstDash val="solid"/>
          </a:ln>
          <a:effectLst>
            <a:outerShdw sx="100000" sy="100000" kx="0" ky="0" algn="bl" rotWithShape="0" blurRad="63500" dist="25400" dir="2700000">
              <a:srgbClr val="000000">
                <a:alpha val="8000"/>
              </a:srgbClr>
            </a:outerShdw>
          </a:effectLst>
        </p:spPr>
      </p:sp>
      <p:sp>
        <p:nvSpPr>
          <p:cNvPr id="44" name="Shape 42"/>
          <p:cNvSpPr/>
          <p:nvPr/>
        </p:nvSpPr>
        <p:spPr>
          <a:xfrm>
            <a:off x="4334256" y="1261872"/>
            <a:ext cx="438912" cy="438912"/>
          </a:xfrm>
          <a:prstGeom prst="ellipse">
            <a:avLst/>
          </a:prstGeom>
          <a:solidFill>
            <a:srgbClr val="3B6D11"/>
          </a:solidFill>
          <a:ln w="12700">
            <a:solidFill>
              <a:srgbClr val="3B6D11"/>
            </a:solidFill>
            <a:prstDash val="solid"/>
          </a:ln>
        </p:spPr>
      </p:sp>
      <p:sp>
        <p:nvSpPr>
          <p:cNvPr id="45" name="Text 43"/>
          <p:cNvSpPr/>
          <p:nvPr/>
        </p:nvSpPr>
        <p:spPr>
          <a:xfrm>
            <a:off x="4334256" y="12618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6" name="Text 44"/>
          <p:cNvSpPr/>
          <p:nvPr/>
        </p:nvSpPr>
        <p:spPr>
          <a:xfrm>
            <a:off x="3840480" y="1792224"/>
            <a:ext cx="1426464" cy="493776"/>
          </a:xfrm>
          <a:prstGeom prst="rect">
            <a:avLst/>
          </a:prstGeom>
          <a:noFill/>
          <a:ln/>
        </p:spPr>
        <p:txBody>
          <a:bodyPr wrap="square" lIns="0" tIns="0" rIns="0" bIns="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Renewable integration</a:t>
            </a:r>
            <a:endParaRPr lang="en-US" sz="1200" dirty="0"/>
          </a:p>
        </p:txBody>
      </p:sp>
      <p:sp>
        <p:nvSpPr>
          <p:cNvPr id="47" name="Text 45"/>
          <p:cNvSpPr/>
          <p:nvPr/>
        </p:nvSpPr>
        <p:spPr>
          <a:xfrm>
            <a:off x="3840480" y="2286000"/>
            <a:ext cx="1426464" cy="274320"/>
          </a:xfrm>
          <a:prstGeom prst="rect">
            <a:avLst/>
          </a:prstGeom>
          <a:noFill/>
          <a:ln/>
        </p:spPr>
        <p:txBody>
          <a:bodyPr wrap="square" lIns="0" tIns="0" rIns="0" bIns="0" rtlCol="0" anchor="ctr"/>
          <a:lstStyle/>
          <a:p>
            <a:pPr algn="ctr" indent="0" marL="0">
              <a:buNone/>
            </a:pPr>
            <a:r>
              <a:rPr lang="en-US" sz="900" i="1" dirty="0">
                <a:solidFill>
                  <a:srgbClr val="888780"/>
                </a:solidFill>
              </a:rPr>
              <a:t>As RTS scales</a:t>
            </a:r>
            <a:endParaRPr lang="en-US" sz="900" dirty="0"/>
          </a:p>
        </p:txBody>
      </p:sp>
      <p:sp>
        <p:nvSpPr>
          <p:cNvPr id="48" name="Shape 46"/>
          <p:cNvSpPr/>
          <p:nvPr/>
        </p:nvSpPr>
        <p:spPr>
          <a:xfrm>
            <a:off x="3931920" y="2615184"/>
            <a:ext cx="1243584" cy="0"/>
          </a:xfrm>
          <a:prstGeom prst="line">
            <a:avLst/>
          </a:prstGeom>
          <a:noFill/>
          <a:ln w="6350">
            <a:solidFill>
              <a:srgbClr val="97C459"/>
            </a:solidFill>
            <a:prstDash val="solid"/>
          </a:ln>
        </p:spPr>
      </p:sp>
      <p:sp>
        <p:nvSpPr>
          <p:cNvPr id="49" name="Shape 47"/>
          <p:cNvSpPr/>
          <p:nvPr/>
        </p:nvSpPr>
        <p:spPr>
          <a:xfrm>
            <a:off x="3858768" y="2743200"/>
            <a:ext cx="1389888" cy="274320"/>
          </a:xfrm>
          <a:prstGeom prst="roundRect">
            <a:avLst>
              <a:gd name="adj" fmla="val 20000"/>
            </a:avLst>
          </a:prstGeom>
          <a:solidFill>
            <a:srgbClr val="FFFFFF"/>
          </a:solidFill>
          <a:ln w="6350">
            <a:solidFill>
              <a:srgbClr val="97C459"/>
            </a:solidFill>
            <a:prstDash val="solid"/>
          </a:ln>
        </p:spPr>
      </p:sp>
      <p:sp>
        <p:nvSpPr>
          <p:cNvPr id="50" name="Text 48"/>
          <p:cNvSpPr/>
          <p:nvPr/>
        </p:nvSpPr>
        <p:spPr>
          <a:xfrm>
            <a:off x="3858768" y="274320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DERMS</a:t>
            </a:r>
            <a:endParaRPr lang="en-US" sz="950" dirty="0"/>
          </a:p>
        </p:txBody>
      </p:sp>
      <p:sp>
        <p:nvSpPr>
          <p:cNvPr id="51" name="Shape 49"/>
          <p:cNvSpPr/>
          <p:nvPr/>
        </p:nvSpPr>
        <p:spPr>
          <a:xfrm>
            <a:off x="3858768" y="3090672"/>
            <a:ext cx="1389888" cy="274320"/>
          </a:xfrm>
          <a:prstGeom prst="roundRect">
            <a:avLst>
              <a:gd name="adj" fmla="val 20000"/>
            </a:avLst>
          </a:prstGeom>
          <a:solidFill>
            <a:srgbClr val="FFFFFF"/>
          </a:solidFill>
          <a:ln w="6350">
            <a:solidFill>
              <a:srgbClr val="97C459"/>
            </a:solidFill>
            <a:prstDash val="solid"/>
          </a:ln>
        </p:spPr>
      </p:sp>
      <p:sp>
        <p:nvSpPr>
          <p:cNvPr id="52" name="Text 50"/>
          <p:cNvSpPr/>
          <p:nvPr/>
        </p:nvSpPr>
        <p:spPr>
          <a:xfrm>
            <a:off x="3858768" y="3090672"/>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RTS monitoring</a:t>
            </a:r>
            <a:endParaRPr lang="en-US" sz="950" dirty="0"/>
          </a:p>
        </p:txBody>
      </p:sp>
      <p:sp>
        <p:nvSpPr>
          <p:cNvPr id="53" name="Shape 51"/>
          <p:cNvSpPr/>
          <p:nvPr/>
        </p:nvSpPr>
        <p:spPr>
          <a:xfrm>
            <a:off x="3858768" y="3438144"/>
            <a:ext cx="1389888" cy="274320"/>
          </a:xfrm>
          <a:prstGeom prst="roundRect">
            <a:avLst>
              <a:gd name="adj" fmla="val 20000"/>
            </a:avLst>
          </a:prstGeom>
          <a:solidFill>
            <a:srgbClr val="FFFFFF"/>
          </a:solidFill>
          <a:ln w="6350">
            <a:solidFill>
              <a:srgbClr val="97C459"/>
            </a:solidFill>
            <a:prstDash val="solid"/>
          </a:ln>
        </p:spPr>
      </p:sp>
      <p:sp>
        <p:nvSpPr>
          <p:cNvPr id="54" name="Text 52"/>
          <p:cNvSpPr/>
          <p:nvPr/>
        </p:nvSpPr>
        <p:spPr>
          <a:xfrm>
            <a:off x="3858768" y="3438144"/>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Curtailment</a:t>
            </a:r>
            <a:endParaRPr lang="en-US" sz="950" dirty="0"/>
          </a:p>
        </p:txBody>
      </p:sp>
      <p:sp>
        <p:nvSpPr>
          <p:cNvPr id="55" name="Shape 53"/>
          <p:cNvSpPr/>
          <p:nvPr/>
        </p:nvSpPr>
        <p:spPr>
          <a:xfrm>
            <a:off x="3858768" y="3785616"/>
            <a:ext cx="1389888" cy="274320"/>
          </a:xfrm>
          <a:prstGeom prst="roundRect">
            <a:avLst>
              <a:gd name="adj" fmla="val 20000"/>
            </a:avLst>
          </a:prstGeom>
          <a:solidFill>
            <a:srgbClr val="FFFFFF"/>
          </a:solidFill>
          <a:ln w="6350">
            <a:solidFill>
              <a:srgbClr val="97C459"/>
            </a:solidFill>
            <a:prstDash val="solid"/>
          </a:ln>
        </p:spPr>
      </p:sp>
      <p:sp>
        <p:nvSpPr>
          <p:cNvPr id="56" name="Text 54"/>
          <p:cNvSpPr/>
          <p:nvPr/>
        </p:nvSpPr>
        <p:spPr>
          <a:xfrm>
            <a:off x="3858768" y="3785616"/>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Zero-export closed-loop</a:t>
            </a:r>
            <a:endParaRPr lang="en-US" sz="950" dirty="0"/>
          </a:p>
        </p:txBody>
      </p:sp>
      <p:sp>
        <p:nvSpPr>
          <p:cNvPr id="57" name="Shape 55"/>
          <p:cNvSpPr/>
          <p:nvPr/>
        </p:nvSpPr>
        <p:spPr>
          <a:xfrm>
            <a:off x="3858768" y="4133088"/>
            <a:ext cx="1389888" cy="274320"/>
          </a:xfrm>
          <a:prstGeom prst="roundRect">
            <a:avLst>
              <a:gd name="adj" fmla="val 20000"/>
            </a:avLst>
          </a:prstGeom>
          <a:solidFill>
            <a:srgbClr val="FFFFFF"/>
          </a:solidFill>
          <a:ln w="6350">
            <a:solidFill>
              <a:srgbClr val="97C459"/>
            </a:solidFill>
            <a:prstDash val="solid"/>
          </a:ln>
        </p:spPr>
      </p:sp>
      <p:sp>
        <p:nvSpPr>
          <p:cNvPr id="58" name="Text 56"/>
          <p:cNvSpPr/>
          <p:nvPr/>
        </p:nvSpPr>
        <p:spPr>
          <a:xfrm>
            <a:off x="3858768" y="4133088"/>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Solar forecasting</a:t>
            </a:r>
            <a:endParaRPr lang="en-US" sz="950" dirty="0"/>
          </a:p>
        </p:txBody>
      </p:sp>
      <p:sp>
        <p:nvSpPr>
          <p:cNvPr id="59" name="Shape 57"/>
          <p:cNvSpPr/>
          <p:nvPr/>
        </p:nvSpPr>
        <p:spPr>
          <a:xfrm>
            <a:off x="3858768" y="4480560"/>
            <a:ext cx="1389888" cy="274320"/>
          </a:xfrm>
          <a:prstGeom prst="roundRect">
            <a:avLst>
              <a:gd name="adj" fmla="val 20000"/>
            </a:avLst>
          </a:prstGeom>
          <a:solidFill>
            <a:srgbClr val="FFFFFF"/>
          </a:solidFill>
          <a:ln w="6350">
            <a:solidFill>
              <a:srgbClr val="97C459"/>
            </a:solidFill>
            <a:prstDash val="solid"/>
          </a:ln>
        </p:spPr>
      </p:sp>
      <p:sp>
        <p:nvSpPr>
          <p:cNvPr id="60" name="Text 58"/>
          <p:cNvSpPr/>
          <p:nvPr/>
        </p:nvSpPr>
        <p:spPr>
          <a:xfrm>
            <a:off x="3858768" y="448056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BESS optimization</a:t>
            </a:r>
            <a:endParaRPr lang="en-US" sz="950" dirty="0"/>
          </a:p>
        </p:txBody>
      </p:sp>
      <p:sp>
        <p:nvSpPr>
          <p:cNvPr id="61" name="Shape 59"/>
          <p:cNvSpPr/>
          <p:nvPr/>
        </p:nvSpPr>
        <p:spPr>
          <a:xfrm>
            <a:off x="5358384" y="3035808"/>
            <a:ext cx="128016" cy="0"/>
          </a:xfrm>
          <a:prstGeom prst="line">
            <a:avLst/>
          </a:prstGeom>
          <a:noFill/>
          <a:ln w="19050">
            <a:solidFill>
              <a:srgbClr val="D3D1C7"/>
            </a:solidFill>
            <a:prstDash val="solid"/>
          </a:ln>
        </p:spPr>
      </p:sp>
      <p:sp>
        <p:nvSpPr>
          <p:cNvPr id="62" name="Shape 60"/>
          <p:cNvSpPr/>
          <p:nvPr/>
        </p:nvSpPr>
        <p:spPr>
          <a:xfrm>
            <a:off x="5486400" y="1115568"/>
            <a:ext cx="1609344" cy="3840480"/>
          </a:xfrm>
          <a:prstGeom prst="roundRect">
            <a:avLst>
              <a:gd name="adj" fmla="val 5682"/>
            </a:avLst>
          </a:prstGeom>
          <a:solidFill>
            <a:srgbClr val="FAEEDA"/>
          </a:solidFill>
          <a:ln w="9525">
            <a:solidFill>
              <a:srgbClr val="FAC775"/>
            </a:solidFill>
            <a:prstDash val="solid"/>
          </a:ln>
          <a:effectLst>
            <a:outerShdw sx="100000" sy="100000" kx="0" ky="0" algn="bl" rotWithShape="0" blurRad="63500" dist="25400" dir="2700000">
              <a:srgbClr val="000000">
                <a:alpha val="8000"/>
              </a:srgbClr>
            </a:outerShdw>
          </a:effectLst>
        </p:spPr>
      </p:sp>
      <p:sp>
        <p:nvSpPr>
          <p:cNvPr id="63" name="Shape 61"/>
          <p:cNvSpPr/>
          <p:nvPr/>
        </p:nvSpPr>
        <p:spPr>
          <a:xfrm>
            <a:off x="6071616" y="1261872"/>
            <a:ext cx="438912" cy="438912"/>
          </a:xfrm>
          <a:prstGeom prst="ellipse">
            <a:avLst/>
          </a:prstGeom>
          <a:solidFill>
            <a:srgbClr val="854F0B"/>
          </a:solidFill>
          <a:ln w="12700">
            <a:solidFill>
              <a:srgbClr val="854F0B"/>
            </a:solidFill>
            <a:prstDash val="solid"/>
          </a:ln>
        </p:spPr>
      </p:sp>
      <p:sp>
        <p:nvSpPr>
          <p:cNvPr id="64" name="Text 62"/>
          <p:cNvSpPr/>
          <p:nvPr/>
        </p:nvSpPr>
        <p:spPr>
          <a:xfrm>
            <a:off x="6071616" y="12618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65" name="Text 63"/>
          <p:cNvSpPr/>
          <p:nvPr/>
        </p:nvSpPr>
        <p:spPr>
          <a:xfrm>
            <a:off x="5577840" y="1792224"/>
            <a:ext cx="1426464" cy="493776"/>
          </a:xfrm>
          <a:prstGeom prst="rect">
            <a:avLst/>
          </a:prstGeom>
          <a:noFill/>
          <a:ln/>
        </p:spPr>
        <p:txBody>
          <a:bodyPr wrap="square" lIns="0" tIns="0" rIns="0" bIns="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Microgrid &amp; resilience</a:t>
            </a:r>
            <a:endParaRPr lang="en-US" sz="1200" dirty="0"/>
          </a:p>
        </p:txBody>
      </p:sp>
      <p:sp>
        <p:nvSpPr>
          <p:cNvPr id="66" name="Text 64"/>
          <p:cNvSpPr/>
          <p:nvPr/>
        </p:nvSpPr>
        <p:spPr>
          <a:xfrm>
            <a:off x="5577840" y="2286000"/>
            <a:ext cx="1426464" cy="274320"/>
          </a:xfrm>
          <a:prstGeom prst="rect">
            <a:avLst/>
          </a:prstGeom>
          <a:noFill/>
          <a:ln/>
        </p:spPr>
        <p:txBody>
          <a:bodyPr wrap="square" lIns="0" tIns="0" rIns="0" bIns="0" rtlCol="0" anchor="ctr"/>
          <a:lstStyle/>
          <a:p>
            <a:pPr algn="ctr" indent="0" marL="0">
              <a:buNone/>
            </a:pPr>
            <a:r>
              <a:rPr lang="en-US" sz="900" i="1" dirty="0">
                <a:solidFill>
                  <a:srgbClr val="888780"/>
                </a:solidFill>
              </a:rPr>
              <a:t>Full build-out</a:t>
            </a:r>
            <a:endParaRPr lang="en-US" sz="900" dirty="0"/>
          </a:p>
        </p:txBody>
      </p:sp>
      <p:sp>
        <p:nvSpPr>
          <p:cNvPr id="67" name="Shape 65"/>
          <p:cNvSpPr/>
          <p:nvPr/>
        </p:nvSpPr>
        <p:spPr>
          <a:xfrm>
            <a:off x="5669280" y="2615184"/>
            <a:ext cx="1243584" cy="0"/>
          </a:xfrm>
          <a:prstGeom prst="line">
            <a:avLst/>
          </a:prstGeom>
          <a:noFill/>
          <a:ln w="6350">
            <a:solidFill>
              <a:srgbClr val="FAC775"/>
            </a:solidFill>
            <a:prstDash val="solid"/>
          </a:ln>
        </p:spPr>
      </p:sp>
      <p:sp>
        <p:nvSpPr>
          <p:cNvPr id="68" name="Shape 66"/>
          <p:cNvSpPr/>
          <p:nvPr/>
        </p:nvSpPr>
        <p:spPr>
          <a:xfrm>
            <a:off x="5596128" y="2743200"/>
            <a:ext cx="1389888" cy="274320"/>
          </a:xfrm>
          <a:prstGeom prst="roundRect">
            <a:avLst>
              <a:gd name="adj" fmla="val 20000"/>
            </a:avLst>
          </a:prstGeom>
          <a:solidFill>
            <a:srgbClr val="FFFFFF"/>
          </a:solidFill>
          <a:ln w="6350">
            <a:solidFill>
              <a:srgbClr val="FAC775"/>
            </a:solidFill>
            <a:prstDash val="solid"/>
          </a:ln>
        </p:spPr>
      </p:sp>
      <p:sp>
        <p:nvSpPr>
          <p:cNvPr id="69" name="Text 67"/>
          <p:cNvSpPr/>
          <p:nvPr/>
        </p:nvSpPr>
        <p:spPr>
          <a:xfrm>
            <a:off x="5596128" y="274320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Microgrid controller</a:t>
            </a:r>
            <a:endParaRPr lang="en-US" sz="950" dirty="0"/>
          </a:p>
        </p:txBody>
      </p:sp>
      <p:sp>
        <p:nvSpPr>
          <p:cNvPr id="70" name="Shape 68"/>
          <p:cNvSpPr/>
          <p:nvPr/>
        </p:nvSpPr>
        <p:spPr>
          <a:xfrm>
            <a:off x="5596128" y="3090672"/>
            <a:ext cx="1389888" cy="274320"/>
          </a:xfrm>
          <a:prstGeom prst="roundRect">
            <a:avLst>
              <a:gd name="adj" fmla="val 20000"/>
            </a:avLst>
          </a:prstGeom>
          <a:solidFill>
            <a:srgbClr val="FFFFFF"/>
          </a:solidFill>
          <a:ln w="6350">
            <a:solidFill>
              <a:srgbClr val="FAC775"/>
            </a:solidFill>
            <a:prstDash val="solid"/>
          </a:ln>
        </p:spPr>
      </p:sp>
      <p:sp>
        <p:nvSpPr>
          <p:cNvPr id="71" name="Text 69"/>
          <p:cNvSpPr/>
          <p:nvPr/>
        </p:nvSpPr>
        <p:spPr>
          <a:xfrm>
            <a:off x="5596128" y="3090672"/>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Islanding</a:t>
            </a:r>
            <a:endParaRPr lang="en-US" sz="950" dirty="0"/>
          </a:p>
        </p:txBody>
      </p:sp>
      <p:sp>
        <p:nvSpPr>
          <p:cNvPr id="72" name="Shape 70"/>
          <p:cNvSpPr/>
          <p:nvPr/>
        </p:nvSpPr>
        <p:spPr>
          <a:xfrm>
            <a:off x="5596128" y="3438144"/>
            <a:ext cx="1389888" cy="274320"/>
          </a:xfrm>
          <a:prstGeom prst="roundRect">
            <a:avLst>
              <a:gd name="adj" fmla="val 20000"/>
            </a:avLst>
          </a:prstGeom>
          <a:solidFill>
            <a:srgbClr val="FFFFFF"/>
          </a:solidFill>
          <a:ln w="6350">
            <a:solidFill>
              <a:srgbClr val="FAC775"/>
            </a:solidFill>
            <a:prstDash val="solid"/>
          </a:ln>
        </p:spPr>
      </p:sp>
      <p:sp>
        <p:nvSpPr>
          <p:cNvPr id="73" name="Text 71"/>
          <p:cNvSpPr/>
          <p:nvPr/>
        </p:nvSpPr>
        <p:spPr>
          <a:xfrm>
            <a:off x="5596128" y="3438144"/>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Black start</a:t>
            </a:r>
            <a:endParaRPr lang="en-US" sz="950" dirty="0"/>
          </a:p>
        </p:txBody>
      </p:sp>
      <p:sp>
        <p:nvSpPr>
          <p:cNvPr id="74" name="Shape 72"/>
          <p:cNvSpPr/>
          <p:nvPr/>
        </p:nvSpPr>
        <p:spPr>
          <a:xfrm>
            <a:off x="5596128" y="3785616"/>
            <a:ext cx="1389888" cy="274320"/>
          </a:xfrm>
          <a:prstGeom prst="roundRect">
            <a:avLst>
              <a:gd name="adj" fmla="val 20000"/>
            </a:avLst>
          </a:prstGeom>
          <a:solidFill>
            <a:srgbClr val="FFFFFF"/>
          </a:solidFill>
          <a:ln w="6350">
            <a:solidFill>
              <a:srgbClr val="FAC775"/>
            </a:solidFill>
            <a:prstDash val="solid"/>
          </a:ln>
        </p:spPr>
      </p:sp>
      <p:sp>
        <p:nvSpPr>
          <p:cNvPr id="75" name="Text 73"/>
          <p:cNvSpPr/>
          <p:nvPr/>
        </p:nvSpPr>
        <p:spPr>
          <a:xfrm>
            <a:off x="5596128" y="3785616"/>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Grid-forming control</a:t>
            </a:r>
            <a:endParaRPr lang="en-US" sz="950" dirty="0"/>
          </a:p>
        </p:txBody>
      </p:sp>
      <p:sp>
        <p:nvSpPr>
          <p:cNvPr id="76" name="Shape 74"/>
          <p:cNvSpPr/>
          <p:nvPr/>
        </p:nvSpPr>
        <p:spPr>
          <a:xfrm>
            <a:off x="5596128" y="4133088"/>
            <a:ext cx="1389888" cy="274320"/>
          </a:xfrm>
          <a:prstGeom prst="roundRect">
            <a:avLst>
              <a:gd name="adj" fmla="val 20000"/>
            </a:avLst>
          </a:prstGeom>
          <a:solidFill>
            <a:srgbClr val="FFFFFF"/>
          </a:solidFill>
          <a:ln w="6350">
            <a:solidFill>
              <a:srgbClr val="FAC775"/>
            </a:solidFill>
            <a:prstDash val="solid"/>
          </a:ln>
        </p:spPr>
      </p:sp>
      <p:sp>
        <p:nvSpPr>
          <p:cNvPr id="77" name="Text 75"/>
          <p:cNvSpPr/>
          <p:nvPr/>
        </p:nvSpPr>
        <p:spPr>
          <a:xfrm>
            <a:off x="5596128" y="4133088"/>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Protection coordination</a:t>
            </a:r>
            <a:endParaRPr lang="en-US" sz="950" dirty="0"/>
          </a:p>
        </p:txBody>
      </p:sp>
      <p:sp>
        <p:nvSpPr>
          <p:cNvPr id="78" name="Shape 76"/>
          <p:cNvSpPr/>
          <p:nvPr/>
        </p:nvSpPr>
        <p:spPr>
          <a:xfrm>
            <a:off x="7095744" y="3035808"/>
            <a:ext cx="128016" cy="0"/>
          </a:xfrm>
          <a:prstGeom prst="line">
            <a:avLst/>
          </a:prstGeom>
          <a:noFill/>
          <a:ln w="19050">
            <a:solidFill>
              <a:srgbClr val="D3D1C7"/>
            </a:solidFill>
            <a:prstDash val="solid"/>
          </a:ln>
        </p:spPr>
      </p:sp>
      <p:sp>
        <p:nvSpPr>
          <p:cNvPr id="79" name="Shape 77"/>
          <p:cNvSpPr/>
          <p:nvPr/>
        </p:nvSpPr>
        <p:spPr>
          <a:xfrm>
            <a:off x="7223760" y="1115568"/>
            <a:ext cx="1609344" cy="3840480"/>
          </a:xfrm>
          <a:prstGeom prst="roundRect">
            <a:avLst>
              <a:gd name="adj" fmla="val 5682"/>
            </a:avLst>
          </a:prstGeom>
          <a:solidFill>
            <a:srgbClr val="EEEDFE"/>
          </a:solidFill>
          <a:ln w="9525">
            <a:solidFill>
              <a:srgbClr val="AFA9EC"/>
            </a:solidFill>
            <a:prstDash val="solid"/>
          </a:ln>
          <a:effectLst>
            <a:outerShdw sx="100000" sy="100000" kx="0" ky="0" algn="bl" rotWithShape="0" blurRad="63500" dist="25400" dir="2700000">
              <a:srgbClr val="000000">
                <a:alpha val="8000"/>
              </a:srgbClr>
            </a:outerShdw>
          </a:effectLst>
        </p:spPr>
      </p:sp>
      <p:sp>
        <p:nvSpPr>
          <p:cNvPr id="80" name="Shape 78"/>
          <p:cNvSpPr/>
          <p:nvPr/>
        </p:nvSpPr>
        <p:spPr>
          <a:xfrm>
            <a:off x="7808976" y="1261872"/>
            <a:ext cx="438912" cy="438912"/>
          </a:xfrm>
          <a:prstGeom prst="ellipse">
            <a:avLst/>
          </a:prstGeom>
          <a:solidFill>
            <a:srgbClr val="3C3489"/>
          </a:solidFill>
          <a:ln w="12700">
            <a:solidFill>
              <a:srgbClr val="3C3489"/>
            </a:solidFill>
            <a:prstDash val="solid"/>
          </a:ln>
        </p:spPr>
      </p:sp>
      <p:sp>
        <p:nvSpPr>
          <p:cNvPr id="81" name="Text 79"/>
          <p:cNvSpPr/>
          <p:nvPr/>
        </p:nvSpPr>
        <p:spPr>
          <a:xfrm>
            <a:off x="7808976" y="12618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82" name="Text 80"/>
          <p:cNvSpPr/>
          <p:nvPr/>
        </p:nvSpPr>
        <p:spPr>
          <a:xfrm>
            <a:off x="7315200" y="1792224"/>
            <a:ext cx="1426464" cy="493776"/>
          </a:xfrm>
          <a:prstGeom prst="rect">
            <a:avLst/>
          </a:prstGeom>
          <a:noFill/>
          <a:ln/>
        </p:spPr>
        <p:txBody>
          <a:bodyPr wrap="square" lIns="0" tIns="0" rIns="0" bIns="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Smart energy ecosystem</a:t>
            </a:r>
            <a:endParaRPr lang="en-US" sz="1200" dirty="0"/>
          </a:p>
        </p:txBody>
      </p:sp>
      <p:sp>
        <p:nvSpPr>
          <p:cNvPr id="83" name="Text 81"/>
          <p:cNvSpPr/>
          <p:nvPr/>
        </p:nvSpPr>
        <p:spPr>
          <a:xfrm>
            <a:off x="7315200" y="2286000"/>
            <a:ext cx="1426464" cy="274320"/>
          </a:xfrm>
          <a:prstGeom prst="rect">
            <a:avLst/>
          </a:prstGeom>
          <a:noFill/>
          <a:ln/>
        </p:spPr>
        <p:txBody>
          <a:bodyPr wrap="square" lIns="0" tIns="0" rIns="0" bIns="0" rtlCol="0" anchor="ctr"/>
          <a:lstStyle/>
          <a:p>
            <a:pPr algn="ctr" indent="0" marL="0">
              <a:buNone/>
            </a:pPr>
            <a:r>
              <a:rPr lang="en-US" sz="900" i="1" dirty="0">
                <a:solidFill>
                  <a:srgbClr val="888780"/>
                </a:solidFill>
              </a:rPr>
              <a:t>Long-term vision</a:t>
            </a:r>
            <a:endParaRPr lang="en-US" sz="900" dirty="0"/>
          </a:p>
        </p:txBody>
      </p:sp>
      <p:sp>
        <p:nvSpPr>
          <p:cNvPr id="84" name="Shape 82"/>
          <p:cNvSpPr/>
          <p:nvPr/>
        </p:nvSpPr>
        <p:spPr>
          <a:xfrm>
            <a:off x="7406640" y="2615184"/>
            <a:ext cx="1243584" cy="0"/>
          </a:xfrm>
          <a:prstGeom prst="line">
            <a:avLst/>
          </a:prstGeom>
          <a:noFill/>
          <a:ln w="6350">
            <a:solidFill>
              <a:srgbClr val="AFA9EC"/>
            </a:solidFill>
            <a:prstDash val="solid"/>
          </a:ln>
        </p:spPr>
      </p:sp>
      <p:sp>
        <p:nvSpPr>
          <p:cNvPr id="85" name="Shape 83"/>
          <p:cNvSpPr/>
          <p:nvPr/>
        </p:nvSpPr>
        <p:spPr>
          <a:xfrm>
            <a:off x="7333488" y="2743200"/>
            <a:ext cx="1389888" cy="274320"/>
          </a:xfrm>
          <a:prstGeom prst="roundRect">
            <a:avLst>
              <a:gd name="adj" fmla="val 20000"/>
            </a:avLst>
          </a:prstGeom>
          <a:solidFill>
            <a:srgbClr val="FFFFFF"/>
          </a:solidFill>
          <a:ln w="6350">
            <a:solidFill>
              <a:srgbClr val="AFA9EC"/>
            </a:solidFill>
            <a:prstDash val="solid"/>
          </a:ln>
        </p:spPr>
      </p:sp>
      <p:sp>
        <p:nvSpPr>
          <p:cNvPr id="86" name="Text 84"/>
          <p:cNvSpPr/>
          <p:nvPr/>
        </p:nvSpPr>
        <p:spPr>
          <a:xfrm>
            <a:off x="7333488" y="2743200"/>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Advanced DERMS / VPP</a:t>
            </a:r>
            <a:endParaRPr lang="en-US" sz="950" dirty="0"/>
          </a:p>
        </p:txBody>
      </p:sp>
      <p:sp>
        <p:nvSpPr>
          <p:cNvPr id="87" name="Shape 85"/>
          <p:cNvSpPr/>
          <p:nvPr/>
        </p:nvSpPr>
        <p:spPr>
          <a:xfrm>
            <a:off x="7333488" y="3090672"/>
            <a:ext cx="1389888" cy="274320"/>
          </a:xfrm>
          <a:prstGeom prst="roundRect">
            <a:avLst>
              <a:gd name="adj" fmla="val 20000"/>
            </a:avLst>
          </a:prstGeom>
          <a:solidFill>
            <a:srgbClr val="FFFFFF"/>
          </a:solidFill>
          <a:ln w="6350">
            <a:solidFill>
              <a:srgbClr val="AFA9EC"/>
            </a:solidFill>
            <a:prstDash val="solid"/>
          </a:ln>
        </p:spPr>
      </p:sp>
      <p:sp>
        <p:nvSpPr>
          <p:cNvPr id="88" name="Text 86"/>
          <p:cNvSpPr/>
          <p:nvPr/>
        </p:nvSpPr>
        <p:spPr>
          <a:xfrm>
            <a:off x="7333488" y="3090672"/>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Demand response</a:t>
            </a:r>
            <a:endParaRPr lang="en-US" sz="950" dirty="0"/>
          </a:p>
        </p:txBody>
      </p:sp>
      <p:sp>
        <p:nvSpPr>
          <p:cNvPr id="89" name="Shape 87"/>
          <p:cNvSpPr/>
          <p:nvPr/>
        </p:nvSpPr>
        <p:spPr>
          <a:xfrm>
            <a:off x="7333488" y="3438144"/>
            <a:ext cx="1389888" cy="274320"/>
          </a:xfrm>
          <a:prstGeom prst="roundRect">
            <a:avLst>
              <a:gd name="adj" fmla="val 20000"/>
            </a:avLst>
          </a:prstGeom>
          <a:solidFill>
            <a:srgbClr val="FFFFFF"/>
          </a:solidFill>
          <a:ln w="6350">
            <a:solidFill>
              <a:srgbClr val="AFA9EC"/>
            </a:solidFill>
            <a:prstDash val="solid"/>
          </a:ln>
        </p:spPr>
      </p:sp>
      <p:sp>
        <p:nvSpPr>
          <p:cNvPr id="90" name="Text 88"/>
          <p:cNvSpPr/>
          <p:nvPr/>
        </p:nvSpPr>
        <p:spPr>
          <a:xfrm>
            <a:off x="7333488" y="3438144"/>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Market participation</a:t>
            </a:r>
            <a:endParaRPr lang="en-US" sz="950" dirty="0"/>
          </a:p>
        </p:txBody>
      </p:sp>
      <p:sp>
        <p:nvSpPr>
          <p:cNvPr id="91" name="Shape 89"/>
          <p:cNvSpPr/>
          <p:nvPr/>
        </p:nvSpPr>
        <p:spPr>
          <a:xfrm>
            <a:off x="7333488" y="3785616"/>
            <a:ext cx="1389888" cy="274320"/>
          </a:xfrm>
          <a:prstGeom prst="roundRect">
            <a:avLst>
              <a:gd name="adj" fmla="val 20000"/>
            </a:avLst>
          </a:prstGeom>
          <a:solidFill>
            <a:srgbClr val="FFFFFF"/>
          </a:solidFill>
          <a:ln w="6350">
            <a:solidFill>
              <a:srgbClr val="AFA9EC"/>
            </a:solidFill>
            <a:prstDash val="solid"/>
          </a:ln>
        </p:spPr>
      </p:sp>
      <p:sp>
        <p:nvSpPr>
          <p:cNvPr id="92" name="Text 90"/>
          <p:cNvSpPr/>
          <p:nvPr/>
        </p:nvSpPr>
        <p:spPr>
          <a:xfrm>
            <a:off x="7333488" y="3785616"/>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Carbon accounting</a:t>
            </a:r>
            <a:endParaRPr lang="en-US" sz="950" dirty="0"/>
          </a:p>
        </p:txBody>
      </p:sp>
      <p:sp>
        <p:nvSpPr>
          <p:cNvPr id="93" name="Shape 91"/>
          <p:cNvSpPr/>
          <p:nvPr/>
        </p:nvSpPr>
        <p:spPr>
          <a:xfrm>
            <a:off x="7333488" y="4133088"/>
            <a:ext cx="1389888" cy="274320"/>
          </a:xfrm>
          <a:prstGeom prst="roundRect">
            <a:avLst>
              <a:gd name="adj" fmla="val 20000"/>
            </a:avLst>
          </a:prstGeom>
          <a:solidFill>
            <a:srgbClr val="FFFFFF"/>
          </a:solidFill>
          <a:ln w="6350">
            <a:solidFill>
              <a:srgbClr val="AFA9EC"/>
            </a:solidFill>
            <a:prstDash val="solid"/>
          </a:ln>
        </p:spPr>
      </p:sp>
      <p:sp>
        <p:nvSpPr>
          <p:cNvPr id="94" name="Text 92"/>
          <p:cNvSpPr/>
          <p:nvPr/>
        </p:nvSpPr>
        <p:spPr>
          <a:xfrm>
            <a:off x="7333488" y="4133088"/>
            <a:ext cx="1389888" cy="274320"/>
          </a:xfrm>
          <a:prstGeom prst="rect">
            <a:avLst/>
          </a:prstGeom>
          <a:noFill/>
          <a:ln/>
        </p:spPr>
        <p:txBody>
          <a:bodyPr wrap="square" lIns="0" tIns="0" rIns="0" bIns="0" rtlCol="0" anchor="ctr"/>
          <a:lstStyle/>
          <a:p>
            <a:pPr algn="ctr" indent="0" marL="0">
              <a:buNone/>
            </a:pPr>
            <a:r>
              <a:rPr lang="en-US" sz="950" dirty="0">
                <a:solidFill>
                  <a:srgbClr val="1A1A1A"/>
                </a:solidFill>
              </a:rPr>
              <a:t>ESG dashboard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4342C"/>
          </a:solidFill>
          <a:ln w="12700">
            <a:solidFill>
              <a:srgbClr val="04342C"/>
            </a:solidFill>
            <a:prstDash val="solid"/>
          </a:ln>
        </p:spPr>
      </p:sp>
      <p:sp>
        <p:nvSpPr>
          <p:cNvPr id="3" name="Text 1"/>
          <p:cNvSpPr/>
          <p:nvPr/>
        </p:nvSpPr>
        <p:spPr>
          <a:xfrm>
            <a:off x="457200" y="0"/>
            <a:ext cx="6858000" cy="10058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Decisions to Make Today</a:t>
            </a:r>
            <a:endParaRPr lang="en-US" sz="2600" dirty="0"/>
          </a:p>
        </p:txBody>
      </p:sp>
      <p:sp>
        <p:nvSpPr>
          <p:cNvPr id="4" name="Text 2"/>
          <p:cNvSpPr/>
          <p:nvPr/>
        </p:nvSpPr>
        <p:spPr>
          <a:xfrm>
            <a:off x="5303520" y="0"/>
            <a:ext cx="3657600" cy="1005840"/>
          </a:xfrm>
          <a:prstGeom prst="rect">
            <a:avLst/>
          </a:prstGeom>
          <a:noFill/>
          <a:ln/>
        </p:spPr>
        <p:txBody>
          <a:bodyPr wrap="square" rtlCol="0" anchor="ctr"/>
          <a:lstStyle/>
          <a:p>
            <a:pPr algn="r" indent="0" marL="0">
              <a:buNone/>
            </a:pPr>
            <a:r>
              <a:rPr lang="en-US" sz="1100" i="1" dirty="0">
                <a:solidFill>
                  <a:srgbClr val="9FE1CB"/>
                </a:solidFill>
              </a:rPr>
              <a:t>Design for Phase 5 while building Phase 1</a:t>
            </a:r>
            <a:endParaRPr lang="en-US" sz="1100" dirty="0"/>
          </a:p>
        </p:txBody>
      </p:sp>
      <p:sp>
        <p:nvSpPr>
          <p:cNvPr id="5" name="Shape 3"/>
          <p:cNvSpPr/>
          <p:nvPr/>
        </p:nvSpPr>
        <p:spPr>
          <a:xfrm>
            <a:off x="274320" y="1115568"/>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6" name="Shape 4"/>
          <p:cNvSpPr/>
          <p:nvPr/>
        </p:nvSpPr>
        <p:spPr>
          <a:xfrm>
            <a:off x="402336" y="1280160"/>
            <a:ext cx="347472" cy="347472"/>
          </a:xfrm>
          <a:prstGeom prst="roundRect">
            <a:avLst>
              <a:gd name="adj" fmla="val 13158"/>
            </a:avLst>
          </a:prstGeom>
          <a:solidFill>
            <a:srgbClr val="0F6E56"/>
          </a:solidFill>
          <a:ln w="12700">
            <a:solidFill>
              <a:srgbClr val="0F6E56"/>
            </a:solidFill>
            <a:prstDash val="solid"/>
          </a:ln>
        </p:spPr>
      </p:sp>
      <p:sp>
        <p:nvSpPr>
          <p:cNvPr id="7" name="Text 5"/>
          <p:cNvSpPr/>
          <p:nvPr/>
        </p:nvSpPr>
        <p:spPr>
          <a:xfrm>
            <a:off x="402336" y="12801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8" name="Text 6"/>
          <p:cNvSpPr/>
          <p:nvPr/>
        </p:nvSpPr>
        <p:spPr>
          <a:xfrm>
            <a:off x="841248" y="1225296"/>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Design the data model once</a:t>
            </a:r>
            <a:endParaRPr lang="en-US" sz="1200" dirty="0"/>
          </a:p>
        </p:txBody>
      </p:sp>
      <p:sp>
        <p:nvSpPr>
          <p:cNvPr id="9" name="Text 7"/>
          <p:cNvSpPr/>
          <p:nvPr/>
        </p:nvSpPr>
        <p:spPr>
          <a:xfrm>
            <a:off x="841248" y="1554480"/>
            <a:ext cx="3438144" cy="658368"/>
          </a:xfrm>
          <a:prstGeom prst="rect">
            <a:avLst/>
          </a:prstGeom>
          <a:noFill/>
          <a:ln/>
        </p:spPr>
        <p:txBody>
          <a:bodyPr wrap="square" lIns="0" tIns="0" rIns="0" bIns="0" rtlCol="0" anchor="ctr"/>
          <a:lstStyle/>
          <a:p>
            <a:pPr indent="0" marL="0">
              <a:buNone/>
            </a:pPr>
            <a:r>
              <a:rPr lang="en-US" sz="1050" dirty="0">
                <a:solidFill>
                  <a:srgbClr val="5F5E5A"/>
                </a:solidFill>
              </a:rPr>
              <a:t>Network model, asset hierarchy, and naming conventions must be defined in Phase 1. DERMS cannot be layered onto a poorly modelled SCADA network without expensive re-engineering.</a:t>
            </a:r>
            <a:endParaRPr lang="en-US" sz="1050" dirty="0"/>
          </a:p>
        </p:txBody>
      </p:sp>
      <p:sp>
        <p:nvSpPr>
          <p:cNvPr id="10" name="Shape 8"/>
          <p:cNvSpPr/>
          <p:nvPr/>
        </p:nvSpPr>
        <p:spPr>
          <a:xfrm>
            <a:off x="4709160" y="1115568"/>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11" name="Shape 9"/>
          <p:cNvSpPr/>
          <p:nvPr/>
        </p:nvSpPr>
        <p:spPr>
          <a:xfrm>
            <a:off x="4837176" y="1280160"/>
            <a:ext cx="347472" cy="347472"/>
          </a:xfrm>
          <a:prstGeom prst="roundRect">
            <a:avLst>
              <a:gd name="adj" fmla="val 13158"/>
            </a:avLst>
          </a:prstGeom>
          <a:solidFill>
            <a:srgbClr val="0F6E56"/>
          </a:solidFill>
          <a:ln w="12700">
            <a:solidFill>
              <a:srgbClr val="0F6E56"/>
            </a:solidFill>
            <a:prstDash val="solid"/>
          </a:ln>
        </p:spPr>
      </p:sp>
      <p:sp>
        <p:nvSpPr>
          <p:cNvPr id="12" name="Text 10"/>
          <p:cNvSpPr/>
          <p:nvPr/>
        </p:nvSpPr>
        <p:spPr>
          <a:xfrm>
            <a:off x="4837176" y="12801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3" name="Text 11"/>
          <p:cNvSpPr/>
          <p:nvPr/>
        </p:nvSpPr>
        <p:spPr>
          <a:xfrm>
            <a:off x="5276088" y="1225296"/>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Zero export starts in Phase 2 — not Phase 3</a:t>
            </a:r>
            <a:endParaRPr lang="en-US" sz="1200" dirty="0"/>
          </a:p>
        </p:txBody>
      </p:sp>
      <p:sp>
        <p:nvSpPr>
          <p:cNvPr id="14" name="Text 12"/>
          <p:cNvSpPr/>
          <p:nvPr/>
        </p:nvSpPr>
        <p:spPr>
          <a:xfrm>
            <a:off x="5276088" y="1554480"/>
            <a:ext cx="3438144" cy="658368"/>
          </a:xfrm>
          <a:prstGeom prst="rect">
            <a:avLst/>
          </a:prstGeom>
          <a:noFill/>
          <a:ln/>
        </p:spPr>
        <p:txBody>
          <a:bodyPr wrap="square" lIns="0" tIns="0" rIns="0" bIns="0" rtlCol="0" anchor="ctr"/>
          <a:lstStyle/>
          <a:p>
            <a:pPr indent="0" marL="0">
              <a:buNone/>
            </a:pPr>
            <a:r>
              <a:rPr lang="en-US" sz="1050" dirty="0">
                <a:solidFill>
                  <a:srgbClr val="5F5E5A"/>
                </a:solidFill>
              </a:rPr>
              <a:t>The first tenant RTS connections go live before full DERMS is deployed. Zero-export monitoring and alarms must be in ADMS at Phase 2, with closed-loop enforcement following in Phase 3.</a:t>
            </a:r>
            <a:endParaRPr lang="en-US" sz="1050" dirty="0"/>
          </a:p>
        </p:txBody>
      </p:sp>
      <p:sp>
        <p:nvSpPr>
          <p:cNvPr id="15" name="Shape 13"/>
          <p:cNvSpPr/>
          <p:nvPr/>
        </p:nvSpPr>
        <p:spPr>
          <a:xfrm>
            <a:off x="274320" y="2377440"/>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16" name="Shape 14"/>
          <p:cNvSpPr/>
          <p:nvPr/>
        </p:nvSpPr>
        <p:spPr>
          <a:xfrm>
            <a:off x="402336" y="2542032"/>
            <a:ext cx="347472" cy="347472"/>
          </a:xfrm>
          <a:prstGeom prst="roundRect">
            <a:avLst>
              <a:gd name="adj" fmla="val 13158"/>
            </a:avLst>
          </a:prstGeom>
          <a:solidFill>
            <a:srgbClr val="0F6E56"/>
          </a:solidFill>
          <a:ln w="12700">
            <a:solidFill>
              <a:srgbClr val="0F6E56"/>
            </a:solidFill>
            <a:prstDash val="solid"/>
          </a:ln>
        </p:spPr>
      </p:sp>
      <p:sp>
        <p:nvSpPr>
          <p:cNvPr id="17" name="Text 15"/>
          <p:cNvSpPr/>
          <p:nvPr/>
        </p:nvSpPr>
        <p:spPr>
          <a:xfrm>
            <a:off x="402336"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8" name="Text 16"/>
          <p:cNvSpPr/>
          <p:nvPr/>
        </p:nvSpPr>
        <p:spPr>
          <a:xfrm>
            <a:off x="841248" y="2487168"/>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Clarify RTS ownership before specifying control</a:t>
            </a:r>
            <a:endParaRPr lang="en-US" sz="1200" dirty="0"/>
          </a:p>
        </p:txBody>
      </p:sp>
      <p:sp>
        <p:nvSpPr>
          <p:cNvPr id="19" name="Text 17"/>
          <p:cNvSpPr/>
          <p:nvPr/>
        </p:nvSpPr>
        <p:spPr>
          <a:xfrm>
            <a:off x="841248" y="2816352"/>
            <a:ext cx="3438144" cy="658368"/>
          </a:xfrm>
          <a:prstGeom prst="rect">
            <a:avLst/>
          </a:prstGeom>
          <a:noFill/>
          <a:ln/>
        </p:spPr>
        <p:txBody>
          <a:bodyPr wrap="square" lIns="0" tIns="0" rIns="0" bIns="0" rtlCol="0" anchor="ctr"/>
          <a:lstStyle/>
          <a:p>
            <a:pPr indent="0" marL="0">
              <a:buNone/>
            </a:pPr>
            <a:r>
              <a:rPr lang="en-US" sz="1050" dirty="0">
                <a:solidFill>
                  <a:srgbClr val="5F5E5A"/>
                </a:solidFill>
              </a:rPr>
              <a:t>If individual tenants own rooftop solar, VSIP may not have direct access to inverter RTUs. This fundamentally changes the control architecture — resolve this before the Q4 tender is drafted.</a:t>
            </a:r>
            <a:endParaRPr lang="en-US" sz="1050" dirty="0"/>
          </a:p>
        </p:txBody>
      </p:sp>
      <p:sp>
        <p:nvSpPr>
          <p:cNvPr id="20" name="Shape 18"/>
          <p:cNvSpPr/>
          <p:nvPr/>
        </p:nvSpPr>
        <p:spPr>
          <a:xfrm>
            <a:off x="4709160" y="2377440"/>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21" name="Shape 19"/>
          <p:cNvSpPr/>
          <p:nvPr/>
        </p:nvSpPr>
        <p:spPr>
          <a:xfrm>
            <a:off x="4837176" y="2542032"/>
            <a:ext cx="347472" cy="347472"/>
          </a:xfrm>
          <a:prstGeom prst="roundRect">
            <a:avLst>
              <a:gd name="adj" fmla="val 13158"/>
            </a:avLst>
          </a:prstGeom>
          <a:solidFill>
            <a:srgbClr val="0F6E56"/>
          </a:solidFill>
          <a:ln w="12700">
            <a:solidFill>
              <a:srgbClr val="0F6E56"/>
            </a:solidFill>
            <a:prstDash val="solid"/>
          </a:ln>
        </p:spPr>
      </p:sp>
      <p:sp>
        <p:nvSpPr>
          <p:cNvPr id="22" name="Text 20"/>
          <p:cNvSpPr/>
          <p:nvPr/>
        </p:nvSpPr>
        <p:spPr>
          <a:xfrm>
            <a:off x="4837176"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3" name="Text 21"/>
          <p:cNvSpPr/>
          <p:nvPr/>
        </p:nvSpPr>
        <p:spPr>
          <a:xfrm>
            <a:off x="5276088" y="2487168"/>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BESS at substation level — not at tenant factories</a:t>
            </a:r>
            <a:endParaRPr lang="en-US" sz="1200" dirty="0"/>
          </a:p>
        </p:txBody>
      </p:sp>
      <p:sp>
        <p:nvSpPr>
          <p:cNvPr id="24" name="Text 22"/>
          <p:cNvSpPr/>
          <p:nvPr/>
        </p:nvSpPr>
        <p:spPr>
          <a:xfrm>
            <a:off x="5276088" y="2816352"/>
            <a:ext cx="3438144" cy="658368"/>
          </a:xfrm>
          <a:prstGeom prst="rect">
            <a:avLst/>
          </a:prstGeom>
          <a:noFill/>
          <a:ln/>
        </p:spPr>
        <p:txBody>
          <a:bodyPr wrap="square" lIns="0" tIns="0" rIns="0" bIns="0" rtlCol="0" anchor="ctr"/>
          <a:lstStyle/>
          <a:p>
            <a:pPr indent="0" marL="0">
              <a:buNone/>
            </a:pPr>
            <a:r>
              <a:rPr lang="en-US" sz="1050" dirty="0">
                <a:solidFill>
                  <a:srgbClr val="5F5E5A"/>
                </a:solidFill>
              </a:rPr>
              <a:t>A centralized BESS at the 22kV substation gives VSIP direct control for peak shaving, zero-export, and islanding. Distributed BESS across tenant premises creates integration and ownership complexity.</a:t>
            </a:r>
            <a:endParaRPr lang="en-US" sz="1050" dirty="0"/>
          </a:p>
        </p:txBody>
      </p:sp>
      <p:sp>
        <p:nvSpPr>
          <p:cNvPr id="25" name="Shape 23"/>
          <p:cNvSpPr/>
          <p:nvPr/>
        </p:nvSpPr>
        <p:spPr>
          <a:xfrm>
            <a:off x="274320" y="3639312"/>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26" name="Shape 24"/>
          <p:cNvSpPr/>
          <p:nvPr/>
        </p:nvSpPr>
        <p:spPr>
          <a:xfrm>
            <a:off x="402336" y="3803904"/>
            <a:ext cx="347472" cy="347472"/>
          </a:xfrm>
          <a:prstGeom prst="roundRect">
            <a:avLst>
              <a:gd name="adj" fmla="val 13158"/>
            </a:avLst>
          </a:prstGeom>
          <a:solidFill>
            <a:srgbClr val="0F6E56"/>
          </a:solidFill>
          <a:ln w="12700">
            <a:solidFill>
              <a:srgbClr val="0F6E56"/>
            </a:solidFill>
            <a:prstDash val="solid"/>
          </a:ln>
        </p:spPr>
      </p:sp>
      <p:sp>
        <p:nvSpPr>
          <p:cNvPr id="27" name="Text 25"/>
          <p:cNvSpPr/>
          <p:nvPr/>
        </p:nvSpPr>
        <p:spPr>
          <a:xfrm>
            <a:off x="402336" y="3803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8" name="Text 26"/>
          <p:cNvSpPr/>
          <p:nvPr/>
        </p:nvSpPr>
        <p:spPr>
          <a:xfrm>
            <a:off x="841248" y="3749040"/>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Decide who operates the system</a:t>
            </a:r>
            <a:endParaRPr lang="en-US" sz="1200" dirty="0"/>
          </a:p>
        </p:txBody>
      </p:sp>
      <p:sp>
        <p:nvSpPr>
          <p:cNvPr id="29" name="Text 27"/>
          <p:cNvSpPr/>
          <p:nvPr/>
        </p:nvSpPr>
        <p:spPr>
          <a:xfrm>
            <a:off x="841248" y="4078224"/>
            <a:ext cx="3438144" cy="658368"/>
          </a:xfrm>
          <a:prstGeom prst="rect">
            <a:avLst/>
          </a:prstGeom>
          <a:noFill/>
          <a:ln/>
        </p:spPr>
        <p:txBody>
          <a:bodyPr wrap="square" lIns="0" tIns="0" rIns="0" bIns="0" rtlCol="0" anchor="ctr"/>
          <a:lstStyle/>
          <a:p>
            <a:pPr indent="0" marL="0">
              <a:buNone/>
            </a:pPr>
            <a:r>
              <a:rPr lang="en-US" sz="1050" dirty="0">
                <a:solidFill>
                  <a:srgbClr val="5F5E5A"/>
                </a:solidFill>
              </a:rPr>
              <a:t>Will VSIP run an internal operations team, outsource O&amp;M, or rely on the utility? The answer shapes HMI design, alarm philosophy, and training requirements — and must be resolved at Phase 1 design.</a:t>
            </a:r>
            <a:endParaRPr lang="en-US" sz="1050" dirty="0"/>
          </a:p>
        </p:txBody>
      </p:sp>
      <p:sp>
        <p:nvSpPr>
          <p:cNvPr id="30" name="Shape 28"/>
          <p:cNvSpPr/>
          <p:nvPr/>
        </p:nvSpPr>
        <p:spPr>
          <a:xfrm>
            <a:off x="4709160" y="3639312"/>
            <a:ext cx="4114800" cy="1170432"/>
          </a:xfrm>
          <a:prstGeom prst="roundRect">
            <a:avLst>
              <a:gd name="adj" fmla="val 7813"/>
            </a:avLst>
          </a:prstGeom>
          <a:solidFill>
            <a:srgbClr val="FFFFFF"/>
          </a:solidFill>
          <a:ln w="6350">
            <a:solidFill>
              <a:srgbClr val="D3D1C7"/>
            </a:solidFill>
            <a:prstDash val="solid"/>
          </a:ln>
          <a:effectLst>
            <a:outerShdw sx="100000" sy="100000" kx="0" ky="0" algn="bl" rotWithShape="0" blurRad="63500" dist="25400" dir="2700000">
              <a:srgbClr val="000000">
                <a:alpha val="8000"/>
              </a:srgbClr>
            </a:outerShdw>
          </a:effectLst>
        </p:spPr>
      </p:sp>
      <p:sp>
        <p:nvSpPr>
          <p:cNvPr id="31" name="Shape 29"/>
          <p:cNvSpPr/>
          <p:nvPr/>
        </p:nvSpPr>
        <p:spPr>
          <a:xfrm>
            <a:off x="4837176" y="3803904"/>
            <a:ext cx="347472" cy="347472"/>
          </a:xfrm>
          <a:prstGeom prst="roundRect">
            <a:avLst>
              <a:gd name="adj" fmla="val 13158"/>
            </a:avLst>
          </a:prstGeom>
          <a:solidFill>
            <a:srgbClr val="0F6E56"/>
          </a:solidFill>
          <a:ln w="12700">
            <a:solidFill>
              <a:srgbClr val="0F6E56"/>
            </a:solidFill>
            <a:prstDash val="solid"/>
          </a:ln>
        </p:spPr>
      </p:sp>
      <p:sp>
        <p:nvSpPr>
          <p:cNvPr id="32" name="Text 30"/>
          <p:cNvSpPr/>
          <p:nvPr/>
        </p:nvSpPr>
        <p:spPr>
          <a:xfrm>
            <a:off x="4837176" y="38039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3" name="Text 31"/>
          <p:cNvSpPr/>
          <p:nvPr/>
        </p:nvSpPr>
        <p:spPr>
          <a:xfrm>
            <a:off x="5276088" y="3749040"/>
            <a:ext cx="3438144" cy="310896"/>
          </a:xfrm>
          <a:prstGeom prst="rect">
            <a:avLst/>
          </a:prstGeom>
          <a:noFill/>
          <a:ln/>
        </p:spPr>
        <p:txBody>
          <a:bodyPr wrap="square" lIns="0" tIns="0" rIns="0" bIns="0" rtlCol="0" anchor="ctr"/>
          <a:lstStyle/>
          <a:p>
            <a:pPr indent="0" marL="0">
              <a:buNone/>
            </a:pPr>
            <a:r>
              <a:rPr lang="en-US" sz="1200" b="1" dirty="0">
                <a:solidFill>
                  <a:srgbClr val="1A1A1A"/>
                </a:solidFill>
              </a:rPr>
              <a:t>Influence the tender spec — now</a:t>
            </a:r>
            <a:endParaRPr lang="en-US" sz="1200" dirty="0"/>
          </a:p>
        </p:txBody>
      </p:sp>
      <p:sp>
        <p:nvSpPr>
          <p:cNvPr id="34" name="Text 32"/>
          <p:cNvSpPr/>
          <p:nvPr/>
        </p:nvSpPr>
        <p:spPr>
          <a:xfrm>
            <a:off x="5276088" y="4078224"/>
            <a:ext cx="3438144" cy="658368"/>
          </a:xfrm>
          <a:prstGeom prst="rect">
            <a:avLst/>
          </a:prstGeom>
          <a:noFill/>
          <a:ln/>
        </p:spPr>
        <p:txBody>
          <a:bodyPr wrap="square" lIns="0" tIns="0" rIns="0" bIns="0" rtlCol="0" anchor="ctr"/>
          <a:lstStyle/>
          <a:p>
            <a:pPr indent="0" marL="0">
              <a:buNone/>
            </a:pPr>
            <a:r>
              <a:rPr lang="en-US" sz="1050" dirty="0">
                <a:solidFill>
                  <a:srgbClr val="5F5E5A"/>
                </a:solidFill>
              </a:rPr>
              <a:t>The Q4 2026 tender is your window. The architecture we design together today becomes the benchmark every competitor must meet. Position Survalent as the standard, not a candidate.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342C"/>
        </a:solidFill>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85041"/>
          </a:solidFill>
          <a:ln w="12700">
            <a:solidFill>
              <a:srgbClr val="085041"/>
            </a:solidFill>
            <a:prstDash val="solid"/>
          </a:ln>
        </p:spPr>
      </p:sp>
      <p:sp>
        <p:nvSpPr>
          <p:cNvPr id="3" name="Shape 1"/>
          <p:cNvSpPr/>
          <p:nvPr/>
        </p:nvSpPr>
        <p:spPr>
          <a:xfrm>
            <a:off x="7772400" y="2560320"/>
            <a:ext cx="2011680" cy="2011680"/>
          </a:xfrm>
          <a:prstGeom prst="ellipse">
            <a:avLst/>
          </a:prstGeom>
          <a:solidFill>
            <a:srgbClr val="0F6E56">
              <a:alpha val="40000"/>
            </a:srgbClr>
          </a:solidFill>
          <a:ln w="12700">
            <a:solidFill>
              <a:srgbClr val="0F6E56">
                <a:alpha val="40000"/>
              </a:srgbClr>
            </a:solidFill>
            <a:prstDash val="solid"/>
          </a:ln>
        </p:spPr>
      </p:sp>
      <p:sp>
        <p:nvSpPr>
          <p:cNvPr id="4" name="Text 2"/>
          <p:cNvSpPr/>
          <p:nvPr/>
        </p:nvSpPr>
        <p:spPr>
          <a:xfrm>
            <a:off x="548640" y="292608"/>
            <a:ext cx="6400800" cy="51206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We Move Forward</a:t>
            </a:r>
            <a:endParaRPr lang="en-US" sz="3000" dirty="0"/>
          </a:p>
        </p:txBody>
      </p:sp>
      <p:sp>
        <p:nvSpPr>
          <p:cNvPr id="5" name="Shape 3"/>
          <p:cNvSpPr/>
          <p:nvPr/>
        </p:nvSpPr>
        <p:spPr>
          <a:xfrm>
            <a:off x="548640" y="932688"/>
            <a:ext cx="2194560" cy="0"/>
          </a:xfrm>
          <a:prstGeom prst="line">
            <a:avLst/>
          </a:prstGeom>
          <a:noFill/>
          <a:ln w="25400">
            <a:solidFill>
              <a:srgbClr val="1D9E75"/>
            </a:solidFill>
            <a:prstDash val="solid"/>
          </a:ln>
        </p:spPr>
      </p:sp>
      <p:sp>
        <p:nvSpPr>
          <p:cNvPr id="6" name="Shape 4"/>
          <p:cNvSpPr/>
          <p:nvPr/>
        </p:nvSpPr>
        <p:spPr>
          <a:xfrm>
            <a:off x="457200" y="1115568"/>
            <a:ext cx="6217920" cy="804672"/>
          </a:xfrm>
          <a:prstGeom prst="roundRect">
            <a:avLst>
              <a:gd name="adj" fmla="val 11364"/>
            </a:avLst>
          </a:prstGeom>
          <a:solidFill>
            <a:srgbClr val="085041"/>
          </a:solidFill>
          <a:ln w="6350">
            <a:solidFill>
              <a:srgbClr val="0F6E56"/>
            </a:solidFill>
            <a:prstDash val="solid"/>
          </a:ln>
        </p:spPr>
      </p:sp>
      <p:sp>
        <p:nvSpPr>
          <p:cNvPr id="7" name="Shape 5"/>
          <p:cNvSpPr/>
          <p:nvPr/>
        </p:nvSpPr>
        <p:spPr>
          <a:xfrm>
            <a:off x="566928" y="1316736"/>
            <a:ext cx="402336" cy="402336"/>
          </a:xfrm>
          <a:prstGeom prst="ellipse">
            <a:avLst/>
          </a:prstGeom>
          <a:solidFill>
            <a:srgbClr val="1D9E75"/>
          </a:solidFill>
          <a:ln w="12700">
            <a:solidFill>
              <a:srgbClr val="1D9E75"/>
            </a:solidFill>
            <a:prstDash val="solid"/>
          </a:ln>
        </p:spPr>
      </p:sp>
      <p:sp>
        <p:nvSpPr>
          <p:cNvPr id="8" name="Text 6"/>
          <p:cNvSpPr/>
          <p:nvPr/>
        </p:nvSpPr>
        <p:spPr>
          <a:xfrm>
            <a:off x="566928" y="1316736"/>
            <a:ext cx="402336" cy="402336"/>
          </a:xfrm>
          <a:prstGeom prst="rect">
            <a:avLst/>
          </a:prstGeom>
          <a:noFill/>
          <a:ln/>
        </p:spPr>
        <p:txBody>
          <a:bodyPr wrap="square" lIns="0" tIns="0" rIns="0" bIns="0" rtlCol="0" anchor="ctr"/>
          <a:lstStyle/>
          <a:p>
            <a:pPr algn="ctr" indent="0" marL="0">
              <a:buNone/>
            </a:pPr>
            <a:r>
              <a:rPr lang="en-US" sz="1400" b="1" dirty="0">
                <a:solidFill>
                  <a:srgbClr val="04342C"/>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060704" y="1207008"/>
            <a:ext cx="5449824" cy="274320"/>
          </a:xfrm>
          <a:prstGeom prst="rect">
            <a:avLst/>
          </a:prstGeom>
          <a:noFill/>
          <a:ln/>
        </p:spPr>
        <p:txBody>
          <a:bodyPr wrap="square" lIns="0" tIns="0" rIns="0" bIns="0" rtlCol="0" anchor="ctr"/>
          <a:lstStyle/>
          <a:p>
            <a:pPr indent="0" marL="0">
              <a:buNone/>
            </a:pPr>
            <a:r>
              <a:rPr lang="en-US" sz="1300" b="1" dirty="0">
                <a:solidFill>
                  <a:srgbClr val="FFFFFF"/>
                </a:solidFill>
              </a:rPr>
              <a:t>Confirm project parameters</a:t>
            </a:r>
            <a:endParaRPr lang="en-US" sz="1300" dirty="0"/>
          </a:p>
        </p:txBody>
      </p:sp>
      <p:sp>
        <p:nvSpPr>
          <p:cNvPr id="10" name="Text 8"/>
          <p:cNvSpPr/>
          <p:nvPr/>
        </p:nvSpPr>
        <p:spPr>
          <a:xfrm>
            <a:off x="1060704" y="1499616"/>
            <a:ext cx="5449824" cy="384048"/>
          </a:xfrm>
          <a:prstGeom prst="rect">
            <a:avLst/>
          </a:prstGeom>
          <a:noFill/>
          <a:ln/>
        </p:spPr>
        <p:txBody>
          <a:bodyPr wrap="square" lIns="0" tIns="0" rIns="0" bIns="0" rtlCol="0" anchor="ctr"/>
          <a:lstStyle/>
          <a:p>
            <a:pPr indent="0" marL="0">
              <a:buNone/>
            </a:pPr>
            <a:r>
              <a:rPr lang="en-US" sz="1050" dirty="0">
                <a:solidFill>
                  <a:srgbClr val="9FE1CB"/>
                </a:solidFill>
              </a:rPr>
              <a:t>Align on scope, construction timeline, phasing milestones, RTS ownership, BESS placement, and operator model — before the Q4 tender is drafted.</a:t>
            </a:r>
            <a:endParaRPr lang="en-US" sz="1050" dirty="0"/>
          </a:p>
        </p:txBody>
      </p:sp>
      <p:sp>
        <p:nvSpPr>
          <p:cNvPr id="11" name="Shape 9"/>
          <p:cNvSpPr/>
          <p:nvPr/>
        </p:nvSpPr>
        <p:spPr>
          <a:xfrm>
            <a:off x="457200" y="2029968"/>
            <a:ext cx="6217920" cy="804672"/>
          </a:xfrm>
          <a:prstGeom prst="roundRect">
            <a:avLst>
              <a:gd name="adj" fmla="val 11364"/>
            </a:avLst>
          </a:prstGeom>
          <a:solidFill>
            <a:srgbClr val="085041"/>
          </a:solidFill>
          <a:ln w="6350">
            <a:solidFill>
              <a:srgbClr val="0F6E56"/>
            </a:solidFill>
            <a:prstDash val="solid"/>
          </a:ln>
        </p:spPr>
      </p:sp>
      <p:sp>
        <p:nvSpPr>
          <p:cNvPr id="12" name="Shape 10"/>
          <p:cNvSpPr/>
          <p:nvPr/>
        </p:nvSpPr>
        <p:spPr>
          <a:xfrm>
            <a:off x="566928" y="2231136"/>
            <a:ext cx="402336" cy="402336"/>
          </a:xfrm>
          <a:prstGeom prst="ellipse">
            <a:avLst/>
          </a:prstGeom>
          <a:solidFill>
            <a:srgbClr val="1D9E75"/>
          </a:solidFill>
          <a:ln w="12700">
            <a:solidFill>
              <a:srgbClr val="1D9E75"/>
            </a:solidFill>
            <a:prstDash val="solid"/>
          </a:ln>
        </p:spPr>
      </p:sp>
      <p:sp>
        <p:nvSpPr>
          <p:cNvPr id="13" name="Text 11"/>
          <p:cNvSpPr/>
          <p:nvPr/>
        </p:nvSpPr>
        <p:spPr>
          <a:xfrm>
            <a:off x="566928" y="2231136"/>
            <a:ext cx="402336" cy="402336"/>
          </a:xfrm>
          <a:prstGeom prst="rect">
            <a:avLst/>
          </a:prstGeom>
          <a:noFill/>
          <a:ln/>
        </p:spPr>
        <p:txBody>
          <a:bodyPr wrap="square" lIns="0" tIns="0" rIns="0" bIns="0" rtlCol="0" anchor="ctr"/>
          <a:lstStyle/>
          <a:p>
            <a:pPr algn="ctr" indent="0" marL="0">
              <a:buNone/>
            </a:pPr>
            <a:r>
              <a:rPr lang="en-US" sz="1400" b="1" dirty="0">
                <a:solidFill>
                  <a:srgbClr val="04342C"/>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060704" y="2121408"/>
            <a:ext cx="5449824" cy="274320"/>
          </a:xfrm>
          <a:prstGeom prst="rect">
            <a:avLst/>
          </a:prstGeom>
          <a:noFill/>
          <a:ln/>
        </p:spPr>
        <p:txBody>
          <a:bodyPr wrap="square" lIns="0" tIns="0" rIns="0" bIns="0" rtlCol="0" anchor="ctr"/>
          <a:lstStyle/>
          <a:p>
            <a:pPr indent="0" marL="0">
              <a:buNone/>
            </a:pPr>
            <a:r>
              <a:rPr lang="en-US" sz="1300" b="1" dirty="0">
                <a:solidFill>
                  <a:srgbClr val="FFFFFF"/>
                </a:solidFill>
              </a:rPr>
              <a:t>Reference architecture document</a:t>
            </a:r>
            <a:endParaRPr lang="en-US" sz="1300" dirty="0"/>
          </a:p>
        </p:txBody>
      </p:sp>
      <p:sp>
        <p:nvSpPr>
          <p:cNvPr id="15" name="Text 13"/>
          <p:cNvSpPr/>
          <p:nvPr/>
        </p:nvSpPr>
        <p:spPr>
          <a:xfrm>
            <a:off x="1060704" y="2414016"/>
            <a:ext cx="5449824" cy="384048"/>
          </a:xfrm>
          <a:prstGeom prst="rect">
            <a:avLst/>
          </a:prstGeom>
          <a:noFill/>
          <a:ln/>
        </p:spPr>
        <p:txBody>
          <a:bodyPr wrap="square" lIns="0" tIns="0" rIns="0" bIns="0" rtlCol="0" anchor="ctr"/>
          <a:lstStyle/>
          <a:p>
            <a:pPr indent="0" marL="0">
              <a:buNone/>
            </a:pPr>
            <a:r>
              <a:rPr lang="en-US" sz="1050" dirty="0">
                <a:solidFill>
                  <a:srgbClr val="9FE1CB"/>
                </a:solidFill>
              </a:rPr>
              <a:t>Survalent APAC will deliver a formal recommended system architecture and phased investment roadmap tailored to VSIP 4, for internal review and tender specification input.</a:t>
            </a:r>
            <a:endParaRPr lang="en-US" sz="1050" dirty="0"/>
          </a:p>
        </p:txBody>
      </p:sp>
      <p:sp>
        <p:nvSpPr>
          <p:cNvPr id="16" name="Shape 14"/>
          <p:cNvSpPr/>
          <p:nvPr/>
        </p:nvSpPr>
        <p:spPr>
          <a:xfrm>
            <a:off x="457200" y="2944368"/>
            <a:ext cx="6217920" cy="804672"/>
          </a:xfrm>
          <a:prstGeom prst="roundRect">
            <a:avLst>
              <a:gd name="adj" fmla="val 11364"/>
            </a:avLst>
          </a:prstGeom>
          <a:solidFill>
            <a:srgbClr val="085041"/>
          </a:solidFill>
          <a:ln w="6350">
            <a:solidFill>
              <a:srgbClr val="0F6E56"/>
            </a:solidFill>
            <a:prstDash val="solid"/>
          </a:ln>
        </p:spPr>
      </p:sp>
      <p:sp>
        <p:nvSpPr>
          <p:cNvPr id="17" name="Shape 15"/>
          <p:cNvSpPr/>
          <p:nvPr/>
        </p:nvSpPr>
        <p:spPr>
          <a:xfrm>
            <a:off x="566928" y="3145536"/>
            <a:ext cx="402336" cy="402336"/>
          </a:xfrm>
          <a:prstGeom prst="ellipse">
            <a:avLst/>
          </a:prstGeom>
          <a:solidFill>
            <a:srgbClr val="1D9E75"/>
          </a:solidFill>
          <a:ln w="12700">
            <a:solidFill>
              <a:srgbClr val="1D9E75"/>
            </a:solidFill>
            <a:prstDash val="solid"/>
          </a:ln>
        </p:spPr>
      </p:sp>
      <p:sp>
        <p:nvSpPr>
          <p:cNvPr id="18" name="Text 16"/>
          <p:cNvSpPr/>
          <p:nvPr/>
        </p:nvSpPr>
        <p:spPr>
          <a:xfrm>
            <a:off x="566928" y="3145536"/>
            <a:ext cx="402336" cy="402336"/>
          </a:xfrm>
          <a:prstGeom prst="rect">
            <a:avLst/>
          </a:prstGeom>
          <a:noFill/>
          <a:ln/>
        </p:spPr>
        <p:txBody>
          <a:bodyPr wrap="square" lIns="0" tIns="0" rIns="0" bIns="0" rtlCol="0" anchor="ctr"/>
          <a:lstStyle/>
          <a:p>
            <a:pPr algn="ctr" indent="0" marL="0">
              <a:buNone/>
            </a:pPr>
            <a:r>
              <a:rPr lang="en-US" sz="1400" b="1" dirty="0">
                <a:solidFill>
                  <a:srgbClr val="04342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060704" y="3035808"/>
            <a:ext cx="5449824" cy="274320"/>
          </a:xfrm>
          <a:prstGeom prst="rect">
            <a:avLst/>
          </a:prstGeom>
          <a:noFill/>
          <a:ln/>
        </p:spPr>
        <p:txBody>
          <a:bodyPr wrap="square" lIns="0" tIns="0" rIns="0" bIns="0" rtlCol="0" anchor="ctr"/>
          <a:lstStyle/>
          <a:p>
            <a:pPr indent="0" marL="0">
              <a:buNone/>
            </a:pPr>
            <a:r>
              <a:rPr lang="en-US" sz="1300" b="1" dirty="0">
                <a:solidFill>
                  <a:srgbClr val="FFFFFF"/>
                </a:solidFill>
              </a:rPr>
              <a:t>Reference site visit</a:t>
            </a:r>
            <a:endParaRPr lang="en-US" sz="1300" dirty="0"/>
          </a:p>
        </p:txBody>
      </p:sp>
      <p:sp>
        <p:nvSpPr>
          <p:cNvPr id="20" name="Text 18"/>
          <p:cNvSpPr/>
          <p:nvPr/>
        </p:nvSpPr>
        <p:spPr>
          <a:xfrm>
            <a:off x="1060704" y="3328416"/>
            <a:ext cx="5449824" cy="384048"/>
          </a:xfrm>
          <a:prstGeom prst="rect">
            <a:avLst/>
          </a:prstGeom>
          <a:noFill/>
          <a:ln/>
        </p:spPr>
        <p:txBody>
          <a:bodyPr wrap="square" lIns="0" tIns="0" rIns="0" bIns="0" rtlCol="0" anchor="ctr"/>
          <a:lstStyle/>
          <a:p>
            <a:pPr indent="0" marL="0">
              <a:buNone/>
            </a:pPr>
            <a:r>
              <a:rPr lang="en-US" sz="1050" dirty="0">
                <a:solidFill>
                  <a:srgbClr val="9FE1CB"/>
                </a:solidFill>
              </a:rPr>
              <a:t>We can arrange a visit to a comparable Survalent-powered smart industrial or utility site in the region — see the platform operating at scale before the tender closes.</a:t>
            </a:r>
            <a:endParaRPr lang="en-US" sz="1050" dirty="0"/>
          </a:p>
        </p:txBody>
      </p:sp>
      <p:sp>
        <p:nvSpPr>
          <p:cNvPr id="21" name="Shape 19"/>
          <p:cNvSpPr/>
          <p:nvPr/>
        </p:nvSpPr>
        <p:spPr>
          <a:xfrm>
            <a:off x="457200" y="3858768"/>
            <a:ext cx="6217920" cy="804672"/>
          </a:xfrm>
          <a:prstGeom prst="roundRect">
            <a:avLst>
              <a:gd name="adj" fmla="val 11364"/>
            </a:avLst>
          </a:prstGeom>
          <a:solidFill>
            <a:srgbClr val="085041"/>
          </a:solidFill>
          <a:ln w="6350">
            <a:solidFill>
              <a:srgbClr val="0F6E56"/>
            </a:solidFill>
            <a:prstDash val="solid"/>
          </a:ln>
        </p:spPr>
      </p:sp>
      <p:sp>
        <p:nvSpPr>
          <p:cNvPr id="22" name="Shape 20"/>
          <p:cNvSpPr/>
          <p:nvPr/>
        </p:nvSpPr>
        <p:spPr>
          <a:xfrm>
            <a:off x="566928" y="4059936"/>
            <a:ext cx="402336" cy="402336"/>
          </a:xfrm>
          <a:prstGeom prst="ellipse">
            <a:avLst/>
          </a:prstGeom>
          <a:solidFill>
            <a:srgbClr val="1D9E75"/>
          </a:solidFill>
          <a:ln w="12700">
            <a:solidFill>
              <a:srgbClr val="1D9E75"/>
            </a:solidFill>
            <a:prstDash val="solid"/>
          </a:ln>
        </p:spPr>
      </p:sp>
      <p:sp>
        <p:nvSpPr>
          <p:cNvPr id="23" name="Text 21"/>
          <p:cNvSpPr/>
          <p:nvPr/>
        </p:nvSpPr>
        <p:spPr>
          <a:xfrm>
            <a:off x="566928" y="4059936"/>
            <a:ext cx="402336" cy="402336"/>
          </a:xfrm>
          <a:prstGeom prst="rect">
            <a:avLst/>
          </a:prstGeom>
          <a:noFill/>
          <a:ln/>
        </p:spPr>
        <p:txBody>
          <a:bodyPr wrap="square" lIns="0" tIns="0" rIns="0" bIns="0" rtlCol="0" anchor="ctr"/>
          <a:lstStyle/>
          <a:p>
            <a:pPr algn="ctr" indent="0" marL="0">
              <a:buNone/>
            </a:pPr>
            <a:r>
              <a:rPr lang="en-US" sz="1400" b="1" dirty="0">
                <a:solidFill>
                  <a:srgbClr val="04342C"/>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1060704" y="3950208"/>
            <a:ext cx="5449824" cy="274320"/>
          </a:xfrm>
          <a:prstGeom prst="rect">
            <a:avLst/>
          </a:prstGeom>
          <a:noFill/>
          <a:ln/>
        </p:spPr>
        <p:txBody>
          <a:bodyPr wrap="square" lIns="0" tIns="0" rIns="0" bIns="0" rtlCol="0" anchor="ctr"/>
          <a:lstStyle/>
          <a:p>
            <a:pPr indent="0" marL="0">
              <a:buNone/>
            </a:pPr>
            <a:r>
              <a:rPr lang="en-US" sz="1300" b="1" dirty="0">
                <a:solidFill>
                  <a:srgbClr val="FFFFFF"/>
                </a:solidFill>
              </a:rPr>
              <a:t>Technical deep-dive workshop</a:t>
            </a:r>
            <a:endParaRPr lang="en-US" sz="1300" dirty="0"/>
          </a:p>
        </p:txBody>
      </p:sp>
      <p:sp>
        <p:nvSpPr>
          <p:cNvPr id="25" name="Text 23"/>
          <p:cNvSpPr/>
          <p:nvPr/>
        </p:nvSpPr>
        <p:spPr>
          <a:xfrm>
            <a:off x="1060704" y="4242816"/>
            <a:ext cx="5449824" cy="384048"/>
          </a:xfrm>
          <a:prstGeom prst="rect">
            <a:avLst/>
          </a:prstGeom>
          <a:noFill/>
          <a:ln/>
        </p:spPr>
        <p:txBody>
          <a:bodyPr wrap="square" lIns="0" tIns="0" rIns="0" bIns="0" rtlCol="0" anchor="ctr"/>
          <a:lstStyle/>
          <a:p>
            <a:pPr indent="0" marL="0">
              <a:buNone/>
            </a:pPr>
            <a:r>
              <a:rPr lang="en-US" sz="1050" dirty="0">
                <a:solidFill>
                  <a:srgbClr val="9FE1CB"/>
                </a:solidFill>
              </a:rPr>
              <a:t>A focused 2-hour session with VSIP's technical team to walk through the recommended architecture in detail and answer engineering-level questions before Q4 work begins.</a:t>
            </a:r>
            <a:endParaRPr lang="en-US" sz="1050" dirty="0"/>
          </a:p>
        </p:txBody>
      </p:sp>
      <p:sp>
        <p:nvSpPr>
          <p:cNvPr id="26" name="Text 24"/>
          <p:cNvSpPr/>
          <p:nvPr/>
        </p:nvSpPr>
        <p:spPr>
          <a:xfrm>
            <a:off x="548640" y="4736592"/>
            <a:ext cx="5486400" cy="256032"/>
          </a:xfrm>
          <a:prstGeom prst="rect">
            <a:avLst/>
          </a:prstGeom>
          <a:noFill/>
          <a:ln/>
        </p:spPr>
        <p:txBody>
          <a:bodyPr wrap="square" lIns="0" tIns="0" rIns="0" bIns="0" rtlCol="0" anchor="ctr"/>
          <a:lstStyle/>
          <a:p>
            <a:pPr indent="0" marL="0">
              <a:buNone/>
            </a:pPr>
            <a:r>
              <a:rPr lang="en-US" sz="1200" i="1" dirty="0">
                <a:solidFill>
                  <a:srgbClr val="9FE1CB"/>
                </a:solidFill>
              </a:rPr>
              <a:t>Thank you · Survalent APAC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VSIP 4 Smart Grid &amp; EMS — Survalent APAC</dc:title>
  <dc:subject>PptxGenJS Presentation</dc:subject>
  <dc:creator>PptxGenJS</dc:creator>
  <cp:lastModifiedBy>PptxGenJS</cp:lastModifiedBy>
  <cp:revision>1</cp:revision>
  <dcterms:created xsi:type="dcterms:W3CDTF">2026-06-17T02:31:47Z</dcterms:created>
  <dcterms:modified xsi:type="dcterms:W3CDTF">2026-06-17T02:31:47Z</dcterms:modified>
</cp:coreProperties>
</file>