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 Andrew. Keep it warm and brief. Thank MP for arranging the meeting and introduce the team. Before launching into slides, ask the single most important discovery question: 'What does success for VSIP 4 look like in five years — commercially and operationally?' Listen. This frames how you weight the rest of the deck. Establish the posture: we are here as advisors and system architects, not to sell a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Andrew. Transition slide. One line: 'Before we talk about technology, let us show you that we understand what you are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Andrew. Walk the agenda in under 90 seconds. Emphasize the arc: understand → platform → architecture → roadmap → decisions. Signal that the roadmap (item 5) is the heart of the session — 'we have already thought through your path; today we want to share it and refine it with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Rudy can present the parameters; Andrew adds the framing. KEY MOVE: stress the words 'working parameters — we will refine these together.' This signals you are not taking their numbers as gospel; you are consulting. Note to the room that zero-export and islanding are the two requirements that most shape the architecture. Ask: 'Are these seven requirements complete, or is there anything else driving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ANDREW'S SLIDE — this is where he establishes seniority. Deliver the banner statement slowly and with conviction; let it land. Then connect each pillar back to what VSIP told MP. The message: 'Everything we recommend today serves these three outcomes.' Pause after this slide — invite VSIP to react before moving on. If they nod at 'tenants never lose power,' you know reliability is the emotional driver.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Rudy. 'Because the project is early, we have made a set of engineering assumptions. We want to be transparent about them, because each one shapes the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RUDY presents; this is the credibility-through-transparency slide. Walk the right column carefully — each assumption is also an open question for VSIP. Explicitly ask the two that matter most: 'Who owns the rooftop solar?' and 'Will the BESS be centralized at the substations?' Tell them their answers may shift the design, and that is exactly why this conversation matters before the tender.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Rudy. 'Now that we understand the project, let us show you the engine that makes it possible — and why the type of platform matters enormously.'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Rudy. The strategic wedge against competitors. Many DERMS products grew out of energy-market aggregation; Survalent grew out of mission-critical SCADA/ADMS. For an industrial park whose first priority is keeping factories powered, that heritage is the differentiator. Andrew can interject: 'A market tool optimizes revenue. A grid platform keeps the lights on. You need the second one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Rudy. Read it bottom-to-top: the foundation is SCADA, the intelligence stacks above it. The single most important sentence: 'It is one platform, not five integrated products — which is why VSIP can start small and grow without re-platforming.' Point to the integration column: 'We speak every protocol your vendors will bring, so you are never locked in.' This directly answers VSIP's multi-vendor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Rudy. Don't read all six — highlight the two teal-bordered cards (ADMS, DERMS) as 'where VSIP starts.' Frame the other four as 'capabilities already in the platform, waiting for the phase when you need them.' This reinforces the roadmap logic: you are not buying everything at once, but it is all there when you grow into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Rudy. 'This is our recommended architecture for VSIP 4. We designed it around your requirements, not a generic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RUDY'S anchor slide. Trace the diagram top-down: national grid → substations with co-located BESS → 22kV network → tenant solar. Then point to the Survalent box: 'Everything you see flows into one operational picture.' KEY EXPERT MOMENT: explain why BESS sits at the substation, not at factories — it gives VSIP direct control for stability, zero-export, and islanding. Invite VSIP to challenge the topology; adjusting it live demonstrates consulting, not selling.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RUDY presents the logic; ANDREW delivers the closing line. The technical flow: measure at POI → DERMS compares against the limit → if solar would export, the system curtails RTS, charges the BESS, or alarms — in a prioritized sequence. ANDREW'S LINE (say it firmly): 'Zero export is not a feature. It is a regulatory obligation. It must be designed in from Phase 1.' Note that monitoring starts in Phase 2 because tenant solar energizes before full DERMS — you cannot wait.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RUDY walks the four-step sequence; ANDREW delivers the banner. Stress that the black-start order is engineered, not improvised: BESS forms the grid, the bus stabilizes, solar synchronizes, loads return by priority. The three requirement cards are what must be specified in the tender. ANDREW'S CLOSER: 'This is a commercial advantage, not just an engineering feature — it is how you attract tenants who cannot tolerate downtime.'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ANDREW. The emotional and strategic peak of the deck. 'We have already mapped your journey. Here it is — five phases, each delivering value before the next begins.'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ANDREW'S signature slide — present it as a gift, not a sales sheet. Walk left to right; for each phase give one sentence and the outcome. The crucial framing: 'No phase requires a rip-and-replace. Each one builds on the last.' Tie back to VSIP's vision: Phase 4 delivers the reliability story, Phase 5 delivers the zero-carbon ESG story. Pause and ask: 'Does this phasing match how you expect to fund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RUDY presents; ANDREW reinforces the principle. The point of this slide is to justify spending on 'unglamorous' foundations. Most parks under-invest in the data model and comms in Phase 1, then pay dearly to retrofit. ANDREW'S EXPERT MOMENT: 'The most expensive mistake we see is a Phase 1 designed only for SCADA. We design yours for Phase 5 from the first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RUDY presents. Translate each capability into a tenant or operator benefit — FLISR = uptime, Volt/VAR = lower losses and longer asset life. The decisive point lives in the dark banner: zero-export ALARMS belong in Phase 2 because solar energizes before Phase-3 DERMS exists. This is a key 'we thought of something you might miss' moment — say it as such, gently.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ANDREW. Keep this brisk — it is a signpost, not a deep dive. One sentence per column. Land the closing line clearly. Then connect to the vision slide: Phase 3+4 deliver reliability, Phase 5 delivers the zero-carbon ESG credentials that attract premium tenants. Invite VSIP to say which phase excites them most — their answer tells you where the budget energy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ANDREW. 'We will leave you with the decisions that matter most right now, and a clear set of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ANDREW'S slide — the senior-consultant close. These are the questions no vendor will raise. Present 01–05 as guidance, then deliver 06 with weight: 'By designing the architecture with you now, we help you write a specification that any solution must meet — protecting your investment regardless of who wins the tender.' This positions Survalent as the trusted advisor, not a bidder.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ANDREW closes. Return to the opening question: 'You told us success looks like X. Here is how we get you there.' Walk the four steps and ask VSIP to commit to at least one — ideally the workshop or the site visit — with a date. Do not leave the room without a next action on the calendar. Final line is the dark banner: deliver it looking at the decision-makers.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139"/>
        </a:solidFill>
      </p:bgPr>
    </p:bg>
    <p:spTree>
      <p:nvGrpSpPr>
        <p:cNvPr id="1" name=""/>
        <p:cNvGrpSpPr/>
        <p:nvPr/>
      </p:nvGrpSpPr>
      <p:grpSpPr>
        <a:xfrm>
          <a:off x="0" y="0"/>
          <a:ext cx="0" cy="0"/>
          <a:chOff x="0" y="0"/>
          <a:chExt cx="0" cy="0"/>
        </a:xfrm>
      </p:grpSpPr>
      <p:sp>
        <p:nvSpPr>
          <p:cNvPr id="2" name="Shape 0"/>
          <p:cNvSpPr/>
          <p:nvPr/>
        </p:nvSpPr>
        <p:spPr>
          <a:xfrm>
            <a:off x="6126480" y="-1463040"/>
            <a:ext cx="5120640" cy="5120640"/>
          </a:xfrm>
          <a:prstGeom prst="ellipse">
            <a:avLst/>
          </a:prstGeom>
          <a:solidFill>
            <a:srgbClr val="1C5260">
              <a:alpha val="70000"/>
            </a:srgbClr>
          </a:solidFill>
          <a:ln/>
        </p:spPr>
      </p:sp>
      <p:sp>
        <p:nvSpPr>
          <p:cNvPr id="3" name="Shape 1"/>
          <p:cNvSpPr/>
          <p:nvPr/>
        </p:nvSpPr>
        <p:spPr>
          <a:xfrm>
            <a:off x="7315200" y="1463040"/>
            <a:ext cx="2743200" cy="2743200"/>
          </a:xfrm>
          <a:prstGeom prst="ellipse">
            <a:avLst/>
          </a:prstGeom>
          <a:solidFill>
            <a:srgbClr val="2B7A8C">
              <a:alpha val="35000"/>
            </a:srgbClr>
          </a:solidFill>
          <a:ln/>
        </p:spPr>
      </p:sp>
      <p:sp>
        <p:nvSpPr>
          <p:cNvPr id="4" name="Shape 2"/>
          <p:cNvSpPr/>
          <p:nvPr/>
        </p:nvSpPr>
        <p:spPr>
          <a:xfrm>
            <a:off x="0" y="0"/>
            <a:ext cx="310896" cy="457200"/>
          </a:xfrm>
          <a:prstGeom prst="rect">
            <a:avLst/>
          </a:prstGeom>
          <a:solidFill>
            <a:srgbClr val="D94F1E"/>
          </a:solidFill>
          <a:ln w="12700">
            <a:solidFill>
              <a:srgbClr val="D94F1E"/>
            </a:solidFill>
            <a:prstDash val="solid"/>
          </a:ln>
        </p:spPr>
      </p:sp>
      <p:sp>
        <p:nvSpPr>
          <p:cNvPr id="5" name="Text 3"/>
          <p:cNvSpPr/>
          <p:nvPr/>
        </p:nvSpPr>
        <p:spPr>
          <a:xfrm>
            <a:off x="640080" y="457200"/>
            <a:ext cx="6400800" cy="274320"/>
          </a:xfrm>
          <a:prstGeom prst="rect">
            <a:avLst/>
          </a:prstGeom>
          <a:noFill/>
          <a:ln/>
        </p:spPr>
        <p:txBody>
          <a:bodyPr wrap="square" lIns="0" tIns="0" rIns="0" bIns="0" rtlCol="0" anchor="ctr"/>
          <a:lstStyle/>
          <a:p>
            <a:pPr indent="0" marL="0">
              <a:buNone/>
            </a:pPr>
            <a:r>
              <a:rPr lang="en-US" sz="1100" spc="300" kern="0" dirty="0">
                <a:solidFill>
                  <a:srgbClr val="BFE0DE"/>
                </a:solidFill>
                <a:latin typeface="Calibri" pitchFamily="34" charset="0"/>
                <a:ea typeface="Calibri" pitchFamily="34" charset="-122"/>
                <a:cs typeface="Calibri" pitchFamily="34" charset="-120"/>
              </a:rPr>
              <a:t>SURVALENT TECHNOLOGY · APAC</a:t>
            </a:r>
            <a:endParaRPr lang="en-US" sz="1100" dirty="0"/>
          </a:p>
        </p:txBody>
      </p:sp>
      <p:sp>
        <p:nvSpPr>
          <p:cNvPr id="6" name="Text 4"/>
          <p:cNvSpPr/>
          <p:nvPr/>
        </p:nvSpPr>
        <p:spPr>
          <a:xfrm>
            <a:off x="640080" y="1051560"/>
            <a:ext cx="7040880" cy="155448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libri" pitchFamily="34" charset="0"/>
                <a:ea typeface="Calibri" pitchFamily="34" charset="-122"/>
                <a:cs typeface="Calibri" pitchFamily="34" charset="-120"/>
              </a:rPr>
              <a:t>Smart Grid &amp; Energy</a:t>
            </a:r>
            <a:endParaRPr lang="en-US" sz="4000" dirty="0"/>
          </a:p>
          <a:p>
            <a:pPr indent="0" marL="0">
              <a:lnSpc>
                <a:spcPct val="105000"/>
              </a:lnSpc>
              <a:buNone/>
            </a:pPr>
            <a:r>
              <a:rPr lang="en-US" sz="4000" b="1" dirty="0">
                <a:solidFill>
                  <a:srgbClr val="FFFFFF"/>
                </a:solidFill>
                <a:latin typeface="Calibri" pitchFamily="34" charset="0"/>
                <a:ea typeface="Calibri" pitchFamily="34" charset="-122"/>
                <a:cs typeface="Calibri" pitchFamily="34" charset="-120"/>
              </a:rPr>
              <a:t>Management Strategy</a:t>
            </a:r>
            <a:endParaRPr lang="en-US" sz="4000" dirty="0"/>
          </a:p>
        </p:txBody>
      </p:sp>
      <p:sp>
        <p:nvSpPr>
          <p:cNvPr id="7" name="Text 5"/>
          <p:cNvSpPr/>
          <p:nvPr/>
        </p:nvSpPr>
        <p:spPr>
          <a:xfrm>
            <a:off x="658368" y="2697480"/>
            <a:ext cx="6675120" cy="365760"/>
          </a:xfrm>
          <a:prstGeom prst="rect">
            <a:avLst/>
          </a:prstGeom>
          <a:noFill/>
          <a:ln/>
        </p:spPr>
        <p:txBody>
          <a:bodyPr wrap="square" lIns="0" tIns="0" rIns="0" bIns="0" rtlCol="0" anchor="ctr"/>
          <a:lstStyle/>
          <a:p>
            <a:pPr indent="0" marL="0">
              <a:buNone/>
            </a:pPr>
            <a:r>
              <a:rPr lang="en-US" sz="1600" i="1" dirty="0">
                <a:solidFill>
                  <a:srgbClr val="BFE0DE"/>
                </a:solidFill>
                <a:latin typeface="Calibri" pitchFamily="34" charset="0"/>
                <a:ea typeface="Calibri" pitchFamily="34" charset="-122"/>
                <a:cs typeface="Calibri" pitchFamily="34" charset="-120"/>
              </a:rPr>
              <a:t>A Consultative Roadmap for VSIP 4 Industrial Park</a:t>
            </a:r>
            <a:endParaRPr lang="en-US" sz="1600" dirty="0"/>
          </a:p>
        </p:txBody>
      </p:sp>
      <p:sp>
        <p:nvSpPr>
          <p:cNvPr id="8" name="Shape 6"/>
          <p:cNvSpPr/>
          <p:nvPr/>
        </p:nvSpPr>
        <p:spPr>
          <a:xfrm>
            <a:off x="658368" y="3200400"/>
            <a:ext cx="2468880" cy="0"/>
          </a:xfrm>
          <a:prstGeom prst="line">
            <a:avLst/>
          </a:prstGeom>
          <a:noFill/>
          <a:ln w="25400">
            <a:solidFill>
              <a:srgbClr val="D94F1E"/>
            </a:solidFill>
            <a:prstDash val="solid"/>
          </a:ln>
        </p:spPr>
      </p:sp>
      <p:sp>
        <p:nvSpPr>
          <p:cNvPr id="9" name="Shape 7"/>
          <p:cNvSpPr/>
          <p:nvPr/>
        </p:nvSpPr>
        <p:spPr>
          <a:xfrm>
            <a:off x="658368" y="3401568"/>
            <a:ext cx="1938528" cy="310896"/>
          </a:xfrm>
          <a:prstGeom prst="roundRect">
            <a:avLst>
              <a:gd name="adj" fmla="val 23529"/>
            </a:avLst>
          </a:prstGeom>
          <a:solidFill>
            <a:srgbClr val="1C5260"/>
          </a:solidFill>
          <a:ln w="6350">
            <a:solidFill>
              <a:srgbClr val="2B7A8C"/>
            </a:solidFill>
            <a:prstDash val="solid"/>
          </a:ln>
        </p:spPr>
      </p:sp>
      <p:sp>
        <p:nvSpPr>
          <p:cNvPr id="10" name="Text 8"/>
          <p:cNvSpPr/>
          <p:nvPr/>
        </p:nvSpPr>
        <p:spPr>
          <a:xfrm>
            <a:off x="658368" y="3401568"/>
            <a:ext cx="1938528" cy="310896"/>
          </a:xfrm>
          <a:prstGeom prst="rect">
            <a:avLst/>
          </a:prstGeom>
          <a:noFill/>
          <a:ln/>
        </p:spPr>
        <p:txBody>
          <a:bodyPr wrap="square" lIns="0" tIns="0" rIns="0" bIns="0" rtlCol="0" anchor="ctr"/>
          <a:lstStyle/>
          <a:p>
            <a:pPr algn="ctr" indent="0" marL="0">
              <a:buNone/>
            </a:pPr>
            <a:r>
              <a:rPr lang="en-US" sz="950" dirty="0">
                <a:solidFill>
                  <a:srgbClr val="BFE0DE"/>
                </a:solidFill>
                <a:latin typeface="Calibri" pitchFamily="34" charset="0"/>
                <a:ea typeface="Calibri" pitchFamily="34" charset="-122"/>
                <a:cs typeface="Calibri" pitchFamily="34" charset="-120"/>
              </a:rPr>
              <a:t>June 26, 2026</a:t>
            </a:r>
            <a:endParaRPr lang="en-US" sz="950" dirty="0"/>
          </a:p>
        </p:txBody>
      </p:sp>
      <p:sp>
        <p:nvSpPr>
          <p:cNvPr id="11" name="Shape 9"/>
          <p:cNvSpPr/>
          <p:nvPr/>
        </p:nvSpPr>
        <p:spPr>
          <a:xfrm>
            <a:off x="2779776" y="3401568"/>
            <a:ext cx="1938528" cy="310896"/>
          </a:xfrm>
          <a:prstGeom prst="roundRect">
            <a:avLst>
              <a:gd name="adj" fmla="val 23529"/>
            </a:avLst>
          </a:prstGeom>
          <a:solidFill>
            <a:srgbClr val="1C5260"/>
          </a:solidFill>
          <a:ln w="6350">
            <a:solidFill>
              <a:srgbClr val="2B7A8C"/>
            </a:solidFill>
            <a:prstDash val="solid"/>
          </a:ln>
        </p:spPr>
      </p:sp>
      <p:sp>
        <p:nvSpPr>
          <p:cNvPr id="12" name="Text 10"/>
          <p:cNvSpPr/>
          <p:nvPr/>
        </p:nvSpPr>
        <p:spPr>
          <a:xfrm>
            <a:off x="2779776" y="3401568"/>
            <a:ext cx="1938528" cy="310896"/>
          </a:xfrm>
          <a:prstGeom prst="rect">
            <a:avLst/>
          </a:prstGeom>
          <a:noFill/>
          <a:ln/>
        </p:spPr>
        <p:txBody>
          <a:bodyPr wrap="square" lIns="0" tIns="0" rIns="0" bIns="0" rtlCol="0" anchor="ctr"/>
          <a:lstStyle/>
          <a:p>
            <a:pPr algn="ctr" indent="0" marL="0">
              <a:buNone/>
            </a:pPr>
            <a:r>
              <a:rPr lang="en-US" sz="950" dirty="0">
                <a:solidFill>
                  <a:srgbClr val="BFE0DE"/>
                </a:solidFill>
                <a:latin typeface="Calibri" pitchFamily="34" charset="0"/>
                <a:ea typeface="Calibri" pitchFamily="34" charset="-122"/>
                <a:cs typeface="Calibri" pitchFamily="34" charset="-120"/>
              </a:rPr>
              <a:t>VSIP I Office · 9:00 AM</a:t>
            </a:r>
            <a:endParaRPr lang="en-US" sz="950" dirty="0"/>
          </a:p>
        </p:txBody>
      </p:sp>
      <p:sp>
        <p:nvSpPr>
          <p:cNvPr id="13" name="Shape 11"/>
          <p:cNvSpPr/>
          <p:nvPr/>
        </p:nvSpPr>
        <p:spPr>
          <a:xfrm>
            <a:off x="4901184" y="3401568"/>
            <a:ext cx="1938528" cy="310896"/>
          </a:xfrm>
          <a:prstGeom prst="roundRect">
            <a:avLst>
              <a:gd name="adj" fmla="val 23529"/>
            </a:avLst>
          </a:prstGeom>
          <a:solidFill>
            <a:srgbClr val="1C5260"/>
          </a:solidFill>
          <a:ln w="6350">
            <a:solidFill>
              <a:srgbClr val="2B7A8C"/>
            </a:solidFill>
            <a:prstDash val="solid"/>
          </a:ln>
        </p:spPr>
      </p:sp>
      <p:sp>
        <p:nvSpPr>
          <p:cNvPr id="14" name="Text 12"/>
          <p:cNvSpPr/>
          <p:nvPr/>
        </p:nvSpPr>
        <p:spPr>
          <a:xfrm>
            <a:off x="4901184" y="3401568"/>
            <a:ext cx="1938528" cy="310896"/>
          </a:xfrm>
          <a:prstGeom prst="rect">
            <a:avLst/>
          </a:prstGeom>
          <a:noFill/>
          <a:ln/>
        </p:spPr>
        <p:txBody>
          <a:bodyPr wrap="square" lIns="0" tIns="0" rIns="0" bIns="0" rtlCol="0" anchor="ctr"/>
          <a:lstStyle/>
          <a:p>
            <a:pPr algn="ctr" indent="0" marL="0">
              <a:buNone/>
            </a:pPr>
            <a:r>
              <a:rPr lang="en-US" sz="950" dirty="0">
                <a:solidFill>
                  <a:srgbClr val="BFE0DE"/>
                </a:solidFill>
                <a:latin typeface="Calibri" pitchFamily="34" charset="0"/>
                <a:ea typeface="Calibri" pitchFamily="34" charset="-122"/>
                <a:cs typeface="Calibri" pitchFamily="34" charset="-120"/>
              </a:rPr>
              <a:t>Confidential</a:t>
            </a:r>
            <a:endParaRPr lang="en-US" sz="950" dirty="0"/>
          </a:p>
        </p:txBody>
      </p:sp>
      <p:sp>
        <p:nvSpPr>
          <p:cNvPr id="15" name="Shape 13"/>
          <p:cNvSpPr/>
          <p:nvPr/>
        </p:nvSpPr>
        <p:spPr>
          <a:xfrm>
            <a:off x="658368" y="4069080"/>
            <a:ext cx="457200" cy="457200"/>
          </a:xfrm>
          <a:prstGeom prst="ellipse">
            <a:avLst/>
          </a:prstGeom>
          <a:solidFill>
            <a:srgbClr val="2B7A8C"/>
          </a:solidFill>
          <a:ln w="12700">
            <a:solidFill>
              <a:srgbClr val="2B7A8C"/>
            </a:solidFill>
            <a:prstDash val="solid"/>
          </a:ln>
        </p:spPr>
      </p:sp>
      <p:sp>
        <p:nvSpPr>
          <p:cNvPr id="16" name="Text 14"/>
          <p:cNvSpPr/>
          <p:nvPr/>
        </p:nvSpPr>
        <p:spPr>
          <a:xfrm>
            <a:off x="658368" y="40690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AW</a:t>
            </a:r>
            <a:endParaRPr lang="en-US" sz="1200" dirty="0"/>
          </a:p>
        </p:txBody>
      </p:sp>
      <p:sp>
        <p:nvSpPr>
          <p:cNvPr id="17" name="Text 15"/>
          <p:cNvSpPr/>
          <p:nvPr/>
        </p:nvSpPr>
        <p:spPr>
          <a:xfrm>
            <a:off x="1188720" y="4050792"/>
            <a:ext cx="1463040" cy="237744"/>
          </a:xfrm>
          <a:prstGeom prst="rect">
            <a:avLst/>
          </a:prstGeom>
          <a:noFill/>
          <a:ln/>
        </p:spPr>
        <p:txBody>
          <a:bodyPr wrap="square" lIns="0" tIns="0" rIns="0" bIns="0" rtlCol="0" anchor="b"/>
          <a:lstStyle/>
          <a:p>
            <a:pPr indent="0" marL="0">
              <a:buNone/>
            </a:pPr>
            <a:r>
              <a:rPr lang="en-US" sz="1200" b="1" dirty="0">
                <a:solidFill>
                  <a:srgbClr val="FFFFFF"/>
                </a:solidFill>
                <a:latin typeface="Calibri" pitchFamily="34" charset="0"/>
                <a:ea typeface="Calibri" pitchFamily="34" charset="-122"/>
                <a:cs typeface="Calibri" pitchFamily="34" charset="-120"/>
              </a:rPr>
              <a:t>Andrew</a:t>
            </a:r>
            <a:endParaRPr lang="en-US" sz="1200" dirty="0"/>
          </a:p>
        </p:txBody>
      </p:sp>
      <p:sp>
        <p:nvSpPr>
          <p:cNvPr id="18" name="Text 16"/>
          <p:cNvSpPr/>
          <p:nvPr/>
        </p:nvSpPr>
        <p:spPr>
          <a:xfrm>
            <a:off x="1188720" y="4288536"/>
            <a:ext cx="1554480" cy="219456"/>
          </a:xfrm>
          <a:prstGeom prst="rect">
            <a:avLst/>
          </a:prstGeom>
          <a:noFill/>
          <a:ln/>
        </p:spPr>
        <p:txBody>
          <a:bodyPr wrap="square" lIns="0" tIns="0" rIns="0" bIns="0" rtlCol="0" anchor="t"/>
          <a:lstStyle/>
          <a:p>
            <a:pPr indent="0" marL="0">
              <a:buNone/>
            </a:pPr>
            <a:r>
              <a:rPr lang="en-US" sz="950" dirty="0">
                <a:solidFill>
                  <a:srgbClr val="BFE0DE"/>
                </a:solidFill>
                <a:latin typeface="Calibri" pitchFamily="34" charset="0"/>
                <a:ea typeface="Calibri" pitchFamily="34" charset="-122"/>
                <a:cs typeface="Calibri" pitchFamily="34" charset="-120"/>
              </a:rPr>
              <a:t>Senior Consultant</a:t>
            </a:r>
            <a:endParaRPr lang="en-US" sz="950" dirty="0"/>
          </a:p>
        </p:txBody>
      </p:sp>
      <p:sp>
        <p:nvSpPr>
          <p:cNvPr id="19" name="Shape 17"/>
          <p:cNvSpPr/>
          <p:nvPr/>
        </p:nvSpPr>
        <p:spPr>
          <a:xfrm>
            <a:off x="2779776" y="4069080"/>
            <a:ext cx="457200" cy="457200"/>
          </a:xfrm>
          <a:prstGeom prst="ellipse">
            <a:avLst/>
          </a:prstGeom>
          <a:solidFill>
            <a:srgbClr val="2B7A8C"/>
          </a:solidFill>
          <a:ln w="12700">
            <a:solidFill>
              <a:srgbClr val="2B7A8C"/>
            </a:solidFill>
            <a:prstDash val="solid"/>
          </a:ln>
        </p:spPr>
      </p:sp>
      <p:sp>
        <p:nvSpPr>
          <p:cNvPr id="20" name="Text 18"/>
          <p:cNvSpPr/>
          <p:nvPr/>
        </p:nvSpPr>
        <p:spPr>
          <a:xfrm>
            <a:off x="2779776" y="40690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RD</a:t>
            </a:r>
            <a:endParaRPr lang="en-US" sz="1200" dirty="0"/>
          </a:p>
        </p:txBody>
      </p:sp>
      <p:sp>
        <p:nvSpPr>
          <p:cNvPr id="21" name="Text 19"/>
          <p:cNvSpPr/>
          <p:nvPr/>
        </p:nvSpPr>
        <p:spPr>
          <a:xfrm>
            <a:off x="3310128" y="4050792"/>
            <a:ext cx="1463040" cy="237744"/>
          </a:xfrm>
          <a:prstGeom prst="rect">
            <a:avLst/>
          </a:prstGeom>
          <a:noFill/>
          <a:ln/>
        </p:spPr>
        <p:txBody>
          <a:bodyPr wrap="square" lIns="0" tIns="0" rIns="0" bIns="0" rtlCol="0" anchor="b"/>
          <a:lstStyle/>
          <a:p>
            <a:pPr indent="0" marL="0">
              <a:buNone/>
            </a:pPr>
            <a:r>
              <a:rPr lang="en-US" sz="1200" b="1" dirty="0">
                <a:solidFill>
                  <a:srgbClr val="FFFFFF"/>
                </a:solidFill>
                <a:latin typeface="Calibri" pitchFamily="34" charset="0"/>
                <a:ea typeface="Calibri" pitchFamily="34" charset="-122"/>
                <a:cs typeface="Calibri" pitchFamily="34" charset="-120"/>
              </a:rPr>
              <a:t>Rudy</a:t>
            </a:r>
            <a:endParaRPr lang="en-US" sz="1200" dirty="0"/>
          </a:p>
        </p:txBody>
      </p:sp>
      <p:sp>
        <p:nvSpPr>
          <p:cNvPr id="22" name="Text 20"/>
          <p:cNvSpPr/>
          <p:nvPr/>
        </p:nvSpPr>
        <p:spPr>
          <a:xfrm>
            <a:off x="3310128" y="4288536"/>
            <a:ext cx="1554480" cy="219456"/>
          </a:xfrm>
          <a:prstGeom prst="rect">
            <a:avLst/>
          </a:prstGeom>
          <a:noFill/>
          <a:ln/>
        </p:spPr>
        <p:txBody>
          <a:bodyPr wrap="square" lIns="0" tIns="0" rIns="0" bIns="0" rtlCol="0" anchor="t"/>
          <a:lstStyle/>
          <a:p>
            <a:pPr indent="0" marL="0">
              <a:buNone/>
            </a:pPr>
            <a:r>
              <a:rPr lang="en-US" sz="950" dirty="0">
                <a:solidFill>
                  <a:srgbClr val="BFE0DE"/>
                </a:solidFill>
                <a:latin typeface="Calibri" pitchFamily="34" charset="0"/>
                <a:ea typeface="Calibri" pitchFamily="34" charset="-122"/>
                <a:cs typeface="Calibri" pitchFamily="34" charset="-120"/>
              </a:rPr>
              <a:t>Consultant</a:t>
            </a:r>
            <a:endParaRPr lang="en-US" sz="950" dirty="0"/>
          </a:p>
        </p:txBody>
      </p:sp>
      <p:sp>
        <p:nvSpPr>
          <p:cNvPr id="23" name="Shape 21"/>
          <p:cNvSpPr/>
          <p:nvPr/>
        </p:nvSpPr>
        <p:spPr>
          <a:xfrm>
            <a:off x="4901184" y="4069080"/>
            <a:ext cx="457200" cy="457200"/>
          </a:xfrm>
          <a:prstGeom prst="ellipse">
            <a:avLst/>
          </a:prstGeom>
          <a:solidFill>
            <a:srgbClr val="2B7A8C"/>
          </a:solidFill>
          <a:ln w="12700">
            <a:solidFill>
              <a:srgbClr val="2B7A8C"/>
            </a:solidFill>
            <a:prstDash val="solid"/>
          </a:ln>
        </p:spPr>
      </p:sp>
      <p:sp>
        <p:nvSpPr>
          <p:cNvPr id="24" name="Text 22"/>
          <p:cNvSpPr/>
          <p:nvPr/>
        </p:nvSpPr>
        <p:spPr>
          <a:xfrm>
            <a:off x="4901184" y="40690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MX</a:t>
            </a:r>
            <a:endParaRPr lang="en-US" sz="1200" dirty="0"/>
          </a:p>
        </p:txBody>
      </p:sp>
      <p:sp>
        <p:nvSpPr>
          <p:cNvPr id="25" name="Text 23"/>
          <p:cNvSpPr/>
          <p:nvPr/>
        </p:nvSpPr>
        <p:spPr>
          <a:xfrm>
            <a:off x="5431536" y="4050792"/>
            <a:ext cx="1463040" cy="237744"/>
          </a:xfrm>
          <a:prstGeom prst="rect">
            <a:avLst/>
          </a:prstGeom>
          <a:noFill/>
          <a:ln/>
        </p:spPr>
        <p:txBody>
          <a:bodyPr wrap="square" lIns="0" tIns="0" rIns="0" bIns="0" rtlCol="0" anchor="b"/>
          <a:lstStyle/>
          <a:p>
            <a:pPr indent="0" marL="0">
              <a:buNone/>
            </a:pPr>
            <a:r>
              <a:rPr lang="en-US" sz="1200" b="1" dirty="0">
                <a:solidFill>
                  <a:srgbClr val="FFFFFF"/>
                </a:solidFill>
                <a:latin typeface="Calibri" pitchFamily="34" charset="0"/>
                <a:ea typeface="Calibri" pitchFamily="34" charset="-122"/>
                <a:cs typeface="Calibri" pitchFamily="34" charset="-120"/>
              </a:rPr>
              <a:t>Max</a:t>
            </a:r>
            <a:endParaRPr lang="en-US" sz="1200" dirty="0"/>
          </a:p>
        </p:txBody>
      </p:sp>
      <p:sp>
        <p:nvSpPr>
          <p:cNvPr id="26" name="Text 24"/>
          <p:cNvSpPr/>
          <p:nvPr/>
        </p:nvSpPr>
        <p:spPr>
          <a:xfrm>
            <a:off x="5431536" y="4288536"/>
            <a:ext cx="1554480" cy="219456"/>
          </a:xfrm>
          <a:prstGeom prst="rect">
            <a:avLst/>
          </a:prstGeom>
          <a:noFill/>
          <a:ln/>
        </p:spPr>
        <p:txBody>
          <a:bodyPr wrap="square" lIns="0" tIns="0" rIns="0" bIns="0" rtlCol="0" anchor="t"/>
          <a:lstStyle/>
          <a:p>
            <a:pPr indent="0" marL="0">
              <a:buNone/>
            </a:pPr>
            <a:r>
              <a:rPr lang="en-US" sz="950" dirty="0">
                <a:solidFill>
                  <a:srgbClr val="BFE0DE"/>
                </a:solidFill>
                <a:latin typeface="Calibri" pitchFamily="34" charset="0"/>
                <a:ea typeface="Calibri" pitchFamily="34" charset="-122"/>
                <a:cs typeface="Calibri" pitchFamily="34" charset="-120"/>
              </a:rPr>
              <a:t>Sales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3139"/>
        </a:solidFill>
      </p:bgPr>
    </p:bg>
    <p:spTree>
      <p:nvGrpSpPr>
        <p:cNvPr id="1" name=""/>
        <p:cNvGrpSpPr/>
        <p:nvPr/>
      </p:nvGrpSpPr>
      <p:grpSpPr>
        <a:xfrm>
          <a:off x="0" y="0"/>
          <a:ext cx="0" cy="0"/>
          <a:chOff x="0" y="0"/>
          <a:chExt cx="0" cy="0"/>
        </a:xfrm>
      </p:grpSpPr>
      <p:sp>
        <p:nvSpPr>
          <p:cNvPr id="2" name="Shape 0"/>
          <p:cNvSpPr/>
          <p:nvPr/>
        </p:nvSpPr>
        <p:spPr>
          <a:xfrm>
            <a:off x="6949440" y="-1280160"/>
            <a:ext cx="4206240" cy="4206240"/>
          </a:xfrm>
          <a:prstGeom prst="ellipse">
            <a:avLst/>
          </a:prstGeom>
          <a:solidFill>
            <a:srgbClr val="1C5260">
              <a:alpha val="65000"/>
            </a:srgbClr>
          </a:solidFill>
          <a:ln/>
        </p:spPr>
      </p:sp>
      <p:sp>
        <p:nvSpPr>
          <p:cNvPr id="3" name="Shape 1"/>
          <p:cNvSpPr/>
          <p:nvPr/>
        </p:nvSpPr>
        <p:spPr>
          <a:xfrm>
            <a:off x="8138160" y="2377440"/>
            <a:ext cx="2194560" cy="2194560"/>
          </a:xfrm>
          <a:prstGeom prst="ellipse">
            <a:avLst/>
          </a:prstGeom>
          <a:solidFill>
            <a:srgbClr val="2B7A8C">
              <a:alpha val="30000"/>
            </a:srgbClr>
          </a:solidFill>
          <a:ln/>
        </p:spPr>
      </p:sp>
      <p:sp>
        <p:nvSpPr>
          <p:cNvPr id="4" name="Shape 2"/>
          <p:cNvSpPr/>
          <p:nvPr/>
        </p:nvSpPr>
        <p:spPr>
          <a:xfrm>
            <a:off x="640080" y="1874520"/>
            <a:ext cx="457200" cy="64008"/>
          </a:xfrm>
          <a:prstGeom prst="rect">
            <a:avLst/>
          </a:prstGeom>
          <a:solidFill>
            <a:srgbClr val="D94F1E"/>
          </a:solidFill>
          <a:ln w="12700">
            <a:solidFill>
              <a:srgbClr val="D94F1E"/>
            </a:solidFill>
            <a:prstDash val="solid"/>
          </a:ln>
        </p:spPr>
      </p:sp>
      <p:sp>
        <p:nvSpPr>
          <p:cNvPr id="5" name="Text 3"/>
          <p:cNvSpPr/>
          <p:nvPr/>
        </p:nvSpPr>
        <p:spPr>
          <a:xfrm>
            <a:off x="640080" y="1325880"/>
            <a:ext cx="2743200" cy="457200"/>
          </a:xfrm>
          <a:prstGeom prst="rect">
            <a:avLst/>
          </a:prstGeom>
          <a:noFill/>
          <a:ln/>
        </p:spPr>
        <p:txBody>
          <a:bodyPr wrap="square" lIns="0" tIns="0" rIns="0" bIns="0" rtlCol="0" anchor="ctr"/>
          <a:lstStyle/>
          <a:p>
            <a:pPr indent="0" marL="0">
              <a:buNone/>
            </a:pPr>
            <a:r>
              <a:rPr lang="en-US" sz="1400" spc="300" kern="0" dirty="0">
                <a:solidFill>
                  <a:srgbClr val="BFE0DE"/>
                </a:solidFill>
                <a:latin typeface="Calibri" pitchFamily="34" charset="0"/>
                <a:ea typeface="Calibri" pitchFamily="34" charset="-122"/>
                <a:cs typeface="Calibri" pitchFamily="34" charset="-120"/>
              </a:rPr>
              <a:t>Section 01</a:t>
            </a:r>
            <a:endParaRPr lang="en-US" sz="1400" dirty="0"/>
          </a:p>
        </p:txBody>
      </p:sp>
      <p:sp>
        <p:nvSpPr>
          <p:cNvPr id="6" name="Text 4"/>
          <p:cNvSpPr/>
          <p:nvPr/>
        </p:nvSpPr>
        <p:spPr>
          <a:xfrm>
            <a:off x="640080" y="2011680"/>
            <a:ext cx="7680960" cy="109728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Understanding Your Vision</a:t>
            </a:r>
            <a:endParaRPr lang="en-US" sz="4200" dirty="0"/>
          </a:p>
        </p:txBody>
      </p:sp>
      <p:sp>
        <p:nvSpPr>
          <p:cNvPr id="7" name="Text 5"/>
          <p:cNvSpPr/>
          <p:nvPr/>
        </p:nvSpPr>
        <p:spPr>
          <a:xfrm>
            <a:off x="658368" y="3063240"/>
            <a:ext cx="6949440" cy="457200"/>
          </a:xfrm>
          <a:prstGeom prst="rect">
            <a:avLst/>
          </a:prstGeom>
          <a:noFill/>
          <a:ln/>
        </p:spPr>
        <p:txBody>
          <a:bodyPr wrap="square" lIns="0" tIns="0" rIns="0" bIns="0" rtlCol="0" anchor="ctr"/>
          <a:lstStyle/>
          <a:p>
            <a:pPr indent="0" marL="0">
              <a:buNone/>
            </a:pPr>
            <a:r>
              <a:rPr lang="en-US" sz="1500" i="1" dirty="0">
                <a:solidFill>
                  <a:srgbClr val="BFE0DE"/>
                </a:solidFill>
                <a:latin typeface="Calibri" pitchFamily="34" charset="0"/>
                <a:ea typeface="Calibri" pitchFamily="34" charset="-122"/>
                <a:cs typeface="Calibri" pitchFamily="34" charset="-120"/>
              </a:rPr>
              <a:t>What VSIP 4 is trying to achieve — and what we already know</a:t>
            </a:r>
            <a:endParaRPr lang="en-US" sz="1500" dirty="0"/>
          </a:p>
        </p:txBody>
      </p:sp>
      <p:sp>
        <p:nvSpPr>
          <p:cNvPr id="8" name="Text 6"/>
          <p:cNvSpPr/>
          <p:nvPr/>
        </p:nvSpPr>
        <p:spPr>
          <a:xfrm>
            <a:off x="640080" y="4572000"/>
            <a:ext cx="20116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Survalent</a:t>
            </a:r>
            <a:pPr indent="0" marL="0">
              <a:buNone/>
            </a:pPr>
            <a:r>
              <a:rPr lang="en-US" sz="1300" b="1" dirty="0">
                <a:solidFill>
                  <a:srgbClr val="D94F1E"/>
                </a:solidFill>
                <a:latin typeface="Calibri" pitchFamily="34" charset="0"/>
                <a:ea typeface="Calibri" pitchFamily="34" charset="-122"/>
                <a:cs typeface="Calibri" pitchFamily="34" charset="-120"/>
              </a:rPr>
              <a: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 cy="384048"/>
          </a:xfrm>
          <a:prstGeom prst="rect">
            <a:avLst/>
          </a:prstGeom>
          <a:solidFill>
            <a:srgbClr val="D94F1E"/>
          </a:solidFill>
          <a:ln w="12700">
            <a:solidFill>
              <a:srgbClr val="D94F1E"/>
            </a:solidFill>
            <a:prstDash val="solid"/>
          </a:ln>
        </p:spPr>
      </p:sp>
      <p:sp>
        <p:nvSpPr>
          <p:cNvPr id="3" name="Text 1"/>
          <p:cNvSpPr/>
          <p:nvPr/>
        </p:nvSpPr>
        <p:spPr>
          <a:xfrm>
            <a:off x="502920" y="146304"/>
            <a:ext cx="8229600" cy="658368"/>
          </a:xfrm>
          <a:prstGeom prst="rect">
            <a:avLst/>
          </a:prstGeom>
          <a:noFill/>
          <a:ln/>
        </p:spPr>
        <p:txBody>
          <a:bodyPr wrap="square" lIns="0" tIns="0" rIns="0" bIns="0" rtlCol="0" anchor="ctr"/>
          <a:lstStyle/>
          <a:p>
            <a:pPr indent="0" marL="0">
              <a:buNone/>
            </a:pPr>
            <a:r>
              <a:rPr lang="en-US" sz="3000" b="1" dirty="0">
                <a:solidFill>
                  <a:srgbClr val="2B7A8C"/>
                </a:solidFill>
                <a:latin typeface="Calibri" pitchFamily="34" charset="0"/>
                <a:ea typeface="Calibri" pitchFamily="34" charset="-122"/>
                <a:cs typeface="Calibri" pitchFamily="34" charset="-120"/>
              </a:rPr>
              <a:t>Today's Agenda</a:t>
            </a:r>
            <a:endParaRPr lang="en-US" sz="3000" dirty="0"/>
          </a:p>
        </p:txBody>
      </p:sp>
      <p:sp>
        <p:nvSpPr>
          <p:cNvPr id="4" name="Shape 2"/>
          <p:cNvSpPr/>
          <p:nvPr/>
        </p:nvSpPr>
        <p:spPr>
          <a:xfrm>
            <a:off x="365760" y="4736592"/>
            <a:ext cx="8412480" cy="0"/>
          </a:xfrm>
          <a:prstGeom prst="line">
            <a:avLst/>
          </a:prstGeom>
          <a:noFill/>
          <a:ln w="12700">
            <a:solidFill>
              <a:srgbClr val="E2E2E0"/>
            </a:solidFill>
            <a:prstDash val="solid"/>
          </a:ln>
        </p:spPr>
      </p:sp>
      <p:sp>
        <p:nvSpPr>
          <p:cNvPr id="5" name="Text 3"/>
          <p:cNvSpPr/>
          <p:nvPr/>
        </p:nvSpPr>
        <p:spPr>
          <a:xfrm>
            <a:off x="365760" y="4773168"/>
            <a:ext cx="2011680" cy="27432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Survalent</a:t>
            </a:r>
            <a:pPr indent="0" marL="0">
              <a:buNone/>
            </a:pPr>
            <a:r>
              <a:rPr lang="en-US" sz="1300" b="1" dirty="0">
                <a:solidFill>
                  <a:srgbClr val="D94F1E"/>
                </a:solidFill>
                <a:latin typeface="Calibri" pitchFamily="34" charset="0"/>
                <a:ea typeface="Calibri" pitchFamily="34" charset="-122"/>
                <a:cs typeface="Calibri" pitchFamily="34" charset="-120"/>
              </a:rPr>
              <a:t>.</a:t>
            </a:r>
            <a:endParaRPr lang="en-US" sz="1300" dirty="0"/>
          </a:p>
        </p:txBody>
      </p:sp>
      <p:sp>
        <p:nvSpPr>
          <p:cNvPr id="6" name="Text 4"/>
          <p:cNvSpPr/>
          <p:nvPr/>
        </p:nvSpPr>
        <p:spPr>
          <a:xfrm>
            <a:off x="2926080" y="4809744"/>
            <a:ext cx="3291840" cy="237744"/>
          </a:xfrm>
          <a:prstGeom prst="rect">
            <a:avLst/>
          </a:prstGeom>
          <a:noFill/>
          <a:ln/>
        </p:spPr>
        <p:txBody>
          <a:bodyPr wrap="square" lIns="0" tIns="0" rIns="0" bIns="0" rtlCol="0" anchor="ctr"/>
          <a:lstStyle/>
          <a:p>
            <a:pPr algn="ctr" indent="0" marL="0">
              <a:buNone/>
            </a:pPr>
            <a:r>
              <a:rPr lang="en-US" sz="800" spc="200" kern="0" dirty="0">
                <a:solidFill>
                  <a:srgbClr val="8A8A85"/>
                </a:solidFill>
              </a:rPr>
              <a:t>Confidential &amp; Proprietary</a:t>
            </a:r>
            <a:endParaRPr lang="en-US" sz="800" dirty="0"/>
          </a:p>
        </p:txBody>
      </p:sp>
      <p:sp>
        <p:nvSpPr>
          <p:cNvPr id="7" name="Text 5"/>
          <p:cNvSpPr/>
          <p:nvPr/>
        </p:nvSpPr>
        <p:spPr>
          <a:xfrm>
            <a:off x="8229600" y="4809744"/>
            <a:ext cx="548640" cy="237744"/>
          </a:xfrm>
          <a:prstGeom prst="rect">
            <a:avLst/>
          </a:prstGeom>
          <a:noFill/>
          <a:ln/>
        </p:spPr>
        <p:txBody>
          <a:bodyPr wrap="square" lIns="0" tIns="0" rIns="0" bIns="0" rtlCol="0" anchor="ctr"/>
          <a:lstStyle/>
          <a:p>
            <a:pPr algn="r" indent="0" marL="0">
              <a:buNone/>
            </a:pPr>
            <a:r>
              <a:rPr lang="en-US" sz="900" dirty="0">
                <a:solidFill>
                  <a:srgbClr val="8A8A85"/>
                </a:solidFill>
              </a:rPr>
              <a:t>2</a:t>
            </a:r>
            <a:endParaRPr lang="en-US" sz="900" dirty="0"/>
          </a:p>
        </p:txBody>
      </p:sp>
      <p:sp>
        <p:nvSpPr>
          <p:cNvPr id="8" name="Shape 6"/>
          <p:cNvSpPr/>
          <p:nvPr/>
        </p:nvSpPr>
        <p:spPr>
          <a:xfrm>
            <a:off x="457200" y="1051560"/>
            <a:ext cx="4023360" cy="1060704"/>
          </a:xfrm>
          <a:prstGeom prst="roundRect">
            <a:avLst>
              <a:gd name="adj" fmla="val 6897"/>
            </a:avLst>
          </a:prstGeom>
          <a:solidFill>
            <a:srgbClr val="F6F6F4"/>
          </a:solidFill>
          <a:ln w="6350">
            <a:solidFill>
              <a:srgbClr val="CCCCCC"/>
            </a:solidFill>
            <a:prstDash val="solid"/>
          </a:ln>
        </p:spPr>
      </p:sp>
      <p:sp>
        <p:nvSpPr>
          <p:cNvPr id="9" name="Shape 7"/>
          <p:cNvSpPr/>
          <p:nvPr/>
        </p:nvSpPr>
        <p:spPr>
          <a:xfrm>
            <a:off x="621792" y="1307592"/>
            <a:ext cx="457200" cy="457200"/>
          </a:xfrm>
          <a:prstGeom prst="roundRect">
            <a:avLst>
              <a:gd name="adj" fmla="val 12000"/>
            </a:avLst>
          </a:prstGeom>
          <a:solidFill>
            <a:srgbClr val="2B7A8C"/>
          </a:solidFill>
          <a:ln w="12700">
            <a:solidFill>
              <a:srgbClr val="2B7A8C"/>
            </a:solidFill>
            <a:prstDash val="solid"/>
          </a:ln>
        </p:spPr>
      </p:sp>
      <p:sp>
        <p:nvSpPr>
          <p:cNvPr id="10" name="Text 8"/>
          <p:cNvSpPr/>
          <p:nvPr/>
        </p:nvSpPr>
        <p:spPr>
          <a:xfrm>
            <a:off x="621792" y="130759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1" name="Text 9"/>
          <p:cNvSpPr/>
          <p:nvPr/>
        </p:nvSpPr>
        <p:spPr>
          <a:xfrm>
            <a:off x="1207008" y="1216152"/>
            <a:ext cx="3108960" cy="365760"/>
          </a:xfrm>
          <a:prstGeom prst="rect">
            <a:avLst/>
          </a:prstGeom>
          <a:noFill/>
          <a:ln/>
        </p:spPr>
        <p:txBody>
          <a:bodyPr wrap="square" lIns="0" tIns="0" rIns="0" bIns="0" rtlCol="0" anchor="ctr"/>
          <a:lstStyle/>
          <a:p>
            <a:pPr indent="0" marL="0">
              <a:buNone/>
            </a:pPr>
            <a:r>
              <a:rPr lang="en-US" sz="1450" b="1" dirty="0">
                <a:solidFill>
                  <a:srgbClr val="1A1A1A"/>
                </a:solidFill>
                <a:latin typeface="Calibri" pitchFamily="34" charset="0"/>
                <a:ea typeface="Calibri" pitchFamily="34" charset="-122"/>
                <a:cs typeface="Calibri" pitchFamily="34" charset="-120"/>
              </a:rPr>
              <a:t>Understanding VSIP 4's vision</a:t>
            </a:r>
            <a:endParaRPr lang="en-US" sz="1450" dirty="0"/>
          </a:p>
        </p:txBody>
      </p:sp>
      <p:sp>
        <p:nvSpPr>
          <p:cNvPr id="12" name="Text 10"/>
          <p:cNvSpPr/>
          <p:nvPr/>
        </p:nvSpPr>
        <p:spPr>
          <a:xfrm>
            <a:off x="1207008" y="1581912"/>
            <a:ext cx="3108960" cy="420624"/>
          </a:xfrm>
          <a:prstGeom prst="rect">
            <a:avLst/>
          </a:prstGeom>
          <a:noFill/>
          <a:ln/>
        </p:spPr>
        <p:txBody>
          <a:bodyPr wrap="square" lIns="0" tIns="0" rIns="0" bIns="0" rtlCol="0" anchor="t"/>
          <a:lstStyle/>
          <a:p>
            <a:pPr indent="0" marL="0">
              <a:buNone/>
            </a:pPr>
            <a:r>
              <a:rPr lang="en-US" sz="1150" dirty="0">
                <a:solidFill>
                  <a:srgbClr val="5F5E5A"/>
                </a:solidFill>
                <a:latin typeface="Calibri" pitchFamily="34" charset="0"/>
                <a:ea typeface="Calibri" pitchFamily="34" charset="-122"/>
                <a:cs typeface="Calibri" pitchFamily="34" charset="-120"/>
              </a:rPr>
              <a:t>Your goals and what success looks like</a:t>
            </a:r>
            <a:endParaRPr lang="en-US" sz="1150" dirty="0"/>
          </a:p>
        </p:txBody>
      </p:sp>
      <p:sp>
        <p:nvSpPr>
          <p:cNvPr id="13" name="Shape 11"/>
          <p:cNvSpPr/>
          <p:nvPr/>
        </p:nvSpPr>
        <p:spPr>
          <a:xfrm>
            <a:off x="4663440" y="1051560"/>
            <a:ext cx="4023360" cy="1060704"/>
          </a:xfrm>
          <a:prstGeom prst="roundRect">
            <a:avLst>
              <a:gd name="adj" fmla="val 6897"/>
            </a:avLst>
          </a:prstGeom>
          <a:solidFill>
            <a:srgbClr val="F6F6F4"/>
          </a:solidFill>
          <a:ln w="6350">
            <a:solidFill>
              <a:srgbClr val="CCCCCC"/>
            </a:solidFill>
            <a:prstDash val="solid"/>
          </a:ln>
        </p:spPr>
      </p:sp>
      <p:sp>
        <p:nvSpPr>
          <p:cNvPr id="14" name="Shape 12"/>
          <p:cNvSpPr/>
          <p:nvPr/>
        </p:nvSpPr>
        <p:spPr>
          <a:xfrm>
            <a:off x="4828032" y="1307592"/>
            <a:ext cx="457200" cy="457200"/>
          </a:xfrm>
          <a:prstGeom prst="roundRect">
            <a:avLst>
              <a:gd name="adj" fmla="val 12000"/>
            </a:avLst>
          </a:prstGeom>
          <a:solidFill>
            <a:srgbClr val="2B7A8C"/>
          </a:solidFill>
          <a:ln w="12700">
            <a:solidFill>
              <a:srgbClr val="2B7A8C"/>
            </a:solidFill>
            <a:prstDash val="solid"/>
          </a:ln>
        </p:spPr>
      </p:sp>
      <p:sp>
        <p:nvSpPr>
          <p:cNvPr id="15" name="Text 13"/>
          <p:cNvSpPr/>
          <p:nvPr/>
        </p:nvSpPr>
        <p:spPr>
          <a:xfrm>
            <a:off x="4828032" y="130759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6" name="Text 14"/>
          <p:cNvSpPr/>
          <p:nvPr/>
        </p:nvSpPr>
        <p:spPr>
          <a:xfrm>
            <a:off x="5413248" y="1216152"/>
            <a:ext cx="3108960" cy="365760"/>
          </a:xfrm>
          <a:prstGeom prst="rect">
            <a:avLst/>
          </a:prstGeom>
          <a:noFill/>
          <a:ln/>
        </p:spPr>
        <p:txBody>
          <a:bodyPr wrap="square" lIns="0" tIns="0" rIns="0" bIns="0" rtlCol="0" anchor="ctr"/>
          <a:lstStyle/>
          <a:p>
            <a:pPr indent="0" marL="0">
              <a:buNone/>
            </a:pPr>
            <a:r>
              <a:rPr lang="en-US" sz="1450" b="1" dirty="0">
                <a:solidFill>
                  <a:srgbClr val="1A1A1A"/>
                </a:solidFill>
                <a:latin typeface="Calibri" pitchFamily="34" charset="0"/>
                <a:ea typeface="Calibri" pitchFamily="34" charset="-122"/>
                <a:cs typeface="Calibri" pitchFamily="34" charset="-120"/>
              </a:rPr>
              <a:t>Project assumptions &amp; parameters</a:t>
            </a:r>
            <a:endParaRPr lang="en-US" sz="1450" dirty="0"/>
          </a:p>
        </p:txBody>
      </p:sp>
      <p:sp>
        <p:nvSpPr>
          <p:cNvPr id="17" name="Text 15"/>
          <p:cNvSpPr/>
          <p:nvPr/>
        </p:nvSpPr>
        <p:spPr>
          <a:xfrm>
            <a:off x="5413248" y="1581912"/>
            <a:ext cx="3108960" cy="420624"/>
          </a:xfrm>
          <a:prstGeom prst="rect">
            <a:avLst/>
          </a:prstGeom>
          <a:noFill/>
          <a:ln/>
        </p:spPr>
        <p:txBody>
          <a:bodyPr wrap="square" lIns="0" tIns="0" rIns="0" bIns="0" rtlCol="0" anchor="t"/>
          <a:lstStyle/>
          <a:p>
            <a:pPr indent="0" marL="0">
              <a:buNone/>
            </a:pPr>
            <a:r>
              <a:rPr lang="en-US" sz="1150" dirty="0">
                <a:solidFill>
                  <a:srgbClr val="5F5E5A"/>
                </a:solidFill>
                <a:latin typeface="Calibri" pitchFamily="34" charset="0"/>
                <a:ea typeface="Calibri" pitchFamily="34" charset="-122"/>
                <a:cs typeface="Calibri" pitchFamily="34" charset="-120"/>
              </a:rPr>
              <a:t>The working basis for our recommendations</a:t>
            </a:r>
            <a:endParaRPr lang="en-US" sz="1150" dirty="0"/>
          </a:p>
        </p:txBody>
      </p:sp>
      <p:sp>
        <p:nvSpPr>
          <p:cNvPr id="18" name="Shape 16"/>
          <p:cNvSpPr/>
          <p:nvPr/>
        </p:nvSpPr>
        <p:spPr>
          <a:xfrm>
            <a:off x="457200" y="2258568"/>
            <a:ext cx="4023360" cy="1060704"/>
          </a:xfrm>
          <a:prstGeom prst="roundRect">
            <a:avLst>
              <a:gd name="adj" fmla="val 6897"/>
            </a:avLst>
          </a:prstGeom>
          <a:solidFill>
            <a:srgbClr val="F6F6F4"/>
          </a:solidFill>
          <a:ln w="6350">
            <a:solidFill>
              <a:srgbClr val="CCCCCC"/>
            </a:solidFill>
            <a:prstDash val="solid"/>
          </a:ln>
        </p:spPr>
      </p:sp>
      <p:sp>
        <p:nvSpPr>
          <p:cNvPr id="19" name="Shape 17"/>
          <p:cNvSpPr/>
          <p:nvPr/>
        </p:nvSpPr>
        <p:spPr>
          <a:xfrm>
            <a:off x="621792" y="2514600"/>
            <a:ext cx="457200" cy="457200"/>
          </a:xfrm>
          <a:prstGeom prst="roundRect">
            <a:avLst>
              <a:gd name="adj" fmla="val 12000"/>
            </a:avLst>
          </a:prstGeom>
          <a:solidFill>
            <a:srgbClr val="2B7A8C"/>
          </a:solidFill>
          <a:ln w="12700">
            <a:solidFill>
              <a:srgbClr val="2B7A8C"/>
            </a:solidFill>
            <a:prstDash val="solid"/>
          </a:ln>
        </p:spPr>
      </p:sp>
      <p:sp>
        <p:nvSpPr>
          <p:cNvPr id="20" name="Text 18"/>
          <p:cNvSpPr/>
          <p:nvPr/>
        </p:nvSpPr>
        <p:spPr>
          <a:xfrm>
            <a:off x="621792" y="25146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1" name="Text 19"/>
          <p:cNvSpPr/>
          <p:nvPr/>
        </p:nvSpPr>
        <p:spPr>
          <a:xfrm>
            <a:off x="1207008" y="2423160"/>
            <a:ext cx="3108960" cy="365760"/>
          </a:xfrm>
          <a:prstGeom prst="rect">
            <a:avLst/>
          </a:prstGeom>
          <a:noFill/>
          <a:ln/>
        </p:spPr>
        <p:txBody>
          <a:bodyPr wrap="square" lIns="0" tIns="0" rIns="0" bIns="0" rtlCol="0" anchor="ctr"/>
          <a:lstStyle/>
          <a:p>
            <a:pPr indent="0" marL="0">
              <a:buNone/>
            </a:pPr>
            <a:r>
              <a:rPr lang="en-US" sz="1450" b="1" dirty="0">
                <a:solidFill>
                  <a:srgbClr val="1A1A1A"/>
                </a:solidFill>
                <a:latin typeface="Calibri" pitchFamily="34" charset="0"/>
                <a:ea typeface="Calibri" pitchFamily="34" charset="-122"/>
                <a:cs typeface="Calibri" pitchFamily="34" charset="-120"/>
              </a:rPr>
              <a:t>Survalent ADMS + DERMS platform</a:t>
            </a:r>
            <a:endParaRPr lang="en-US" sz="1450" dirty="0"/>
          </a:p>
        </p:txBody>
      </p:sp>
      <p:sp>
        <p:nvSpPr>
          <p:cNvPr id="22" name="Text 20"/>
          <p:cNvSpPr/>
          <p:nvPr/>
        </p:nvSpPr>
        <p:spPr>
          <a:xfrm>
            <a:off x="1207008" y="2788920"/>
            <a:ext cx="3108960" cy="420624"/>
          </a:xfrm>
          <a:prstGeom prst="rect">
            <a:avLst/>
          </a:prstGeom>
          <a:noFill/>
          <a:ln/>
        </p:spPr>
        <p:txBody>
          <a:bodyPr wrap="square" lIns="0" tIns="0" rIns="0" bIns="0" rtlCol="0" anchor="t"/>
          <a:lstStyle/>
          <a:p>
            <a:pPr indent="0" marL="0">
              <a:buNone/>
            </a:pPr>
            <a:r>
              <a:rPr lang="en-US" sz="1150" dirty="0">
                <a:solidFill>
                  <a:srgbClr val="5F5E5A"/>
                </a:solidFill>
                <a:latin typeface="Calibri" pitchFamily="34" charset="0"/>
                <a:ea typeface="Calibri" pitchFamily="34" charset="-122"/>
                <a:cs typeface="Calibri" pitchFamily="34" charset="-120"/>
              </a:rPr>
              <a:t>The capabilities behind a smart grid</a:t>
            </a:r>
            <a:endParaRPr lang="en-US" sz="1150" dirty="0"/>
          </a:p>
        </p:txBody>
      </p:sp>
      <p:sp>
        <p:nvSpPr>
          <p:cNvPr id="23" name="Shape 21"/>
          <p:cNvSpPr/>
          <p:nvPr/>
        </p:nvSpPr>
        <p:spPr>
          <a:xfrm>
            <a:off x="4663440" y="2258568"/>
            <a:ext cx="4023360" cy="1060704"/>
          </a:xfrm>
          <a:prstGeom prst="roundRect">
            <a:avLst>
              <a:gd name="adj" fmla="val 6897"/>
            </a:avLst>
          </a:prstGeom>
          <a:solidFill>
            <a:srgbClr val="F6F6F4"/>
          </a:solidFill>
          <a:ln w="6350">
            <a:solidFill>
              <a:srgbClr val="CCCCCC"/>
            </a:solidFill>
            <a:prstDash val="solid"/>
          </a:ln>
        </p:spPr>
      </p:sp>
      <p:sp>
        <p:nvSpPr>
          <p:cNvPr id="24" name="Shape 22"/>
          <p:cNvSpPr/>
          <p:nvPr/>
        </p:nvSpPr>
        <p:spPr>
          <a:xfrm>
            <a:off x="4828032" y="2514600"/>
            <a:ext cx="457200" cy="457200"/>
          </a:xfrm>
          <a:prstGeom prst="roundRect">
            <a:avLst>
              <a:gd name="adj" fmla="val 12000"/>
            </a:avLst>
          </a:prstGeom>
          <a:solidFill>
            <a:srgbClr val="2B7A8C"/>
          </a:solidFill>
          <a:ln w="12700">
            <a:solidFill>
              <a:srgbClr val="2B7A8C"/>
            </a:solidFill>
            <a:prstDash val="solid"/>
          </a:ln>
        </p:spPr>
      </p:sp>
      <p:sp>
        <p:nvSpPr>
          <p:cNvPr id="25" name="Text 23"/>
          <p:cNvSpPr/>
          <p:nvPr/>
        </p:nvSpPr>
        <p:spPr>
          <a:xfrm>
            <a:off x="4828032" y="25146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6" name="Text 24"/>
          <p:cNvSpPr/>
          <p:nvPr/>
        </p:nvSpPr>
        <p:spPr>
          <a:xfrm>
            <a:off x="5413248" y="2423160"/>
            <a:ext cx="3108960" cy="365760"/>
          </a:xfrm>
          <a:prstGeom prst="rect">
            <a:avLst/>
          </a:prstGeom>
          <a:noFill/>
          <a:ln/>
        </p:spPr>
        <p:txBody>
          <a:bodyPr wrap="square" lIns="0" tIns="0" rIns="0" bIns="0" rtlCol="0" anchor="ctr"/>
          <a:lstStyle/>
          <a:p>
            <a:pPr indent="0" marL="0">
              <a:buNone/>
            </a:pPr>
            <a:r>
              <a:rPr lang="en-US" sz="1450" b="1" dirty="0">
                <a:solidFill>
                  <a:srgbClr val="1A1A1A"/>
                </a:solidFill>
                <a:latin typeface="Calibri" pitchFamily="34" charset="0"/>
                <a:ea typeface="Calibri" pitchFamily="34" charset="-122"/>
                <a:cs typeface="Calibri" pitchFamily="34" charset="-120"/>
              </a:rPr>
              <a:t>Recommended system architecture</a:t>
            </a:r>
            <a:endParaRPr lang="en-US" sz="1450" dirty="0"/>
          </a:p>
        </p:txBody>
      </p:sp>
      <p:sp>
        <p:nvSpPr>
          <p:cNvPr id="27" name="Text 25"/>
          <p:cNvSpPr/>
          <p:nvPr/>
        </p:nvSpPr>
        <p:spPr>
          <a:xfrm>
            <a:off x="5413248" y="2788920"/>
            <a:ext cx="3108960" cy="420624"/>
          </a:xfrm>
          <a:prstGeom prst="rect">
            <a:avLst/>
          </a:prstGeom>
          <a:noFill/>
          <a:ln/>
        </p:spPr>
        <p:txBody>
          <a:bodyPr wrap="square" lIns="0" tIns="0" rIns="0" bIns="0" rtlCol="0" anchor="t"/>
          <a:lstStyle/>
          <a:p>
            <a:pPr indent="0" marL="0">
              <a:buNone/>
            </a:pPr>
            <a:r>
              <a:rPr lang="en-US" sz="1150" dirty="0">
                <a:solidFill>
                  <a:srgbClr val="5F5E5A"/>
                </a:solidFill>
                <a:latin typeface="Calibri" pitchFamily="34" charset="0"/>
                <a:ea typeface="Calibri" pitchFamily="34" charset="-122"/>
                <a:cs typeface="Calibri" pitchFamily="34" charset="-120"/>
              </a:rPr>
              <a:t>How we would design VSIP 4 from scratch</a:t>
            </a:r>
            <a:endParaRPr lang="en-US" sz="1150" dirty="0"/>
          </a:p>
        </p:txBody>
      </p:sp>
      <p:sp>
        <p:nvSpPr>
          <p:cNvPr id="28" name="Shape 26"/>
          <p:cNvSpPr/>
          <p:nvPr/>
        </p:nvSpPr>
        <p:spPr>
          <a:xfrm>
            <a:off x="457200" y="3465576"/>
            <a:ext cx="4023360" cy="1060704"/>
          </a:xfrm>
          <a:prstGeom prst="roundRect">
            <a:avLst>
              <a:gd name="adj" fmla="val 6897"/>
            </a:avLst>
          </a:prstGeom>
          <a:solidFill>
            <a:srgbClr val="F6F6F4"/>
          </a:solidFill>
          <a:ln w="6350">
            <a:solidFill>
              <a:srgbClr val="CCCCCC"/>
            </a:solidFill>
            <a:prstDash val="solid"/>
          </a:ln>
        </p:spPr>
      </p:sp>
      <p:sp>
        <p:nvSpPr>
          <p:cNvPr id="29" name="Shape 27"/>
          <p:cNvSpPr/>
          <p:nvPr/>
        </p:nvSpPr>
        <p:spPr>
          <a:xfrm>
            <a:off x="621792" y="3721608"/>
            <a:ext cx="457200" cy="457200"/>
          </a:xfrm>
          <a:prstGeom prst="roundRect">
            <a:avLst>
              <a:gd name="adj" fmla="val 12000"/>
            </a:avLst>
          </a:prstGeom>
          <a:solidFill>
            <a:srgbClr val="2B7A8C"/>
          </a:solidFill>
          <a:ln w="12700">
            <a:solidFill>
              <a:srgbClr val="2B7A8C"/>
            </a:solidFill>
            <a:prstDash val="solid"/>
          </a:ln>
        </p:spPr>
      </p:sp>
      <p:sp>
        <p:nvSpPr>
          <p:cNvPr id="30" name="Text 28"/>
          <p:cNvSpPr/>
          <p:nvPr/>
        </p:nvSpPr>
        <p:spPr>
          <a:xfrm>
            <a:off x="621792" y="37216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1" name="Text 29"/>
          <p:cNvSpPr/>
          <p:nvPr/>
        </p:nvSpPr>
        <p:spPr>
          <a:xfrm>
            <a:off x="1207008" y="3630168"/>
            <a:ext cx="3108960" cy="365760"/>
          </a:xfrm>
          <a:prstGeom prst="rect">
            <a:avLst/>
          </a:prstGeom>
          <a:noFill/>
          <a:ln/>
        </p:spPr>
        <p:txBody>
          <a:bodyPr wrap="square" lIns="0" tIns="0" rIns="0" bIns="0" rtlCol="0" anchor="ctr"/>
          <a:lstStyle/>
          <a:p>
            <a:pPr indent="0" marL="0">
              <a:buNone/>
            </a:pPr>
            <a:r>
              <a:rPr lang="en-US" sz="1450" b="1" dirty="0">
                <a:solidFill>
                  <a:srgbClr val="1A1A1A"/>
                </a:solidFill>
                <a:latin typeface="Calibri" pitchFamily="34" charset="0"/>
                <a:ea typeface="Calibri" pitchFamily="34" charset="-122"/>
                <a:cs typeface="Calibri" pitchFamily="34" charset="-120"/>
              </a:rPr>
              <a:t>5-phase investment roadmap</a:t>
            </a:r>
            <a:endParaRPr lang="en-US" sz="1450" dirty="0"/>
          </a:p>
        </p:txBody>
      </p:sp>
      <p:sp>
        <p:nvSpPr>
          <p:cNvPr id="32" name="Text 30"/>
          <p:cNvSpPr/>
          <p:nvPr/>
        </p:nvSpPr>
        <p:spPr>
          <a:xfrm>
            <a:off x="1207008" y="3995928"/>
            <a:ext cx="3108960" cy="420624"/>
          </a:xfrm>
          <a:prstGeom prst="rect">
            <a:avLst/>
          </a:prstGeom>
          <a:noFill/>
          <a:ln/>
        </p:spPr>
        <p:txBody>
          <a:bodyPr wrap="square" lIns="0" tIns="0" rIns="0" bIns="0" rtlCol="0" anchor="t"/>
          <a:lstStyle/>
          <a:p>
            <a:pPr indent="0" marL="0">
              <a:buNone/>
            </a:pPr>
            <a:r>
              <a:rPr lang="en-US" sz="1150" dirty="0">
                <a:solidFill>
                  <a:srgbClr val="5F5E5A"/>
                </a:solidFill>
                <a:latin typeface="Calibri" pitchFamily="34" charset="0"/>
                <a:ea typeface="Calibri" pitchFamily="34" charset="-122"/>
                <a:cs typeface="Calibri" pitchFamily="34" charset="-120"/>
              </a:rPr>
              <a:t>Your path from foundation to smart energy</a:t>
            </a:r>
            <a:endParaRPr lang="en-US" sz="1150" dirty="0"/>
          </a:p>
        </p:txBody>
      </p:sp>
      <p:sp>
        <p:nvSpPr>
          <p:cNvPr id="33" name="Shape 31"/>
          <p:cNvSpPr/>
          <p:nvPr/>
        </p:nvSpPr>
        <p:spPr>
          <a:xfrm>
            <a:off x="4663440" y="3465576"/>
            <a:ext cx="4023360" cy="1060704"/>
          </a:xfrm>
          <a:prstGeom prst="roundRect">
            <a:avLst>
              <a:gd name="adj" fmla="val 6897"/>
            </a:avLst>
          </a:prstGeom>
          <a:solidFill>
            <a:srgbClr val="F6F6F4"/>
          </a:solidFill>
          <a:ln w="6350">
            <a:solidFill>
              <a:srgbClr val="CCCCCC"/>
            </a:solidFill>
            <a:prstDash val="solid"/>
          </a:ln>
        </p:spPr>
      </p:sp>
      <p:sp>
        <p:nvSpPr>
          <p:cNvPr id="34" name="Shape 32"/>
          <p:cNvSpPr/>
          <p:nvPr/>
        </p:nvSpPr>
        <p:spPr>
          <a:xfrm>
            <a:off x="4828032" y="3721608"/>
            <a:ext cx="457200" cy="457200"/>
          </a:xfrm>
          <a:prstGeom prst="roundRect">
            <a:avLst>
              <a:gd name="adj" fmla="val 12000"/>
            </a:avLst>
          </a:prstGeom>
          <a:solidFill>
            <a:srgbClr val="2B7A8C"/>
          </a:solidFill>
          <a:ln w="12700">
            <a:solidFill>
              <a:srgbClr val="2B7A8C"/>
            </a:solidFill>
            <a:prstDash val="solid"/>
          </a:ln>
        </p:spPr>
      </p:sp>
      <p:sp>
        <p:nvSpPr>
          <p:cNvPr id="35" name="Text 33"/>
          <p:cNvSpPr/>
          <p:nvPr/>
        </p:nvSpPr>
        <p:spPr>
          <a:xfrm>
            <a:off x="4828032" y="37216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6" name="Text 34"/>
          <p:cNvSpPr/>
          <p:nvPr/>
        </p:nvSpPr>
        <p:spPr>
          <a:xfrm>
            <a:off x="5413248" y="3630168"/>
            <a:ext cx="3108960" cy="365760"/>
          </a:xfrm>
          <a:prstGeom prst="rect">
            <a:avLst/>
          </a:prstGeom>
          <a:noFill/>
          <a:ln/>
        </p:spPr>
        <p:txBody>
          <a:bodyPr wrap="square" lIns="0" tIns="0" rIns="0" bIns="0" rtlCol="0" anchor="ctr"/>
          <a:lstStyle/>
          <a:p>
            <a:pPr indent="0" marL="0">
              <a:buNone/>
            </a:pPr>
            <a:r>
              <a:rPr lang="en-US" sz="1450" b="1" dirty="0">
                <a:solidFill>
                  <a:srgbClr val="1A1A1A"/>
                </a:solidFill>
                <a:latin typeface="Calibri" pitchFamily="34" charset="0"/>
                <a:ea typeface="Calibri" pitchFamily="34" charset="-122"/>
                <a:cs typeface="Calibri" pitchFamily="34" charset="-120"/>
              </a:rPr>
              <a:t>Decisions &amp; next steps</a:t>
            </a:r>
            <a:endParaRPr lang="en-US" sz="1450" dirty="0"/>
          </a:p>
        </p:txBody>
      </p:sp>
      <p:sp>
        <p:nvSpPr>
          <p:cNvPr id="37" name="Text 35"/>
          <p:cNvSpPr/>
          <p:nvPr/>
        </p:nvSpPr>
        <p:spPr>
          <a:xfrm>
            <a:off x="5413248" y="3995928"/>
            <a:ext cx="3108960" cy="420624"/>
          </a:xfrm>
          <a:prstGeom prst="rect">
            <a:avLst/>
          </a:prstGeom>
          <a:noFill/>
          <a:ln/>
        </p:spPr>
        <p:txBody>
          <a:bodyPr wrap="square" lIns="0" tIns="0" rIns="0" bIns="0" rtlCol="0" anchor="t"/>
          <a:lstStyle/>
          <a:p>
            <a:pPr indent="0" marL="0">
              <a:buNone/>
            </a:pPr>
            <a:r>
              <a:rPr lang="en-US" sz="1150" dirty="0">
                <a:solidFill>
                  <a:srgbClr val="5F5E5A"/>
                </a:solidFill>
                <a:latin typeface="Calibri" pitchFamily="34" charset="0"/>
                <a:ea typeface="Calibri" pitchFamily="34" charset="-122"/>
                <a:cs typeface="Calibri" pitchFamily="34" charset="-120"/>
              </a:rPr>
              <a:t>What to decide today, and how we proceed</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 cy="384048"/>
          </a:xfrm>
          <a:prstGeom prst="rect">
            <a:avLst/>
          </a:prstGeom>
          <a:solidFill>
            <a:srgbClr val="D94F1E"/>
          </a:solidFill>
          <a:ln w="12700">
            <a:solidFill>
              <a:srgbClr val="D94F1E"/>
            </a:solidFill>
            <a:prstDash val="solid"/>
          </a:ln>
        </p:spPr>
      </p:sp>
      <p:sp>
        <p:nvSpPr>
          <p:cNvPr id="3" name="Text 1"/>
          <p:cNvSpPr/>
          <p:nvPr/>
        </p:nvSpPr>
        <p:spPr>
          <a:xfrm>
            <a:off x="502920" y="146304"/>
            <a:ext cx="8229600" cy="658368"/>
          </a:xfrm>
          <a:prstGeom prst="rect">
            <a:avLst/>
          </a:prstGeom>
          <a:noFill/>
          <a:ln/>
        </p:spPr>
        <p:txBody>
          <a:bodyPr wrap="square" lIns="0" tIns="0" rIns="0" bIns="0" rtlCol="0" anchor="ctr"/>
          <a:lstStyle/>
          <a:p>
            <a:pPr indent="0" marL="0">
              <a:buNone/>
            </a:pPr>
            <a:r>
              <a:rPr lang="en-US" sz="3000" b="1" dirty="0">
                <a:solidFill>
                  <a:srgbClr val="2B7A8C"/>
                </a:solidFill>
                <a:latin typeface="Calibri" pitchFamily="34" charset="0"/>
                <a:ea typeface="Calibri" pitchFamily="34" charset="-122"/>
                <a:cs typeface="Calibri" pitchFamily="34" charset="-120"/>
              </a:rPr>
              <a:t>VSIP 4 Project at a Glance</a:t>
            </a:r>
            <a:endParaRPr lang="en-US" sz="3000" dirty="0"/>
          </a:p>
        </p:txBody>
      </p:sp>
      <p:sp>
        <p:nvSpPr>
          <p:cNvPr id="4" name="Shape 2"/>
          <p:cNvSpPr/>
          <p:nvPr/>
        </p:nvSpPr>
        <p:spPr>
          <a:xfrm>
            <a:off x="365760" y="4736592"/>
            <a:ext cx="8412480" cy="0"/>
          </a:xfrm>
          <a:prstGeom prst="line">
            <a:avLst/>
          </a:prstGeom>
          <a:noFill/>
          <a:ln w="12700">
            <a:solidFill>
              <a:srgbClr val="E2E2E0"/>
            </a:solidFill>
            <a:prstDash val="solid"/>
          </a:ln>
        </p:spPr>
      </p:sp>
      <p:sp>
        <p:nvSpPr>
          <p:cNvPr id="5" name="Text 3"/>
          <p:cNvSpPr/>
          <p:nvPr/>
        </p:nvSpPr>
        <p:spPr>
          <a:xfrm>
            <a:off x="365760" y="4773168"/>
            <a:ext cx="2011680" cy="27432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Survalent</a:t>
            </a:r>
            <a:pPr indent="0" marL="0">
              <a:buNone/>
            </a:pPr>
            <a:r>
              <a:rPr lang="en-US" sz="1300" b="1" dirty="0">
                <a:solidFill>
                  <a:srgbClr val="D94F1E"/>
                </a:solidFill>
                <a:latin typeface="Calibri" pitchFamily="34" charset="0"/>
                <a:ea typeface="Calibri" pitchFamily="34" charset="-122"/>
                <a:cs typeface="Calibri" pitchFamily="34" charset="-120"/>
              </a:rPr>
              <a:t>.</a:t>
            </a:r>
            <a:endParaRPr lang="en-US" sz="1300" dirty="0"/>
          </a:p>
        </p:txBody>
      </p:sp>
      <p:sp>
        <p:nvSpPr>
          <p:cNvPr id="6" name="Text 4"/>
          <p:cNvSpPr/>
          <p:nvPr/>
        </p:nvSpPr>
        <p:spPr>
          <a:xfrm>
            <a:off x="2926080" y="4809744"/>
            <a:ext cx="3291840" cy="237744"/>
          </a:xfrm>
          <a:prstGeom prst="rect">
            <a:avLst/>
          </a:prstGeom>
          <a:noFill/>
          <a:ln/>
        </p:spPr>
        <p:txBody>
          <a:bodyPr wrap="square" lIns="0" tIns="0" rIns="0" bIns="0" rtlCol="0" anchor="ctr"/>
          <a:lstStyle/>
          <a:p>
            <a:pPr algn="ctr" indent="0" marL="0">
              <a:buNone/>
            </a:pPr>
            <a:r>
              <a:rPr lang="en-US" sz="800" spc="200" kern="0" dirty="0">
                <a:solidFill>
                  <a:srgbClr val="8A8A85"/>
                </a:solidFill>
              </a:rPr>
              <a:t>Confidential &amp; Proprietary</a:t>
            </a:r>
            <a:endParaRPr lang="en-US" sz="800" dirty="0"/>
          </a:p>
        </p:txBody>
      </p:sp>
      <p:sp>
        <p:nvSpPr>
          <p:cNvPr id="7" name="Text 5"/>
          <p:cNvSpPr/>
          <p:nvPr/>
        </p:nvSpPr>
        <p:spPr>
          <a:xfrm>
            <a:off x="8229600" y="4809744"/>
            <a:ext cx="548640" cy="237744"/>
          </a:xfrm>
          <a:prstGeom prst="rect">
            <a:avLst/>
          </a:prstGeom>
          <a:noFill/>
          <a:ln/>
        </p:spPr>
        <p:txBody>
          <a:bodyPr wrap="square" lIns="0" tIns="0" rIns="0" bIns="0" rtlCol="0" anchor="ctr"/>
          <a:lstStyle/>
          <a:p>
            <a:pPr algn="r" indent="0" marL="0">
              <a:buNone/>
            </a:pPr>
            <a:r>
              <a:rPr lang="en-US" sz="900" dirty="0">
                <a:solidFill>
                  <a:srgbClr val="8A8A85"/>
                </a:solidFill>
              </a:rPr>
              <a:t>3</a:t>
            </a:r>
            <a:endParaRPr lang="en-US" sz="900" dirty="0"/>
          </a:p>
        </p:txBody>
      </p:sp>
      <p:sp>
        <p:nvSpPr>
          <p:cNvPr id="8" name="Text 6"/>
          <p:cNvSpPr/>
          <p:nvPr/>
        </p:nvSpPr>
        <p:spPr>
          <a:xfrm>
            <a:off x="502920" y="749808"/>
            <a:ext cx="8229600" cy="274320"/>
          </a:xfrm>
          <a:prstGeom prst="rect">
            <a:avLst/>
          </a:prstGeom>
          <a:noFill/>
          <a:ln/>
        </p:spPr>
        <p:txBody>
          <a:bodyPr wrap="square" lIns="0" tIns="0" rIns="0" bIns="0" rtlCol="0" anchor="ctr"/>
          <a:lstStyle/>
          <a:p>
            <a:pPr indent="0" marL="0">
              <a:buNone/>
            </a:pPr>
            <a:r>
              <a:rPr lang="en-US" sz="1200" i="1" dirty="0">
                <a:solidFill>
                  <a:srgbClr val="5F5E5A"/>
                </a:solidFill>
                <a:latin typeface="Calibri" pitchFamily="34" charset="0"/>
                <a:ea typeface="Calibri" pitchFamily="34" charset="-122"/>
                <a:cs typeface="Calibri" pitchFamily="34" charset="-120"/>
              </a:rPr>
              <a:t>Working parameters — we will refine these together</a:t>
            </a:r>
            <a:endParaRPr lang="en-US" sz="1200" dirty="0"/>
          </a:p>
        </p:txBody>
      </p:sp>
      <p:sp>
        <p:nvSpPr>
          <p:cNvPr id="9" name="Shape 7"/>
          <p:cNvSpPr/>
          <p:nvPr/>
        </p:nvSpPr>
        <p:spPr>
          <a:xfrm>
            <a:off x="457200" y="1115568"/>
            <a:ext cx="1581912" cy="1051560"/>
          </a:xfrm>
          <a:prstGeom prst="roundRect">
            <a:avLst>
              <a:gd name="adj" fmla="val 6957"/>
            </a:avLst>
          </a:prstGeom>
          <a:solidFill>
            <a:srgbClr val="E1EEF0"/>
          </a:solidFill>
          <a:ln w="6350">
            <a:solidFill>
              <a:srgbClr val="9FCAD2"/>
            </a:solidFill>
            <a:prstDash val="solid"/>
          </a:ln>
        </p:spPr>
      </p:sp>
      <p:sp>
        <p:nvSpPr>
          <p:cNvPr id="10" name="Text 8"/>
          <p:cNvSpPr/>
          <p:nvPr/>
        </p:nvSpPr>
        <p:spPr>
          <a:xfrm>
            <a:off x="457200" y="1225296"/>
            <a:ext cx="1581912" cy="402336"/>
          </a:xfrm>
          <a:prstGeom prst="rect">
            <a:avLst/>
          </a:prstGeom>
          <a:noFill/>
          <a:ln/>
        </p:spPr>
        <p:txBody>
          <a:bodyPr wrap="square" lIns="0" tIns="0" rIns="0" bIns="0" rtlCol="0" anchor="ctr"/>
          <a:lstStyle/>
          <a:p>
            <a:pPr algn="ctr" indent="0" marL="0">
              <a:buNone/>
            </a:pPr>
            <a:r>
              <a:rPr lang="en-US" sz="1900" b="1" dirty="0">
                <a:solidFill>
                  <a:srgbClr val="2B7A8C"/>
                </a:solidFill>
                <a:latin typeface="Calibri" pitchFamily="34" charset="0"/>
                <a:ea typeface="Calibri" pitchFamily="34" charset="-122"/>
                <a:cs typeface="Calibri" pitchFamily="34" charset="-120"/>
              </a:rPr>
              <a:t>750 ha</a:t>
            </a:r>
            <a:endParaRPr lang="en-US" sz="1900" dirty="0"/>
          </a:p>
        </p:txBody>
      </p:sp>
      <p:sp>
        <p:nvSpPr>
          <p:cNvPr id="11" name="Text 9"/>
          <p:cNvSpPr/>
          <p:nvPr/>
        </p:nvSpPr>
        <p:spPr>
          <a:xfrm>
            <a:off x="457200" y="1627632"/>
            <a:ext cx="1581912" cy="237744"/>
          </a:xfrm>
          <a:prstGeom prst="rect">
            <a:avLst/>
          </a:prstGeom>
          <a:noFill/>
          <a:ln/>
        </p:spPr>
        <p:txBody>
          <a:bodyPr wrap="square" lIns="0" tIns="0" rIns="0" bIns="0" rtlCol="0" anchor="ctr"/>
          <a:lstStyle/>
          <a:p>
            <a:pPr algn="ctr" indent="0" marL="0">
              <a:buNone/>
            </a:pPr>
            <a:r>
              <a:rPr lang="en-US" sz="1100" b="1" dirty="0">
                <a:solidFill>
                  <a:srgbClr val="1A1A1A"/>
                </a:solidFill>
                <a:latin typeface="Calibri" pitchFamily="34" charset="0"/>
                <a:ea typeface="Calibri" pitchFamily="34" charset="-122"/>
                <a:cs typeface="Calibri" pitchFamily="34" charset="-120"/>
              </a:rPr>
              <a:t>Total area</a:t>
            </a:r>
            <a:endParaRPr lang="en-US" sz="1100" dirty="0"/>
          </a:p>
        </p:txBody>
      </p:sp>
      <p:sp>
        <p:nvSpPr>
          <p:cNvPr id="12" name="Text 10"/>
          <p:cNvSpPr/>
          <p:nvPr/>
        </p:nvSpPr>
        <p:spPr>
          <a:xfrm>
            <a:off x="457200" y="1856232"/>
            <a:ext cx="1581912" cy="219456"/>
          </a:xfrm>
          <a:prstGeom prst="rect">
            <a:avLst/>
          </a:prstGeom>
          <a:noFill/>
          <a:ln/>
        </p:spPr>
        <p:txBody>
          <a:bodyPr wrap="square" lIns="0" tIns="0" rIns="0" bIns="0" rtlCol="0" anchor="ctr"/>
          <a:lstStyle/>
          <a:p>
            <a:pPr algn="ctr" indent="0" marL="0">
              <a:buNone/>
            </a:pPr>
            <a:r>
              <a:rPr lang="en-US" sz="950" dirty="0">
                <a:solidFill>
                  <a:srgbClr val="5F5E5A"/>
                </a:solidFill>
                <a:latin typeface="Calibri" pitchFamily="34" charset="0"/>
                <a:ea typeface="Calibri" pitchFamily="34" charset="-122"/>
                <a:cs typeface="Calibri" pitchFamily="34" charset="-120"/>
              </a:rPr>
              <a:t>Greenfield</a:t>
            </a:r>
            <a:endParaRPr lang="en-US" sz="950" dirty="0"/>
          </a:p>
        </p:txBody>
      </p:sp>
      <p:sp>
        <p:nvSpPr>
          <p:cNvPr id="13" name="Shape 11"/>
          <p:cNvSpPr/>
          <p:nvPr/>
        </p:nvSpPr>
        <p:spPr>
          <a:xfrm>
            <a:off x="2130552" y="1115568"/>
            <a:ext cx="1581912" cy="1051560"/>
          </a:xfrm>
          <a:prstGeom prst="roundRect">
            <a:avLst>
              <a:gd name="adj" fmla="val 6957"/>
            </a:avLst>
          </a:prstGeom>
          <a:solidFill>
            <a:srgbClr val="E1EEF0"/>
          </a:solidFill>
          <a:ln w="6350">
            <a:solidFill>
              <a:srgbClr val="9FCAD2"/>
            </a:solidFill>
            <a:prstDash val="solid"/>
          </a:ln>
        </p:spPr>
      </p:sp>
      <p:sp>
        <p:nvSpPr>
          <p:cNvPr id="14" name="Text 12"/>
          <p:cNvSpPr/>
          <p:nvPr/>
        </p:nvSpPr>
        <p:spPr>
          <a:xfrm>
            <a:off x="2130552" y="1225296"/>
            <a:ext cx="1581912" cy="402336"/>
          </a:xfrm>
          <a:prstGeom prst="rect">
            <a:avLst/>
          </a:prstGeom>
          <a:noFill/>
          <a:ln/>
        </p:spPr>
        <p:txBody>
          <a:bodyPr wrap="square" lIns="0" tIns="0" rIns="0" bIns="0" rtlCol="0" anchor="ctr"/>
          <a:lstStyle/>
          <a:p>
            <a:pPr algn="ctr" indent="0" marL="0">
              <a:buNone/>
            </a:pPr>
            <a:r>
              <a:rPr lang="en-US" sz="1900" b="1" dirty="0">
                <a:solidFill>
                  <a:srgbClr val="2B7A8C"/>
                </a:solidFill>
                <a:latin typeface="Calibri" pitchFamily="34" charset="0"/>
                <a:ea typeface="Calibri" pitchFamily="34" charset="-122"/>
                <a:cs typeface="Calibri" pitchFamily="34" charset="-120"/>
              </a:rPr>
              <a:t>3 × 110kV</a:t>
            </a:r>
            <a:endParaRPr lang="en-US" sz="1900" dirty="0"/>
          </a:p>
        </p:txBody>
      </p:sp>
      <p:sp>
        <p:nvSpPr>
          <p:cNvPr id="15" name="Text 13"/>
          <p:cNvSpPr/>
          <p:nvPr/>
        </p:nvSpPr>
        <p:spPr>
          <a:xfrm>
            <a:off x="2130552" y="1627632"/>
            <a:ext cx="1581912" cy="237744"/>
          </a:xfrm>
          <a:prstGeom prst="rect">
            <a:avLst/>
          </a:prstGeom>
          <a:noFill/>
          <a:ln/>
        </p:spPr>
        <p:txBody>
          <a:bodyPr wrap="square" lIns="0" tIns="0" rIns="0" bIns="0" rtlCol="0" anchor="ctr"/>
          <a:lstStyle/>
          <a:p>
            <a:pPr algn="ctr" indent="0" marL="0">
              <a:buNone/>
            </a:pPr>
            <a:r>
              <a:rPr lang="en-US" sz="1100" b="1" dirty="0">
                <a:solidFill>
                  <a:srgbClr val="1A1A1A"/>
                </a:solidFill>
                <a:latin typeface="Calibri" pitchFamily="34" charset="0"/>
                <a:ea typeface="Calibri" pitchFamily="34" charset="-122"/>
                <a:cs typeface="Calibri" pitchFamily="34" charset="-120"/>
              </a:rPr>
              <a:t>Substations</a:t>
            </a:r>
            <a:endParaRPr lang="en-US" sz="1100" dirty="0"/>
          </a:p>
        </p:txBody>
      </p:sp>
      <p:sp>
        <p:nvSpPr>
          <p:cNvPr id="16" name="Text 14"/>
          <p:cNvSpPr/>
          <p:nvPr/>
        </p:nvSpPr>
        <p:spPr>
          <a:xfrm>
            <a:off x="2130552" y="1856232"/>
            <a:ext cx="1581912" cy="219456"/>
          </a:xfrm>
          <a:prstGeom prst="rect">
            <a:avLst/>
          </a:prstGeom>
          <a:noFill/>
          <a:ln/>
        </p:spPr>
        <p:txBody>
          <a:bodyPr wrap="square" lIns="0" tIns="0" rIns="0" bIns="0" rtlCol="0" anchor="ctr"/>
          <a:lstStyle/>
          <a:p>
            <a:pPr algn="ctr" indent="0" marL="0">
              <a:buNone/>
            </a:pPr>
            <a:r>
              <a:rPr lang="en-US" sz="950" dirty="0">
                <a:solidFill>
                  <a:srgbClr val="5F5E5A"/>
                </a:solidFill>
                <a:latin typeface="Calibri" pitchFamily="34" charset="0"/>
                <a:ea typeface="Calibri" pitchFamily="34" charset="-122"/>
                <a:cs typeface="Calibri" pitchFamily="34" charset="-120"/>
              </a:rPr>
              <a:t>2×80 MVA each</a:t>
            </a:r>
            <a:endParaRPr lang="en-US" sz="950" dirty="0"/>
          </a:p>
        </p:txBody>
      </p:sp>
      <p:sp>
        <p:nvSpPr>
          <p:cNvPr id="17" name="Shape 15"/>
          <p:cNvSpPr/>
          <p:nvPr/>
        </p:nvSpPr>
        <p:spPr>
          <a:xfrm>
            <a:off x="3803904" y="1115568"/>
            <a:ext cx="1581912" cy="1051560"/>
          </a:xfrm>
          <a:prstGeom prst="roundRect">
            <a:avLst>
              <a:gd name="adj" fmla="val 6957"/>
            </a:avLst>
          </a:prstGeom>
          <a:solidFill>
            <a:srgbClr val="E1EEF0"/>
          </a:solidFill>
          <a:ln w="6350">
            <a:solidFill>
              <a:srgbClr val="9FCAD2"/>
            </a:solidFill>
            <a:prstDash val="solid"/>
          </a:ln>
        </p:spPr>
      </p:sp>
      <p:sp>
        <p:nvSpPr>
          <p:cNvPr id="18" name="Text 16"/>
          <p:cNvSpPr/>
          <p:nvPr/>
        </p:nvSpPr>
        <p:spPr>
          <a:xfrm>
            <a:off x="3803904" y="1225296"/>
            <a:ext cx="1581912" cy="402336"/>
          </a:xfrm>
          <a:prstGeom prst="rect">
            <a:avLst/>
          </a:prstGeom>
          <a:noFill/>
          <a:ln/>
        </p:spPr>
        <p:txBody>
          <a:bodyPr wrap="square" lIns="0" tIns="0" rIns="0" bIns="0" rtlCol="0" anchor="ctr"/>
          <a:lstStyle/>
          <a:p>
            <a:pPr algn="ctr" indent="0" marL="0">
              <a:buNone/>
            </a:pPr>
            <a:r>
              <a:rPr lang="en-US" sz="1900" b="1" dirty="0">
                <a:solidFill>
                  <a:srgbClr val="2B7A8C"/>
                </a:solidFill>
                <a:latin typeface="Calibri" pitchFamily="34" charset="0"/>
                <a:ea typeface="Calibri" pitchFamily="34" charset="-122"/>
                <a:cs typeface="Calibri" pitchFamily="34" charset="-120"/>
              </a:rPr>
              <a:t>~200 MW</a:t>
            </a:r>
            <a:endParaRPr lang="en-US" sz="1900" dirty="0"/>
          </a:p>
        </p:txBody>
      </p:sp>
      <p:sp>
        <p:nvSpPr>
          <p:cNvPr id="19" name="Text 17"/>
          <p:cNvSpPr/>
          <p:nvPr/>
        </p:nvSpPr>
        <p:spPr>
          <a:xfrm>
            <a:off x="3803904" y="1627632"/>
            <a:ext cx="1581912" cy="237744"/>
          </a:xfrm>
          <a:prstGeom prst="rect">
            <a:avLst/>
          </a:prstGeom>
          <a:noFill/>
          <a:ln/>
        </p:spPr>
        <p:txBody>
          <a:bodyPr wrap="square" lIns="0" tIns="0" rIns="0" bIns="0" rtlCol="0" anchor="ctr"/>
          <a:lstStyle/>
          <a:p>
            <a:pPr algn="ctr" indent="0" marL="0">
              <a:buNone/>
            </a:pPr>
            <a:r>
              <a:rPr lang="en-US" sz="1100" b="1" dirty="0">
                <a:solidFill>
                  <a:srgbClr val="1A1A1A"/>
                </a:solidFill>
                <a:latin typeface="Calibri" pitchFamily="34" charset="0"/>
                <a:ea typeface="Calibri" pitchFamily="34" charset="-122"/>
                <a:cs typeface="Calibri" pitchFamily="34" charset="-120"/>
              </a:rPr>
              <a:t>Peak load</a:t>
            </a:r>
            <a:endParaRPr lang="en-US" sz="1100" dirty="0"/>
          </a:p>
        </p:txBody>
      </p:sp>
      <p:sp>
        <p:nvSpPr>
          <p:cNvPr id="20" name="Text 18"/>
          <p:cNvSpPr/>
          <p:nvPr/>
        </p:nvSpPr>
        <p:spPr>
          <a:xfrm>
            <a:off x="3803904" y="1856232"/>
            <a:ext cx="1581912" cy="219456"/>
          </a:xfrm>
          <a:prstGeom prst="rect">
            <a:avLst/>
          </a:prstGeom>
          <a:noFill/>
          <a:ln/>
        </p:spPr>
        <p:txBody>
          <a:bodyPr wrap="square" lIns="0" tIns="0" rIns="0" bIns="0" rtlCol="0" anchor="ctr"/>
          <a:lstStyle/>
          <a:p>
            <a:pPr algn="ctr" indent="0" marL="0">
              <a:buNone/>
            </a:pPr>
            <a:r>
              <a:rPr lang="en-US" sz="950" dirty="0">
                <a:solidFill>
                  <a:srgbClr val="5F5E5A"/>
                </a:solidFill>
                <a:latin typeface="Calibri" pitchFamily="34" charset="0"/>
                <a:ea typeface="Calibri" pitchFamily="34" charset="-122"/>
                <a:cs typeface="Calibri" pitchFamily="34" charset="-120"/>
              </a:rPr>
              <a:t>At full build-out</a:t>
            </a:r>
            <a:endParaRPr lang="en-US" sz="950" dirty="0"/>
          </a:p>
        </p:txBody>
      </p:sp>
      <p:sp>
        <p:nvSpPr>
          <p:cNvPr id="21" name="Shape 19"/>
          <p:cNvSpPr/>
          <p:nvPr/>
        </p:nvSpPr>
        <p:spPr>
          <a:xfrm>
            <a:off x="5477256" y="1115568"/>
            <a:ext cx="1581912" cy="1051560"/>
          </a:xfrm>
          <a:prstGeom prst="roundRect">
            <a:avLst>
              <a:gd name="adj" fmla="val 6957"/>
            </a:avLst>
          </a:prstGeom>
          <a:solidFill>
            <a:srgbClr val="E1EEF0"/>
          </a:solidFill>
          <a:ln w="6350">
            <a:solidFill>
              <a:srgbClr val="9FCAD2"/>
            </a:solidFill>
            <a:prstDash val="solid"/>
          </a:ln>
        </p:spPr>
      </p:sp>
      <p:sp>
        <p:nvSpPr>
          <p:cNvPr id="22" name="Text 20"/>
          <p:cNvSpPr/>
          <p:nvPr/>
        </p:nvSpPr>
        <p:spPr>
          <a:xfrm>
            <a:off x="5477256" y="1225296"/>
            <a:ext cx="1581912" cy="402336"/>
          </a:xfrm>
          <a:prstGeom prst="rect">
            <a:avLst/>
          </a:prstGeom>
          <a:noFill/>
          <a:ln/>
        </p:spPr>
        <p:txBody>
          <a:bodyPr wrap="square" lIns="0" tIns="0" rIns="0" bIns="0" rtlCol="0" anchor="ctr"/>
          <a:lstStyle/>
          <a:p>
            <a:pPr algn="ctr" indent="0" marL="0">
              <a:buNone/>
            </a:pPr>
            <a:r>
              <a:rPr lang="en-US" sz="1900" b="1" dirty="0">
                <a:solidFill>
                  <a:srgbClr val="2B7A8C"/>
                </a:solidFill>
                <a:latin typeface="Calibri" pitchFamily="34" charset="0"/>
                <a:ea typeface="Calibri" pitchFamily="34" charset="-122"/>
                <a:cs typeface="Calibri" pitchFamily="34" charset="-120"/>
              </a:rPr>
              <a:t>187 MW</a:t>
            </a:r>
            <a:endParaRPr lang="en-US" sz="1900" dirty="0"/>
          </a:p>
        </p:txBody>
      </p:sp>
      <p:sp>
        <p:nvSpPr>
          <p:cNvPr id="23" name="Text 21"/>
          <p:cNvSpPr/>
          <p:nvPr/>
        </p:nvSpPr>
        <p:spPr>
          <a:xfrm>
            <a:off x="5477256" y="1627632"/>
            <a:ext cx="1581912" cy="237744"/>
          </a:xfrm>
          <a:prstGeom prst="rect">
            <a:avLst/>
          </a:prstGeom>
          <a:noFill/>
          <a:ln/>
        </p:spPr>
        <p:txBody>
          <a:bodyPr wrap="square" lIns="0" tIns="0" rIns="0" bIns="0" rtlCol="0" anchor="ctr"/>
          <a:lstStyle/>
          <a:p>
            <a:pPr algn="ctr" indent="0" marL="0">
              <a:buNone/>
            </a:pPr>
            <a:r>
              <a:rPr lang="en-US" sz="1100" b="1" dirty="0">
                <a:solidFill>
                  <a:srgbClr val="1A1A1A"/>
                </a:solidFill>
                <a:latin typeface="Calibri" pitchFamily="34" charset="0"/>
                <a:ea typeface="Calibri" pitchFamily="34" charset="-122"/>
                <a:cs typeface="Calibri" pitchFamily="34" charset="-120"/>
              </a:rPr>
              <a:t>Rooftop solar</a:t>
            </a:r>
            <a:endParaRPr lang="en-US" sz="1100" dirty="0"/>
          </a:p>
        </p:txBody>
      </p:sp>
      <p:sp>
        <p:nvSpPr>
          <p:cNvPr id="24" name="Text 22"/>
          <p:cNvSpPr/>
          <p:nvPr/>
        </p:nvSpPr>
        <p:spPr>
          <a:xfrm>
            <a:off x="5477256" y="1856232"/>
            <a:ext cx="1581912" cy="219456"/>
          </a:xfrm>
          <a:prstGeom prst="rect">
            <a:avLst/>
          </a:prstGeom>
          <a:noFill/>
          <a:ln/>
        </p:spPr>
        <p:txBody>
          <a:bodyPr wrap="square" lIns="0" tIns="0" rIns="0" bIns="0" rtlCol="0" anchor="ctr"/>
          <a:lstStyle/>
          <a:p>
            <a:pPr algn="ctr" indent="0" marL="0">
              <a:buNone/>
            </a:pPr>
            <a:r>
              <a:rPr lang="en-US" sz="950" dirty="0">
                <a:solidFill>
                  <a:srgbClr val="5F5E5A"/>
                </a:solidFill>
                <a:latin typeface="Calibri" pitchFamily="34" charset="0"/>
                <a:ea typeface="Calibri" pitchFamily="34" charset="-122"/>
                <a:cs typeface="Calibri" pitchFamily="34" charset="-120"/>
              </a:rPr>
              <a:t>Distributed RTS</a:t>
            </a:r>
            <a:endParaRPr lang="en-US" sz="950" dirty="0"/>
          </a:p>
        </p:txBody>
      </p:sp>
      <p:sp>
        <p:nvSpPr>
          <p:cNvPr id="25" name="Shape 23"/>
          <p:cNvSpPr/>
          <p:nvPr/>
        </p:nvSpPr>
        <p:spPr>
          <a:xfrm>
            <a:off x="7150608" y="1115568"/>
            <a:ext cx="1581912" cy="1051560"/>
          </a:xfrm>
          <a:prstGeom prst="roundRect">
            <a:avLst>
              <a:gd name="adj" fmla="val 6957"/>
            </a:avLst>
          </a:prstGeom>
          <a:solidFill>
            <a:srgbClr val="E1EEF0"/>
          </a:solidFill>
          <a:ln w="6350">
            <a:solidFill>
              <a:srgbClr val="9FCAD2"/>
            </a:solidFill>
            <a:prstDash val="solid"/>
          </a:ln>
        </p:spPr>
      </p:sp>
      <p:sp>
        <p:nvSpPr>
          <p:cNvPr id="26" name="Text 24"/>
          <p:cNvSpPr/>
          <p:nvPr/>
        </p:nvSpPr>
        <p:spPr>
          <a:xfrm>
            <a:off x="7150608" y="1225296"/>
            <a:ext cx="1581912" cy="402336"/>
          </a:xfrm>
          <a:prstGeom prst="rect">
            <a:avLst/>
          </a:prstGeom>
          <a:noFill/>
          <a:ln/>
        </p:spPr>
        <p:txBody>
          <a:bodyPr wrap="square" lIns="0" tIns="0" rIns="0" bIns="0" rtlCol="0" anchor="ctr"/>
          <a:lstStyle/>
          <a:p>
            <a:pPr algn="ctr" indent="0" marL="0">
              <a:buNone/>
            </a:pPr>
            <a:r>
              <a:rPr lang="en-US" sz="1900" b="1" dirty="0">
                <a:solidFill>
                  <a:srgbClr val="2B7A8C"/>
                </a:solidFill>
                <a:latin typeface="Calibri" pitchFamily="34" charset="0"/>
                <a:ea typeface="Calibri" pitchFamily="34" charset="-122"/>
                <a:cs typeface="Calibri" pitchFamily="34" charset="-120"/>
              </a:rPr>
              <a:t>50–100</a:t>
            </a:r>
            <a:endParaRPr lang="en-US" sz="1900" dirty="0"/>
          </a:p>
        </p:txBody>
      </p:sp>
      <p:sp>
        <p:nvSpPr>
          <p:cNvPr id="27" name="Text 25"/>
          <p:cNvSpPr/>
          <p:nvPr/>
        </p:nvSpPr>
        <p:spPr>
          <a:xfrm>
            <a:off x="7150608" y="1627632"/>
            <a:ext cx="1581912" cy="237744"/>
          </a:xfrm>
          <a:prstGeom prst="rect">
            <a:avLst/>
          </a:prstGeom>
          <a:noFill/>
          <a:ln/>
        </p:spPr>
        <p:txBody>
          <a:bodyPr wrap="square" lIns="0" tIns="0" rIns="0" bIns="0" rtlCol="0" anchor="ctr"/>
          <a:lstStyle/>
          <a:p>
            <a:pPr algn="ctr" indent="0" marL="0">
              <a:buNone/>
            </a:pPr>
            <a:r>
              <a:rPr lang="en-US" sz="1100" b="1" dirty="0">
                <a:solidFill>
                  <a:srgbClr val="1A1A1A"/>
                </a:solidFill>
                <a:latin typeface="Calibri" pitchFamily="34" charset="0"/>
                <a:ea typeface="Calibri" pitchFamily="34" charset="-122"/>
                <a:cs typeface="Calibri" pitchFamily="34" charset="-120"/>
              </a:rPr>
              <a:t>MWh BESS</a:t>
            </a:r>
            <a:endParaRPr lang="en-US" sz="1100" dirty="0"/>
          </a:p>
        </p:txBody>
      </p:sp>
      <p:sp>
        <p:nvSpPr>
          <p:cNvPr id="28" name="Text 26"/>
          <p:cNvSpPr/>
          <p:nvPr/>
        </p:nvSpPr>
        <p:spPr>
          <a:xfrm>
            <a:off x="7150608" y="1856232"/>
            <a:ext cx="1581912" cy="219456"/>
          </a:xfrm>
          <a:prstGeom prst="rect">
            <a:avLst/>
          </a:prstGeom>
          <a:noFill/>
          <a:ln/>
        </p:spPr>
        <p:txBody>
          <a:bodyPr wrap="square" lIns="0" tIns="0" rIns="0" bIns="0" rtlCol="0" anchor="ctr"/>
          <a:lstStyle/>
          <a:p>
            <a:pPr algn="ctr" indent="0" marL="0">
              <a:buNone/>
            </a:pPr>
            <a:r>
              <a:rPr lang="en-US" sz="950" dirty="0">
                <a:solidFill>
                  <a:srgbClr val="5F5E5A"/>
                </a:solidFill>
                <a:latin typeface="Calibri" pitchFamily="34" charset="0"/>
                <a:ea typeface="Calibri" pitchFamily="34" charset="-122"/>
                <a:cs typeface="Calibri" pitchFamily="34" charset="-120"/>
              </a:rPr>
              <a:t>Centralized</a:t>
            </a:r>
            <a:endParaRPr lang="en-US" sz="950" dirty="0"/>
          </a:p>
        </p:txBody>
      </p:sp>
      <p:sp>
        <p:nvSpPr>
          <p:cNvPr id="29" name="Text 27"/>
          <p:cNvSpPr/>
          <p:nvPr/>
        </p:nvSpPr>
        <p:spPr>
          <a:xfrm>
            <a:off x="457200" y="2395728"/>
            <a:ext cx="8229600" cy="274320"/>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Core requirements as stated by VSIP</a:t>
            </a:r>
            <a:endParaRPr lang="en-US" sz="1250" dirty="0"/>
          </a:p>
        </p:txBody>
      </p:sp>
      <p:sp>
        <p:nvSpPr>
          <p:cNvPr id="30" name="Shape 28"/>
          <p:cNvSpPr/>
          <p:nvPr/>
        </p:nvSpPr>
        <p:spPr>
          <a:xfrm>
            <a:off x="457200" y="2779776"/>
            <a:ext cx="365760" cy="365760"/>
          </a:xfrm>
          <a:prstGeom prst="ellipse">
            <a:avLst/>
          </a:prstGeom>
          <a:solidFill>
            <a:srgbClr val="E1EEF0"/>
          </a:solidFill>
          <a:ln w="12700">
            <a:solidFill>
              <a:srgbClr val="E1EEF0"/>
            </a:solidFill>
            <a:prstDash val="solid"/>
          </a:ln>
        </p:spPr>
      </p:sp>
      <p:pic>
        <p:nvPicPr>
          <p:cNvPr id="31" name="Image 0" descr="preencoded.png">    </p:cNvPr>
          <p:cNvPicPr>
            <a:picLocks noChangeAspect="1"/>
          </p:cNvPicPr>
          <p:nvPr/>
        </p:nvPicPr>
        <p:blipFill>
          <a:blip r:embed="rId1"/>
          <a:stretch>
            <a:fillRect/>
          </a:stretch>
        </p:blipFill>
        <p:spPr>
          <a:xfrm>
            <a:off x="537667" y="2860243"/>
            <a:ext cx="204826" cy="204826"/>
          </a:xfrm>
          <a:prstGeom prst="rect">
            <a:avLst/>
          </a:prstGeom>
        </p:spPr>
      </p:pic>
      <p:sp>
        <p:nvSpPr>
          <p:cNvPr id="32" name="Text 29"/>
          <p:cNvSpPr/>
          <p:nvPr/>
        </p:nvSpPr>
        <p:spPr>
          <a:xfrm>
            <a:off x="932688" y="2724912"/>
            <a:ext cx="1783080" cy="365760"/>
          </a:xfrm>
          <a:prstGeom prst="rect">
            <a:avLst/>
          </a:prstGeom>
          <a:noFill/>
          <a:ln/>
        </p:spPr>
        <p:txBody>
          <a:bodyPr wrap="square" lIns="0" tIns="0" rIns="0" bIns="0" rtlCol="0" anchor="ctr"/>
          <a:lstStyle/>
          <a:p>
            <a:pPr indent="0" marL="0">
              <a:buNone/>
            </a:pPr>
            <a:r>
              <a:rPr lang="en-US" sz="1150" b="1" dirty="0">
                <a:solidFill>
                  <a:srgbClr val="1A1A1A"/>
                </a:solidFill>
                <a:latin typeface="Calibri" pitchFamily="34" charset="0"/>
                <a:ea typeface="Calibri" pitchFamily="34" charset="-122"/>
                <a:cs typeface="Calibri" pitchFamily="34" charset="-120"/>
              </a:rPr>
              <a:t>Multi-vendor integration</a:t>
            </a:r>
            <a:endParaRPr lang="en-US" sz="1150" dirty="0"/>
          </a:p>
        </p:txBody>
      </p:sp>
      <p:sp>
        <p:nvSpPr>
          <p:cNvPr id="33" name="Text 30"/>
          <p:cNvSpPr/>
          <p:nvPr/>
        </p:nvSpPr>
        <p:spPr>
          <a:xfrm>
            <a:off x="2743200" y="2724912"/>
            <a:ext cx="1783080" cy="420624"/>
          </a:xfrm>
          <a:prstGeom prst="rect">
            <a:avLst/>
          </a:prstGeom>
          <a:noFill/>
          <a:ln/>
        </p:spPr>
        <p:txBody>
          <a:bodyPr wrap="square" lIns="0" tIns="0" rIns="0" bIns="0" rtlCol="0" anchor="ctr"/>
          <a:lstStyle/>
          <a:p>
            <a:pPr indent="0" marL="0">
              <a:buNone/>
            </a:pPr>
            <a:r>
              <a:rPr lang="en-US" sz="980" dirty="0">
                <a:solidFill>
                  <a:srgbClr val="5F5E5A"/>
                </a:solidFill>
                <a:latin typeface="Calibri" pitchFamily="34" charset="0"/>
                <a:ea typeface="Calibri" pitchFamily="34" charset="-122"/>
                <a:cs typeface="Calibri" pitchFamily="34" charset="-120"/>
              </a:rPr>
              <a:t>IEC-104, Modbus, IEC 61850 — RTS, BESS, meters, relays</a:t>
            </a:r>
            <a:endParaRPr lang="en-US" sz="980" dirty="0"/>
          </a:p>
        </p:txBody>
      </p:sp>
      <p:sp>
        <p:nvSpPr>
          <p:cNvPr id="34" name="Shape 31"/>
          <p:cNvSpPr/>
          <p:nvPr/>
        </p:nvSpPr>
        <p:spPr>
          <a:xfrm>
            <a:off x="4754880" y="2779776"/>
            <a:ext cx="365760" cy="365760"/>
          </a:xfrm>
          <a:prstGeom prst="ellipse">
            <a:avLst/>
          </a:prstGeom>
          <a:solidFill>
            <a:srgbClr val="E1EEF0"/>
          </a:solidFill>
          <a:ln w="12700">
            <a:solidFill>
              <a:srgbClr val="E1EEF0"/>
            </a:solidFill>
            <a:prstDash val="solid"/>
          </a:ln>
        </p:spPr>
      </p:sp>
      <p:pic>
        <p:nvPicPr>
          <p:cNvPr id="35" name="Image 1" descr="preencoded.png">    </p:cNvPr>
          <p:cNvPicPr>
            <a:picLocks noChangeAspect="1"/>
          </p:cNvPicPr>
          <p:nvPr/>
        </p:nvPicPr>
        <p:blipFill>
          <a:blip r:embed="rId2"/>
          <a:stretch>
            <a:fillRect/>
          </a:stretch>
        </p:blipFill>
        <p:spPr>
          <a:xfrm>
            <a:off x="4835347" y="2860243"/>
            <a:ext cx="204826" cy="204826"/>
          </a:xfrm>
          <a:prstGeom prst="rect">
            <a:avLst/>
          </a:prstGeom>
        </p:spPr>
      </p:pic>
      <p:sp>
        <p:nvSpPr>
          <p:cNvPr id="36" name="Text 32"/>
          <p:cNvSpPr/>
          <p:nvPr/>
        </p:nvSpPr>
        <p:spPr>
          <a:xfrm>
            <a:off x="5230368" y="2724912"/>
            <a:ext cx="1783080" cy="365760"/>
          </a:xfrm>
          <a:prstGeom prst="rect">
            <a:avLst/>
          </a:prstGeom>
          <a:noFill/>
          <a:ln/>
        </p:spPr>
        <p:txBody>
          <a:bodyPr wrap="square" lIns="0" tIns="0" rIns="0" bIns="0" rtlCol="0" anchor="ctr"/>
          <a:lstStyle/>
          <a:p>
            <a:pPr indent="0" marL="0">
              <a:buNone/>
            </a:pPr>
            <a:r>
              <a:rPr lang="en-US" sz="1150" b="1" dirty="0">
                <a:solidFill>
                  <a:srgbClr val="1A1A1A"/>
                </a:solidFill>
                <a:latin typeface="Calibri" pitchFamily="34" charset="0"/>
                <a:ea typeface="Calibri" pitchFamily="34" charset="-122"/>
                <a:cs typeface="Calibri" pitchFamily="34" charset="-120"/>
              </a:rPr>
              <a:t>Real-time monitoring</a:t>
            </a:r>
            <a:endParaRPr lang="en-US" sz="1150" dirty="0"/>
          </a:p>
        </p:txBody>
      </p:sp>
      <p:sp>
        <p:nvSpPr>
          <p:cNvPr id="37" name="Text 33"/>
          <p:cNvSpPr/>
          <p:nvPr/>
        </p:nvSpPr>
        <p:spPr>
          <a:xfrm>
            <a:off x="7040880" y="2724912"/>
            <a:ext cx="1783080" cy="420624"/>
          </a:xfrm>
          <a:prstGeom prst="rect">
            <a:avLst/>
          </a:prstGeom>
          <a:noFill/>
          <a:ln/>
        </p:spPr>
        <p:txBody>
          <a:bodyPr wrap="square" lIns="0" tIns="0" rIns="0" bIns="0" rtlCol="0" anchor="ctr"/>
          <a:lstStyle/>
          <a:p>
            <a:pPr indent="0" marL="0">
              <a:buNone/>
            </a:pPr>
            <a:r>
              <a:rPr lang="en-US" sz="980" dirty="0">
                <a:solidFill>
                  <a:srgbClr val="5F5E5A"/>
                </a:solidFill>
                <a:latin typeface="Calibri" pitchFamily="34" charset="0"/>
                <a:ea typeface="Calibri" pitchFamily="34" charset="-122"/>
                <a:cs typeface="Calibri" pitchFamily="34" charset="-120"/>
              </a:rPr>
              <a:t>Full visibility across 22kV grid, RTS, and BESS</a:t>
            </a:r>
            <a:endParaRPr lang="en-US" sz="980" dirty="0"/>
          </a:p>
        </p:txBody>
      </p:sp>
      <p:sp>
        <p:nvSpPr>
          <p:cNvPr id="38" name="Shape 34"/>
          <p:cNvSpPr/>
          <p:nvPr/>
        </p:nvSpPr>
        <p:spPr>
          <a:xfrm>
            <a:off x="457200" y="3383280"/>
            <a:ext cx="365760" cy="365760"/>
          </a:xfrm>
          <a:prstGeom prst="ellipse">
            <a:avLst/>
          </a:prstGeom>
          <a:solidFill>
            <a:srgbClr val="E1EEF0"/>
          </a:solidFill>
          <a:ln w="12700">
            <a:solidFill>
              <a:srgbClr val="E1EEF0"/>
            </a:solidFill>
            <a:prstDash val="solid"/>
          </a:ln>
        </p:spPr>
      </p:sp>
      <p:pic>
        <p:nvPicPr>
          <p:cNvPr id="39" name="Image 2" descr="preencoded.png">    </p:cNvPr>
          <p:cNvPicPr>
            <a:picLocks noChangeAspect="1"/>
          </p:cNvPicPr>
          <p:nvPr/>
        </p:nvPicPr>
        <p:blipFill>
          <a:blip r:embed="rId3"/>
          <a:stretch>
            <a:fillRect/>
          </a:stretch>
        </p:blipFill>
        <p:spPr>
          <a:xfrm>
            <a:off x="537667" y="3463747"/>
            <a:ext cx="204826" cy="204826"/>
          </a:xfrm>
          <a:prstGeom prst="rect">
            <a:avLst/>
          </a:prstGeom>
        </p:spPr>
      </p:pic>
      <p:sp>
        <p:nvSpPr>
          <p:cNvPr id="40" name="Text 35"/>
          <p:cNvSpPr/>
          <p:nvPr/>
        </p:nvSpPr>
        <p:spPr>
          <a:xfrm>
            <a:off x="932688" y="3328416"/>
            <a:ext cx="1783080" cy="365760"/>
          </a:xfrm>
          <a:prstGeom prst="rect">
            <a:avLst/>
          </a:prstGeom>
          <a:noFill/>
          <a:ln/>
        </p:spPr>
        <p:txBody>
          <a:bodyPr wrap="square" lIns="0" tIns="0" rIns="0" bIns="0" rtlCol="0" anchor="ctr"/>
          <a:lstStyle/>
          <a:p>
            <a:pPr indent="0" marL="0">
              <a:buNone/>
            </a:pPr>
            <a:r>
              <a:rPr lang="en-US" sz="1150" b="1" dirty="0">
                <a:solidFill>
                  <a:srgbClr val="1A1A1A"/>
                </a:solidFill>
                <a:latin typeface="Calibri" pitchFamily="34" charset="0"/>
                <a:ea typeface="Calibri" pitchFamily="34" charset="-122"/>
                <a:cs typeface="Calibri" pitchFamily="34" charset="-120"/>
              </a:rPr>
              <a:t>Zero-export control</a:t>
            </a:r>
            <a:endParaRPr lang="en-US" sz="1150" dirty="0"/>
          </a:p>
        </p:txBody>
      </p:sp>
      <p:sp>
        <p:nvSpPr>
          <p:cNvPr id="41" name="Text 36"/>
          <p:cNvSpPr/>
          <p:nvPr/>
        </p:nvSpPr>
        <p:spPr>
          <a:xfrm>
            <a:off x="2743200" y="3328416"/>
            <a:ext cx="1783080" cy="420624"/>
          </a:xfrm>
          <a:prstGeom prst="rect">
            <a:avLst/>
          </a:prstGeom>
          <a:noFill/>
          <a:ln/>
        </p:spPr>
        <p:txBody>
          <a:bodyPr wrap="square" lIns="0" tIns="0" rIns="0" bIns="0" rtlCol="0" anchor="ctr"/>
          <a:lstStyle/>
          <a:p>
            <a:pPr indent="0" marL="0">
              <a:buNone/>
            </a:pPr>
            <a:r>
              <a:rPr lang="en-US" sz="980" dirty="0">
                <a:solidFill>
                  <a:srgbClr val="5F5E5A"/>
                </a:solidFill>
                <a:latin typeface="Calibri" pitchFamily="34" charset="0"/>
                <a:ea typeface="Calibri" pitchFamily="34" charset="-122"/>
                <a:cs typeface="Calibri" pitchFamily="34" charset="-120"/>
              </a:rPr>
              <a:t>No solar backfeed to the national grid, ever</a:t>
            </a:r>
            <a:endParaRPr lang="en-US" sz="980" dirty="0"/>
          </a:p>
        </p:txBody>
      </p:sp>
      <p:sp>
        <p:nvSpPr>
          <p:cNvPr id="42" name="Shape 37"/>
          <p:cNvSpPr/>
          <p:nvPr/>
        </p:nvSpPr>
        <p:spPr>
          <a:xfrm>
            <a:off x="4754880" y="3383280"/>
            <a:ext cx="365760" cy="365760"/>
          </a:xfrm>
          <a:prstGeom prst="ellipse">
            <a:avLst/>
          </a:prstGeom>
          <a:solidFill>
            <a:srgbClr val="E1EEF0"/>
          </a:solidFill>
          <a:ln w="12700">
            <a:solidFill>
              <a:srgbClr val="E1EEF0"/>
            </a:solidFill>
            <a:prstDash val="solid"/>
          </a:ln>
        </p:spPr>
      </p:sp>
      <p:pic>
        <p:nvPicPr>
          <p:cNvPr id="43" name="Image 3" descr="preencoded.png">    </p:cNvPr>
          <p:cNvPicPr>
            <a:picLocks noChangeAspect="1"/>
          </p:cNvPicPr>
          <p:nvPr/>
        </p:nvPicPr>
        <p:blipFill>
          <a:blip r:embed="rId4"/>
          <a:stretch>
            <a:fillRect/>
          </a:stretch>
        </p:blipFill>
        <p:spPr>
          <a:xfrm>
            <a:off x="4835347" y="3463747"/>
            <a:ext cx="204826" cy="204826"/>
          </a:xfrm>
          <a:prstGeom prst="rect">
            <a:avLst/>
          </a:prstGeom>
        </p:spPr>
      </p:pic>
      <p:sp>
        <p:nvSpPr>
          <p:cNvPr id="44" name="Text 38"/>
          <p:cNvSpPr/>
          <p:nvPr/>
        </p:nvSpPr>
        <p:spPr>
          <a:xfrm>
            <a:off x="5230368" y="3328416"/>
            <a:ext cx="1783080" cy="365760"/>
          </a:xfrm>
          <a:prstGeom prst="rect">
            <a:avLst/>
          </a:prstGeom>
          <a:noFill/>
          <a:ln/>
        </p:spPr>
        <p:txBody>
          <a:bodyPr wrap="square" lIns="0" tIns="0" rIns="0" bIns="0" rtlCol="0" anchor="ctr"/>
          <a:lstStyle/>
          <a:p>
            <a:pPr indent="0" marL="0">
              <a:buNone/>
            </a:pPr>
            <a:r>
              <a:rPr lang="en-US" sz="1150" b="1" dirty="0">
                <a:solidFill>
                  <a:srgbClr val="1A1A1A"/>
                </a:solidFill>
                <a:latin typeface="Calibri" pitchFamily="34" charset="0"/>
                <a:ea typeface="Calibri" pitchFamily="34" charset="-122"/>
                <a:cs typeface="Calibri" pitchFamily="34" charset="-120"/>
              </a:rPr>
              <a:t>Islanding &amp; black start</a:t>
            </a:r>
            <a:endParaRPr lang="en-US" sz="1150" dirty="0"/>
          </a:p>
        </p:txBody>
      </p:sp>
      <p:sp>
        <p:nvSpPr>
          <p:cNvPr id="45" name="Text 39"/>
          <p:cNvSpPr/>
          <p:nvPr/>
        </p:nvSpPr>
        <p:spPr>
          <a:xfrm>
            <a:off x="7040880" y="3328416"/>
            <a:ext cx="1783080" cy="420624"/>
          </a:xfrm>
          <a:prstGeom prst="rect">
            <a:avLst/>
          </a:prstGeom>
          <a:noFill/>
          <a:ln/>
        </p:spPr>
        <p:txBody>
          <a:bodyPr wrap="square" lIns="0" tIns="0" rIns="0" bIns="0" rtlCol="0" anchor="ctr"/>
          <a:lstStyle/>
          <a:p>
            <a:pPr indent="0" marL="0">
              <a:buNone/>
            </a:pPr>
            <a:r>
              <a:rPr lang="en-US" sz="980" dirty="0">
                <a:solidFill>
                  <a:srgbClr val="5F5E5A"/>
                </a:solidFill>
                <a:latin typeface="Calibri" pitchFamily="34" charset="0"/>
                <a:ea typeface="Calibri" pitchFamily="34" charset="-122"/>
                <a:cs typeface="Calibri" pitchFamily="34" charset="-120"/>
              </a:rPr>
              <a:t>Sustain the park through national grid outages</a:t>
            </a:r>
            <a:endParaRPr lang="en-US" sz="980" dirty="0"/>
          </a:p>
        </p:txBody>
      </p:sp>
      <p:sp>
        <p:nvSpPr>
          <p:cNvPr id="46" name="Shape 40"/>
          <p:cNvSpPr/>
          <p:nvPr/>
        </p:nvSpPr>
        <p:spPr>
          <a:xfrm>
            <a:off x="457200" y="3986784"/>
            <a:ext cx="365760" cy="365760"/>
          </a:xfrm>
          <a:prstGeom prst="ellipse">
            <a:avLst/>
          </a:prstGeom>
          <a:solidFill>
            <a:srgbClr val="E1EEF0"/>
          </a:solidFill>
          <a:ln w="12700">
            <a:solidFill>
              <a:srgbClr val="E1EEF0"/>
            </a:solidFill>
            <a:prstDash val="solid"/>
          </a:ln>
        </p:spPr>
      </p:sp>
      <p:pic>
        <p:nvPicPr>
          <p:cNvPr id="47" name="Image 4" descr="preencoded.png">    </p:cNvPr>
          <p:cNvPicPr>
            <a:picLocks noChangeAspect="1"/>
          </p:cNvPicPr>
          <p:nvPr/>
        </p:nvPicPr>
        <p:blipFill>
          <a:blip r:embed="rId5"/>
          <a:stretch>
            <a:fillRect/>
          </a:stretch>
        </p:blipFill>
        <p:spPr>
          <a:xfrm>
            <a:off x="537667" y="4067251"/>
            <a:ext cx="204826" cy="204826"/>
          </a:xfrm>
          <a:prstGeom prst="rect">
            <a:avLst/>
          </a:prstGeom>
        </p:spPr>
      </p:pic>
      <p:sp>
        <p:nvSpPr>
          <p:cNvPr id="48" name="Text 41"/>
          <p:cNvSpPr/>
          <p:nvPr/>
        </p:nvSpPr>
        <p:spPr>
          <a:xfrm>
            <a:off x="932688" y="3931920"/>
            <a:ext cx="1783080" cy="365760"/>
          </a:xfrm>
          <a:prstGeom prst="rect">
            <a:avLst/>
          </a:prstGeom>
          <a:noFill/>
          <a:ln/>
        </p:spPr>
        <p:txBody>
          <a:bodyPr wrap="square" lIns="0" tIns="0" rIns="0" bIns="0" rtlCol="0" anchor="ctr"/>
          <a:lstStyle/>
          <a:p>
            <a:pPr indent="0" marL="0">
              <a:buNone/>
            </a:pPr>
            <a:r>
              <a:rPr lang="en-US" sz="1150" b="1" dirty="0">
                <a:solidFill>
                  <a:srgbClr val="1A1A1A"/>
                </a:solidFill>
                <a:latin typeface="Calibri" pitchFamily="34" charset="0"/>
                <a:ea typeface="Calibri" pitchFamily="34" charset="-122"/>
                <a:cs typeface="Calibri" pitchFamily="34" charset="-120"/>
              </a:rPr>
              <a:t>Industrial cybersecurity</a:t>
            </a:r>
            <a:endParaRPr lang="en-US" sz="1150" dirty="0"/>
          </a:p>
        </p:txBody>
      </p:sp>
      <p:sp>
        <p:nvSpPr>
          <p:cNvPr id="49" name="Text 42"/>
          <p:cNvSpPr/>
          <p:nvPr/>
        </p:nvSpPr>
        <p:spPr>
          <a:xfrm>
            <a:off x="2743200" y="3931920"/>
            <a:ext cx="1783080" cy="420624"/>
          </a:xfrm>
          <a:prstGeom prst="rect">
            <a:avLst/>
          </a:prstGeom>
          <a:noFill/>
          <a:ln/>
        </p:spPr>
        <p:txBody>
          <a:bodyPr wrap="square" lIns="0" tIns="0" rIns="0" bIns="0" rtlCol="0" anchor="ctr"/>
          <a:lstStyle/>
          <a:p>
            <a:pPr indent="0" marL="0">
              <a:buNone/>
            </a:pPr>
            <a:r>
              <a:rPr lang="en-US" sz="980" dirty="0">
                <a:solidFill>
                  <a:srgbClr val="5F5E5A"/>
                </a:solidFill>
                <a:latin typeface="Calibri" pitchFamily="34" charset="0"/>
                <a:ea typeface="Calibri" pitchFamily="34" charset="-122"/>
                <a:cs typeface="Calibri" pitchFamily="34" charset="-120"/>
              </a:rPr>
              <a:t>IEC 62443-aligned OT architecture, by design</a:t>
            </a:r>
            <a:endParaRPr lang="en-US" sz="980" dirty="0"/>
          </a:p>
        </p:txBody>
      </p:sp>
      <p:sp>
        <p:nvSpPr>
          <p:cNvPr id="50" name="Shape 43"/>
          <p:cNvSpPr/>
          <p:nvPr/>
        </p:nvSpPr>
        <p:spPr>
          <a:xfrm>
            <a:off x="4754880" y="3986784"/>
            <a:ext cx="365760" cy="365760"/>
          </a:xfrm>
          <a:prstGeom prst="ellipse">
            <a:avLst/>
          </a:prstGeom>
          <a:solidFill>
            <a:srgbClr val="E1EEF0"/>
          </a:solidFill>
          <a:ln w="12700">
            <a:solidFill>
              <a:srgbClr val="E1EEF0"/>
            </a:solidFill>
            <a:prstDash val="solid"/>
          </a:ln>
        </p:spPr>
      </p:sp>
      <p:pic>
        <p:nvPicPr>
          <p:cNvPr id="51" name="Image 5" descr="preencoded.png">    </p:cNvPr>
          <p:cNvPicPr>
            <a:picLocks noChangeAspect="1"/>
          </p:cNvPicPr>
          <p:nvPr/>
        </p:nvPicPr>
        <p:blipFill>
          <a:blip r:embed="rId6"/>
          <a:stretch>
            <a:fillRect/>
          </a:stretch>
        </p:blipFill>
        <p:spPr>
          <a:xfrm>
            <a:off x="4835347" y="4067251"/>
            <a:ext cx="204826" cy="204826"/>
          </a:xfrm>
          <a:prstGeom prst="rect">
            <a:avLst/>
          </a:prstGeom>
        </p:spPr>
      </p:pic>
      <p:sp>
        <p:nvSpPr>
          <p:cNvPr id="52" name="Text 44"/>
          <p:cNvSpPr/>
          <p:nvPr/>
        </p:nvSpPr>
        <p:spPr>
          <a:xfrm>
            <a:off x="5230368" y="3931920"/>
            <a:ext cx="1783080" cy="365760"/>
          </a:xfrm>
          <a:prstGeom prst="rect">
            <a:avLst/>
          </a:prstGeom>
          <a:noFill/>
          <a:ln/>
        </p:spPr>
        <p:txBody>
          <a:bodyPr wrap="square" lIns="0" tIns="0" rIns="0" bIns="0" rtlCol="0" anchor="ctr"/>
          <a:lstStyle/>
          <a:p>
            <a:pPr indent="0" marL="0">
              <a:buNone/>
            </a:pPr>
            <a:r>
              <a:rPr lang="en-US" sz="1150" b="1" dirty="0">
                <a:solidFill>
                  <a:srgbClr val="1A1A1A"/>
                </a:solidFill>
                <a:latin typeface="Calibri" pitchFamily="34" charset="0"/>
                <a:ea typeface="Calibri" pitchFamily="34" charset="-122"/>
                <a:cs typeface="Calibri" pitchFamily="34" charset="-120"/>
              </a:rPr>
              <a:t>API-ready for AMI &amp; VPP</a:t>
            </a:r>
            <a:endParaRPr lang="en-US" sz="1150" dirty="0"/>
          </a:p>
        </p:txBody>
      </p:sp>
      <p:sp>
        <p:nvSpPr>
          <p:cNvPr id="53" name="Text 45"/>
          <p:cNvSpPr/>
          <p:nvPr/>
        </p:nvSpPr>
        <p:spPr>
          <a:xfrm>
            <a:off x="7040880" y="3931920"/>
            <a:ext cx="1783080" cy="420624"/>
          </a:xfrm>
          <a:prstGeom prst="rect">
            <a:avLst/>
          </a:prstGeom>
          <a:noFill/>
          <a:ln/>
        </p:spPr>
        <p:txBody>
          <a:bodyPr wrap="square" lIns="0" tIns="0" rIns="0" bIns="0" rtlCol="0" anchor="ctr"/>
          <a:lstStyle/>
          <a:p>
            <a:pPr indent="0" marL="0">
              <a:buNone/>
            </a:pPr>
            <a:r>
              <a:rPr lang="en-US" sz="980" dirty="0">
                <a:solidFill>
                  <a:srgbClr val="5F5E5A"/>
                </a:solidFill>
                <a:latin typeface="Calibri" pitchFamily="34" charset="0"/>
                <a:ea typeface="Calibri" pitchFamily="34" charset="-122"/>
                <a:cs typeface="Calibri" pitchFamily="34" charset="-120"/>
              </a:rPr>
              <a:t>Future-proofed for advanced metering and VPP</a:t>
            </a:r>
            <a:endParaRPr lang="en-US" sz="9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 cy="384048"/>
          </a:xfrm>
          <a:prstGeom prst="rect">
            <a:avLst/>
          </a:prstGeom>
          <a:solidFill>
            <a:srgbClr val="D94F1E"/>
          </a:solidFill>
          <a:ln w="12700">
            <a:solidFill>
              <a:srgbClr val="D94F1E"/>
            </a:solidFill>
            <a:prstDash val="solid"/>
          </a:ln>
        </p:spPr>
      </p:sp>
      <p:sp>
        <p:nvSpPr>
          <p:cNvPr id="3" name="Text 1"/>
          <p:cNvSpPr/>
          <p:nvPr/>
        </p:nvSpPr>
        <p:spPr>
          <a:xfrm>
            <a:off x="502920" y="146304"/>
            <a:ext cx="8229600" cy="658368"/>
          </a:xfrm>
          <a:prstGeom prst="rect">
            <a:avLst/>
          </a:prstGeom>
          <a:noFill/>
          <a:ln/>
        </p:spPr>
        <p:txBody>
          <a:bodyPr wrap="square" lIns="0" tIns="0" rIns="0" bIns="0" rtlCol="0" anchor="ctr"/>
          <a:lstStyle/>
          <a:p>
            <a:pPr indent="0" marL="0">
              <a:buNone/>
            </a:pPr>
            <a:r>
              <a:rPr lang="en-US" sz="3000" b="1" dirty="0">
                <a:solidFill>
                  <a:srgbClr val="2B7A8C"/>
                </a:solidFill>
                <a:latin typeface="Calibri" pitchFamily="34" charset="0"/>
                <a:ea typeface="Calibri" pitchFamily="34" charset="-122"/>
                <a:cs typeface="Calibri" pitchFamily="34" charset="-120"/>
              </a:rPr>
              <a:t>Your Vision: Green, Smart, Zero-Carbon</a:t>
            </a:r>
            <a:endParaRPr lang="en-US" sz="3000" dirty="0"/>
          </a:p>
        </p:txBody>
      </p:sp>
      <p:sp>
        <p:nvSpPr>
          <p:cNvPr id="4" name="Shape 2"/>
          <p:cNvSpPr/>
          <p:nvPr/>
        </p:nvSpPr>
        <p:spPr>
          <a:xfrm>
            <a:off x="365760" y="4736592"/>
            <a:ext cx="8412480" cy="0"/>
          </a:xfrm>
          <a:prstGeom prst="line">
            <a:avLst/>
          </a:prstGeom>
          <a:noFill/>
          <a:ln w="12700">
            <a:solidFill>
              <a:srgbClr val="E2E2E0"/>
            </a:solidFill>
            <a:prstDash val="solid"/>
          </a:ln>
        </p:spPr>
      </p:sp>
      <p:sp>
        <p:nvSpPr>
          <p:cNvPr id="5" name="Text 3"/>
          <p:cNvSpPr/>
          <p:nvPr/>
        </p:nvSpPr>
        <p:spPr>
          <a:xfrm>
            <a:off x="365760" y="4773168"/>
            <a:ext cx="2011680" cy="27432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Survalent</a:t>
            </a:r>
            <a:pPr indent="0" marL="0">
              <a:buNone/>
            </a:pPr>
            <a:r>
              <a:rPr lang="en-US" sz="1300" b="1" dirty="0">
                <a:solidFill>
                  <a:srgbClr val="D94F1E"/>
                </a:solidFill>
                <a:latin typeface="Calibri" pitchFamily="34" charset="0"/>
                <a:ea typeface="Calibri" pitchFamily="34" charset="-122"/>
                <a:cs typeface="Calibri" pitchFamily="34" charset="-120"/>
              </a:rPr>
              <a:t>.</a:t>
            </a:r>
            <a:endParaRPr lang="en-US" sz="1300" dirty="0"/>
          </a:p>
        </p:txBody>
      </p:sp>
      <p:sp>
        <p:nvSpPr>
          <p:cNvPr id="6" name="Text 4"/>
          <p:cNvSpPr/>
          <p:nvPr/>
        </p:nvSpPr>
        <p:spPr>
          <a:xfrm>
            <a:off x="2926080" y="4809744"/>
            <a:ext cx="3291840" cy="237744"/>
          </a:xfrm>
          <a:prstGeom prst="rect">
            <a:avLst/>
          </a:prstGeom>
          <a:noFill/>
          <a:ln/>
        </p:spPr>
        <p:txBody>
          <a:bodyPr wrap="square" lIns="0" tIns="0" rIns="0" bIns="0" rtlCol="0" anchor="ctr"/>
          <a:lstStyle/>
          <a:p>
            <a:pPr algn="ctr" indent="0" marL="0">
              <a:buNone/>
            </a:pPr>
            <a:r>
              <a:rPr lang="en-US" sz="800" spc="200" kern="0" dirty="0">
                <a:solidFill>
                  <a:srgbClr val="8A8A85"/>
                </a:solidFill>
              </a:rPr>
              <a:t>Confidential &amp; Proprietary</a:t>
            </a:r>
            <a:endParaRPr lang="en-US" sz="800" dirty="0"/>
          </a:p>
        </p:txBody>
      </p:sp>
      <p:sp>
        <p:nvSpPr>
          <p:cNvPr id="7" name="Text 5"/>
          <p:cNvSpPr/>
          <p:nvPr/>
        </p:nvSpPr>
        <p:spPr>
          <a:xfrm>
            <a:off x="8229600" y="4809744"/>
            <a:ext cx="548640" cy="237744"/>
          </a:xfrm>
          <a:prstGeom prst="rect">
            <a:avLst/>
          </a:prstGeom>
          <a:noFill/>
          <a:ln/>
        </p:spPr>
        <p:txBody>
          <a:bodyPr wrap="square" lIns="0" tIns="0" rIns="0" bIns="0" rtlCol="0" anchor="ctr"/>
          <a:lstStyle/>
          <a:p>
            <a:pPr algn="r" indent="0" marL="0">
              <a:buNone/>
            </a:pPr>
            <a:r>
              <a:rPr lang="en-US" sz="900" dirty="0">
                <a:solidFill>
                  <a:srgbClr val="8A8A85"/>
                </a:solidFill>
              </a:rPr>
              <a:t>4</a:t>
            </a:r>
            <a:endParaRPr lang="en-US" sz="900" dirty="0"/>
          </a:p>
        </p:txBody>
      </p:sp>
      <p:sp>
        <p:nvSpPr>
          <p:cNvPr id="8" name="Shape 6"/>
          <p:cNvSpPr/>
          <p:nvPr/>
        </p:nvSpPr>
        <p:spPr>
          <a:xfrm>
            <a:off x="457200" y="868680"/>
            <a:ext cx="8229600" cy="566928"/>
          </a:xfrm>
          <a:prstGeom prst="roundRect">
            <a:avLst>
              <a:gd name="adj" fmla="val 9677"/>
            </a:avLst>
          </a:prstGeom>
          <a:solidFill>
            <a:srgbClr val="123139"/>
          </a:solidFill>
          <a:ln w="12700">
            <a:solidFill>
              <a:srgbClr val="123139"/>
            </a:solidFill>
            <a:prstDash val="solid"/>
          </a:ln>
        </p:spPr>
      </p:sp>
      <p:sp>
        <p:nvSpPr>
          <p:cNvPr id="9" name="Text 7"/>
          <p:cNvSpPr/>
          <p:nvPr/>
        </p:nvSpPr>
        <p:spPr>
          <a:xfrm>
            <a:off x="640080" y="868680"/>
            <a:ext cx="7863840" cy="566928"/>
          </a:xfrm>
          <a:prstGeom prst="rect">
            <a:avLst/>
          </a:prstGeom>
          <a:noFill/>
          <a:ln/>
        </p:spPr>
        <p:txBody>
          <a:bodyPr wrap="square" lIns="0" tIns="0" rIns="0" bIns="0" rtlCol="0" anchor="ctr"/>
          <a:lstStyle/>
          <a:p>
            <a:pPr indent="0" marL="0">
              <a:buNone/>
            </a:pPr>
            <a:r>
              <a:rPr lang="en-US" sz="1350" i="1" dirty="0">
                <a:solidFill>
                  <a:srgbClr val="FFFFFF"/>
                </a:solidFill>
                <a:latin typeface="Calibri" pitchFamily="34" charset="0"/>
                <a:ea typeface="Calibri" pitchFamily="34" charset="-122"/>
                <a:cs typeface="Calibri" pitchFamily="34" charset="-120"/>
              </a:rPr>
              <a:t>VSIP 4 is not just an industrial park. It is a platform for the energy future of Vietnamese industry.</a:t>
            </a:r>
            <a:endParaRPr lang="en-US" sz="1350" dirty="0"/>
          </a:p>
        </p:txBody>
      </p:sp>
      <p:sp>
        <p:nvSpPr>
          <p:cNvPr id="10" name="Shape 8"/>
          <p:cNvSpPr/>
          <p:nvPr/>
        </p:nvSpPr>
        <p:spPr>
          <a:xfrm>
            <a:off x="457200" y="1645920"/>
            <a:ext cx="2624328" cy="2834640"/>
          </a:xfrm>
          <a:prstGeom prst="roundRect">
            <a:avLst>
              <a:gd name="adj" fmla="val 2787"/>
            </a:avLst>
          </a:prstGeom>
          <a:solidFill>
            <a:srgbClr val="FFFFFF"/>
          </a:solidFill>
          <a:ln w="6350">
            <a:solidFill>
              <a:srgbClr val="CCCCCC"/>
            </a:solidFill>
            <a:prstDash val="solid"/>
          </a:ln>
          <a:effectLst>
            <a:outerShdw sx="100000" sy="100000" kx="0" ky="0" algn="bl" rotWithShape="0" blurRad="76200" dist="25400" dir="2700000">
              <a:srgbClr val="000000">
                <a:alpha val="10000"/>
              </a:srgbClr>
            </a:outerShdw>
          </a:effectLst>
        </p:spPr>
      </p:sp>
      <p:sp>
        <p:nvSpPr>
          <p:cNvPr id="11" name="Shape 9"/>
          <p:cNvSpPr/>
          <p:nvPr/>
        </p:nvSpPr>
        <p:spPr>
          <a:xfrm>
            <a:off x="1495044" y="1920240"/>
            <a:ext cx="548640" cy="548640"/>
          </a:xfrm>
          <a:prstGeom prst="ellipse">
            <a:avLst/>
          </a:prstGeom>
          <a:solidFill>
            <a:srgbClr val="E1EEF0"/>
          </a:solidFill>
          <a:ln w="12700">
            <a:solidFill>
              <a:srgbClr val="E1EEF0"/>
            </a:solidFill>
            <a:prstDash val="solid"/>
          </a:ln>
        </p:spPr>
      </p:sp>
      <p:pic>
        <p:nvPicPr>
          <p:cNvPr id="12" name="Image 0" descr="preencoded.png">    </p:cNvPr>
          <p:cNvPicPr>
            <a:picLocks noChangeAspect="1"/>
          </p:cNvPicPr>
          <p:nvPr/>
        </p:nvPicPr>
        <p:blipFill>
          <a:blip r:embed="rId1"/>
          <a:stretch>
            <a:fillRect/>
          </a:stretch>
        </p:blipFill>
        <p:spPr>
          <a:xfrm>
            <a:off x="1615745" y="2040941"/>
            <a:ext cx="307238" cy="307238"/>
          </a:xfrm>
          <a:prstGeom prst="rect">
            <a:avLst/>
          </a:prstGeom>
        </p:spPr>
      </p:pic>
      <p:sp>
        <p:nvSpPr>
          <p:cNvPr id="13" name="Text 10"/>
          <p:cNvSpPr/>
          <p:nvPr/>
        </p:nvSpPr>
        <p:spPr>
          <a:xfrm>
            <a:off x="457200" y="2560320"/>
            <a:ext cx="2624328" cy="365760"/>
          </a:xfrm>
          <a:prstGeom prst="rect">
            <a:avLst/>
          </a:prstGeom>
          <a:noFill/>
          <a:ln/>
        </p:spPr>
        <p:txBody>
          <a:bodyPr wrap="square" lIns="0" tIns="0" rIns="0" bIns="0" rtlCol="0" anchor="ctr"/>
          <a:lstStyle/>
          <a:p>
            <a:pPr algn="ctr" indent="0" marL="0">
              <a:buNone/>
            </a:pPr>
            <a:r>
              <a:rPr lang="en-US" sz="1800" b="1" dirty="0">
                <a:solidFill>
                  <a:srgbClr val="1A1A1A"/>
                </a:solidFill>
                <a:latin typeface="Calibri" pitchFamily="34" charset="0"/>
                <a:ea typeface="Calibri" pitchFamily="34" charset="-122"/>
                <a:cs typeface="Calibri" pitchFamily="34" charset="-120"/>
              </a:rPr>
              <a:t>Reliability</a:t>
            </a:r>
            <a:endParaRPr lang="en-US" sz="1800" dirty="0"/>
          </a:p>
        </p:txBody>
      </p:sp>
      <p:sp>
        <p:nvSpPr>
          <p:cNvPr id="14" name="Text 11"/>
          <p:cNvSpPr/>
          <p:nvPr/>
        </p:nvSpPr>
        <p:spPr>
          <a:xfrm>
            <a:off x="457200" y="2944368"/>
            <a:ext cx="2624328" cy="274320"/>
          </a:xfrm>
          <a:prstGeom prst="rect">
            <a:avLst/>
          </a:prstGeom>
          <a:noFill/>
          <a:ln/>
        </p:spPr>
        <p:txBody>
          <a:bodyPr wrap="square" lIns="0" tIns="0" rIns="0" bIns="0" rtlCol="0" anchor="ctr"/>
          <a:lstStyle/>
          <a:p>
            <a:pPr algn="ctr" indent="0" marL="0">
              <a:buNone/>
            </a:pPr>
            <a:r>
              <a:rPr lang="en-US" sz="1200" b="1" dirty="0">
                <a:solidFill>
                  <a:srgbClr val="2B7A8C"/>
                </a:solidFill>
                <a:latin typeface="Calibri" pitchFamily="34" charset="0"/>
                <a:ea typeface="Calibri" pitchFamily="34" charset="-122"/>
                <a:cs typeface="Calibri" pitchFamily="34" charset="-120"/>
              </a:rPr>
              <a:t>Tenants never lose power</a:t>
            </a:r>
            <a:endParaRPr lang="en-US" sz="1200" dirty="0"/>
          </a:p>
        </p:txBody>
      </p:sp>
      <p:sp>
        <p:nvSpPr>
          <p:cNvPr id="15" name="Text 12"/>
          <p:cNvSpPr/>
          <p:nvPr/>
        </p:nvSpPr>
        <p:spPr>
          <a:xfrm>
            <a:off x="658368" y="3310128"/>
            <a:ext cx="2221992" cy="1005840"/>
          </a:xfrm>
          <a:prstGeom prst="rect">
            <a:avLst/>
          </a:prstGeom>
          <a:noFill/>
          <a:ln/>
        </p:spPr>
        <p:txBody>
          <a:bodyPr wrap="square" lIns="0" tIns="0" rIns="0" bIns="0" rtlCol="0" anchor="t"/>
          <a:lstStyle/>
          <a:p>
            <a:pPr algn="ctr" indent="0" marL="0">
              <a:lnSpc>
                <a:spcPct val="105000"/>
              </a:lnSpc>
              <a:buNone/>
            </a:pPr>
            <a:r>
              <a:rPr lang="en-US" sz="1100" dirty="0">
                <a:solidFill>
                  <a:srgbClr val="5F5E5A"/>
                </a:solidFill>
                <a:latin typeface="Calibri" pitchFamily="34" charset="0"/>
                <a:ea typeface="Calibri" pitchFamily="34" charset="-122"/>
                <a:cs typeface="Calibri" pitchFamily="34" charset="-120"/>
              </a:rPr>
              <a:t>A grid that detects, isolates, and restores faults automatically — and can island from the national grid when needed.</a:t>
            </a:r>
            <a:endParaRPr lang="en-US" sz="1100" dirty="0"/>
          </a:p>
        </p:txBody>
      </p:sp>
      <p:sp>
        <p:nvSpPr>
          <p:cNvPr id="16" name="Shape 13"/>
          <p:cNvSpPr/>
          <p:nvPr/>
        </p:nvSpPr>
        <p:spPr>
          <a:xfrm>
            <a:off x="3264408" y="1645920"/>
            <a:ext cx="2624328" cy="2834640"/>
          </a:xfrm>
          <a:prstGeom prst="roundRect">
            <a:avLst>
              <a:gd name="adj" fmla="val 2787"/>
            </a:avLst>
          </a:prstGeom>
          <a:solidFill>
            <a:srgbClr val="FFFFFF"/>
          </a:solidFill>
          <a:ln w="6350">
            <a:solidFill>
              <a:srgbClr val="CCCCCC"/>
            </a:solidFill>
            <a:prstDash val="solid"/>
          </a:ln>
          <a:effectLst>
            <a:outerShdw sx="100000" sy="100000" kx="0" ky="0" algn="bl" rotWithShape="0" blurRad="76200" dist="25400" dir="2700000">
              <a:srgbClr val="000000">
                <a:alpha val="10000"/>
              </a:srgbClr>
            </a:outerShdw>
          </a:effectLst>
        </p:spPr>
      </p:sp>
      <p:sp>
        <p:nvSpPr>
          <p:cNvPr id="17" name="Shape 14"/>
          <p:cNvSpPr/>
          <p:nvPr/>
        </p:nvSpPr>
        <p:spPr>
          <a:xfrm>
            <a:off x="4302252" y="1920240"/>
            <a:ext cx="548640" cy="548640"/>
          </a:xfrm>
          <a:prstGeom prst="ellipse">
            <a:avLst/>
          </a:prstGeom>
          <a:solidFill>
            <a:srgbClr val="EAF3DE"/>
          </a:solidFill>
          <a:ln w="12700">
            <a:solidFill>
              <a:srgbClr val="EAF3DE"/>
            </a:solidFill>
            <a:prstDash val="solid"/>
          </a:ln>
        </p:spPr>
      </p:sp>
      <p:pic>
        <p:nvPicPr>
          <p:cNvPr id="18" name="Image 1" descr="preencoded.png">    </p:cNvPr>
          <p:cNvPicPr>
            <a:picLocks noChangeAspect="1"/>
          </p:cNvPicPr>
          <p:nvPr/>
        </p:nvPicPr>
        <p:blipFill>
          <a:blip r:embed="rId2"/>
          <a:stretch>
            <a:fillRect/>
          </a:stretch>
        </p:blipFill>
        <p:spPr>
          <a:xfrm>
            <a:off x="4422953" y="2040941"/>
            <a:ext cx="307238" cy="307238"/>
          </a:xfrm>
          <a:prstGeom prst="rect">
            <a:avLst/>
          </a:prstGeom>
        </p:spPr>
      </p:pic>
      <p:sp>
        <p:nvSpPr>
          <p:cNvPr id="19" name="Text 15"/>
          <p:cNvSpPr/>
          <p:nvPr/>
        </p:nvSpPr>
        <p:spPr>
          <a:xfrm>
            <a:off x="3264408" y="2560320"/>
            <a:ext cx="2624328" cy="365760"/>
          </a:xfrm>
          <a:prstGeom prst="rect">
            <a:avLst/>
          </a:prstGeom>
          <a:noFill/>
          <a:ln/>
        </p:spPr>
        <p:txBody>
          <a:bodyPr wrap="square" lIns="0" tIns="0" rIns="0" bIns="0" rtlCol="0" anchor="ctr"/>
          <a:lstStyle/>
          <a:p>
            <a:pPr algn="ctr" indent="0" marL="0">
              <a:buNone/>
            </a:pPr>
            <a:r>
              <a:rPr lang="en-US" sz="1800" b="1" dirty="0">
                <a:solidFill>
                  <a:srgbClr val="1A1A1A"/>
                </a:solidFill>
                <a:latin typeface="Calibri" pitchFamily="34" charset="0"/>
                <a:ea typeface="Calibri" pitchFamily="34" charset="-122"/>
                <a:cs typeface="Calibri" pitchFamily="34" charset="-120"/>
              </a:rPr>
              <a:t>Sustainability</a:t>
            </a:r>
            <a:endParaRPr lang="en-US" sz="1800" dirty="0"/>
          </a:p>
        </p:txBody>
      </p:sp>
      <p:sp>
        <p:nvSpPr>
          <p:cNvPr id="20" name="Text 16"/>
          <p:cNvSpPr/>
          <p:nvPr/>
        </p:nvSpPr>
        <p:spPr>
          <a:xfrm>
            <a:off x="3264408" y="2944368"/>
            <a:ext cx="2624328" cy="274320"/>
          </a:xfrm>
          <a:prstGeom prst="rect">
            <a:avLst/>
          </a:prstGeom>
          <a:noFill/>
          <a:ln/>
        </p:spPr>
        <p:txBody>
          <a:bodyPr wrap="square" lIns="0" tIns="0" rIns="0" bIns="0" rtlCol="0" anchor="ctr"/>
          <a:lstStyle/>
          <a:p>
            <a:pPr algn="ctr" indent="0" marL="0">
              <a:buNone/>
            </a:pPr>
            <a:r>
              <a:rPr lang="en-US" sz="1200" b="1" dirty="0">
                <a:solidFill>
                  <a:srgbClr val="5E9022"/>
                </a:solidFill>
                <a:latin typeface="Calibri" pitchFamily="34" charset="0"/>
                <a:ea typeface="Calibri" pitchFamily="34" charset="-122"/>
                <a:cs typeface="Calibri" pitchFamily="34" charset="-120"/>
              </a:rPr>
              <a:t>Zero carbon, ESG-ready</a:t>
            </a:r>
            <a:endParaRPr lang="en-US" sz="1200" dirty="0"/>
          </a:p>
        </p:txBody>
      </p:sp>
      <p:sp>
        <p:nvSpPr>
          <p:cNvPr id="21" name="Text 17"/>
          <p:cNvSpPr/>
          <p:nvPr/>
        </p:nvSpPr>
        <p:spPr>
          <a:xfrm>
            <a:off x="3465576" y="3310128"/>
            <a:ext cx="2221992" cy="1005840"/>
          </a:xfrm>
          <a:prstGeom prst="rect">
            <a:avLst/>
          </a:prstGeom>
          <a:noFill/>
          <a:ln/>
        </p:spPr>
        <p:txBody>
          <a:bodyPr wrap="square" lIns="0" tIns="0" rIns="0" bIns="0" rtlCol="0" anchor="t"/>
          <a:lstStyle/>
          <a:p>
            <a:pPr algn="ctr" indent="0" marL="0">
              <a:lnSpc>
                <a:spcPct val="105000"/>
              </a:lnSpc>
              <a:buNone/>
            </a:pPr>
            <a:r>
              <a:rPr lang="en-US" sz="1100" dirty="0">
                <a:solidFill>
                  <a:srgbClr val="5F5E5A"/>
                </a:solidFill>
                <a:latin typeface="Calibri" pitchFamily="34" charset="0"/>
                <a:ea typeface="Calibri" pitchFamily="34" charset="-122"/>
                <a:cs typeface="Calibri" pitchFamily="34" charset="-120"/>
              </a:rPr>
              <a:t>187 MW of rooftop solar orchestrated cleanly, with carbon accounting and reporting that attracts premium global tenants.</a:t>
            </a:r>
            <a:endParaRPr lang="en-US" sz="1100" dirty="0"/>
          </a:p>
        </p:txBody>
      </p:sp>
      <p:sp>
        <p:nvSpPr>
          <p:cNvPr id="22" name="Shape 18"/>
          <p:cNvSpPr/>
          <p:nvPr/>
        </p:nvSpPr>
        <p:spPr>
          <a:xfrm>
            <a:off x="6071616" y="1645920"/>
            <a:ext cx="2624328" cy="2834640"/>
          </a:xfrm>
          <a:prstGeom prst="roundRect">
            <a:avLst>
              <a:gd name="adj" fmla="val 2787"/>
            </a:avLst>
          </a:prstGeom>
          <a:solidFill>
            <a:srgbClr val="FFFFFF"/>
          </a:solidFill>
          <a:ln w="6350">
            <a:solidFill>
              <a:srgbClr val="CCCCCC"/>
            </a:solidFill>
            <a:prstDash val="solid"/>
          </a:ln>
          <a:effectLst>
            <a:outerShdw sx="100000" sy="100000" kx="0" ky="0" algn="bl" rotWithShape="0" blurRad="76200" dist="25400" dir="2700000">
              <a:srgbClr val="000000">
                <a:alpha val="10000"/>
              </a:srgbClr>
            </a:outerShdw>
          </a:effectLst>
        </p:spPr>
      </p:sp>
      <p:sp>
        <p:nvSpPr>
          <p:cNvPr id="23" name="Shape 19"/>
          <p:cNvSpPr/>
          <p:nvPr/>
        </p:nvSpPr>
        <p:spPr>
          <a:xfrm>
            <a:off x="7109460" y="1920240"/>
            <a:ext cx="548640" cy="548640"/>
          </a:xfrm>
          <a:prstGeom prst="ellipse">
            <a:avLst/>
          </a:prstGeom>
          <a:solidFill>
            <a:srgbClr val="FBEAE2"/>
          </a:solidFill>
          <a:ln w="12700">
            <a:solidFill>
              <a:srgbClr val="FBEAE2"/>
            </a:solidFill>
            <a:prstDash val="solid"/>
          </a:ln>
        </p:spPr>
      </p:sp>
      <p:pic>
        <p:nvPicPr>
          <p:cNvPr id="24" name="Image 2" descr="preencoded.png">    </p:cNvPr>
          <p:cNvPicPr>
            <a:picLocks noChangeAspect="1"/>
          </p:cNvPicPr>
          <p:nvPr/>
        </p:nvPicPr>
        <p:blipFill>
          <a:blip r:embed="rId3"/>
          <a:stretch>
            <a:fillRect/>
          </a:stretch>
        </p:blipFill>
        <p:spPr>
          <a:xfrm>
            <a:off x="7230161" y="2040941"/>
            <a:ext cx="307238" cy="307238"/>
          </a:xfrm>
          <a:prstGeom prst="rect">
            <a:avLst/>
          </a:prstGeom>
        </p:spPr>
      </p:pic>
      <p:sp>
        <p:nvSpPr>
          <p:cNvPr id="25" name="Text 20"/>
          <p:cNvSpPr/>
          <p:nvPr/>
        </p:nvSpPr>
        <p:spPr>
          <a:xfrm>
            <a:off x="6071616" y="2560320"/>
            <a:ext cx="2624328" cy="365760"/>
          </a:xfrm>
          <a:prstGeom prst="rect">
            <a:avLst/>
          </a:prstGeom>
          <a:noFill/>
          <a:ln/>
        </p:spPr>
        <p:txBody>
          <a:bodyPr wrap="square" lIns="0" tIns="0" rIns="0" bIns="0" rtlCol="0" anchor="ctr"/>
          <a:lstStyle/>
          <a:p>
            <a:pPr algn="ctr" indent="0" marL="0">
              <a:buNone/>
            </a:pPr>
            <a:r>
              <a:rPr lang="en-US" sz="1800" b="1" dirty="0">
                <a:solidFill>
                  <a:srgbClr val="1A1A1A"/>
                </a:solidFill>
                <a:latin typeface="Calibri" pitchFamily="34" charset="0"/>
                <a:ea typeface="Calibri" pitchFamily="34" charset="-122"/>
                <a:cs typeface="Calibri" pitchFamily="34" charset="-120"/>
              </a:rPr>
              <a:t>Intelligence</a:t>
            </a:r>
            <a:endParaRPr lang="en-US" sz="1800" dirty="0"/>
          </a:p>
        </p:txBody>
      </p:sp>
      <p:sp>
        <p:nvSpPr>
          <p:cNvPr id="26" name="Text 21"/>
          <p:cNvSpPr/>
          <p:nvPr/>
        </p:nvSpPr>
        <p:spPr>
          <a:xfrm>
            <a:off x="6071616" y="2944368"/>
            <a:ext cx="2624328" cy="274320"/>
          </a:xfrm>
          <a:prstGeom prst="rect">
            <a:avLst/>
          </a:prstGeom>
          <a:noFill/>
          <a:ln/>
        </p:spPr>
        <p:txBody>
          <a:bodyPr wrap="square" lIns="0" tIns="0" rIns="0" bIns="0" rtlCol="0" anchor="ctr"/>
          <a:lstStyle/>
          <a:p>
            <a:pPr algn="ctr" indent="0" marL="0">
              <a:buNone/>
            </a:pPr>
            <a:r>
              <a:rPr lang="en-US" sz="1200" b="1" dirty="0">
                <a:solidFill>
                  <a:srgbClr val="D94F1E"/>
                </a:solidFill>
                <a:latin typeface="Calibri" pitchFamily="34" charset="0"/>
                <a:ea typeface="Calibri" pitchFamily="34" charset="-122"/>
                <a:cs typeface="Calibri" pitchFamily="34" charset="-120"/>
              </a:rPr>
              <a:t>Data-driven &amp; scalable</a:t>
            </a:r>
            <a:endParaRPr lang="en-US" sz="1200" dirty="0"/>
          </a:p>
        </p:txBody>
      </p:sp>
      <p:sp>
        <p:nvSpPr>
          <p:cNvPr id="27" name="Text 22"/>
          <p:cNvSpPr/>
          <p:nvPr/>
        </p:nvSpPr>
        <p:spPr>
          <a:xfrm>
            <a:off x="6272784" y="3310128"/>
            <a:ext cx="2221992" cy="1005840"/>
          </a:xfrm>
          <a:prstGeom prst="rect">
            <a:avLst/>
          </a:prstGeom>
          <a:noFill/>
          <a:ln/>
        </p:spPr>
        <p:txBody>
          <a:bodyPr wrap="square" lIns="0" tIns="0" rIns="0" bIns="0" rtlCol="0" anchor="t"/>
          <a:lstStyle/>
          <a:p>
            <a:pPr algn="ctr" indent="0" marL="0">
              <a:lnSpc>
                <a:spcPct val="105000"/>
              </a:lnSpc>
              <a:buNone/>
            </a:pPr>
            <a:r>
              <a:rPr lang="en-US" sz="1100" dirty="0">
                <a:solidFill>
                  <a:srgbClr val="5F5E5A"/>
                </a:solidFill>
                <a:latin typeface="Calibri" pitchFamily="34" charset="0"/>
                <a:ea typeface="Calibri" pitchFamily="34" charset="-122"/>
                <a:cs typeface="Calibri" pitchFamily="34" charset="-120"/>
              </a:rPr>
              <a:t>One platform that grows with you — from real-time monitoring today to autonomous optimization and VPP participation tomorrow.</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3139"/>
        </a:solidFill>
      </p:bgPr>
    </p:bg>
    <p:spTree>
      <p:nvGrpSpPr>
        <p:cNvPr id="1" name=""/>
        <p:cNvGrpSpPr/>
        <p:nvPr/>
      </p:nvGrpSpPr>
      <p:grpSpPr>
        <a:xfrm>
          <a:off x="0" y="0"/>
          <a:ext cx="0" cy="0"/>
          <a:chOff x="0" y="0"/>
          <a:chExt cx="0" cy="0"/>
        </a:xfrm>
      </p:grpSpPr>
      <p:sp>
        <p:nvSpPr>
          <p:cNvPr id="2" name="Shape 0"/>
          <p:cNvSpPr/>
          <p:nvPr/>
        </p:nvSpPr>
        <p:spPr>
          <a:xfrm>
            <a:off x="6949440" y="-1280160"/>
            <a:ext cx="4206240" cy="4206240"/>
          </a:xfrm>
          <a:prstGeom prst="ellipse">
            <a:avLst/>
          </a:prstGeom>
          <a:solidFill>
            <a:srgbClr val="1C5260">
              <a:alpha val="65000"/>
            </a:srgbClr>
          </a:solidFill>
          <a:ln/>
        </p:spPr>
      </p:sp>
      <p:sp>
        <p:nvSpPr>
          <p:cNvPr id="3" name="Shape 1"/>
          <p:cNvSpPr/>
          <p:nvPr/>
        </p:nvSpPr>
        <p:spPr>
          <a:xfrm>
            <a:off x="8138160" y="2377440"/>
            <a:ext cx="2194560" cy="2194560"/>
          </a:xfrm>
          <a:prstGeom prst="ellipse">
            <a:avLst/>
          </a:prstGeom>
          <a:solidFill>
            <a:srgbClr val="2B7A8C">
              <a:alpha val="30000"/>
            </a:srgbClr>
          </a:solidFill>
          <a:ln/>
        </p:spPr>
      </p:sp>
      <p:sp>
        <p:nvSpPr>
          <p:cNvPr id="4" name="Shape 2"/>
          <p:cNvSpPr/>
          <p:nvPr/>
        </p:nvSpPr>
        <p:spPr>
          <a:xfrm>
            <a:off x="640080" y="1874520"/>
            <a:ext cx="457200" cy="64008"/>
          </a:xfrm>
          <a:prstGeom prst="rect">
            <a:avLst/>
          </a:prstGeom>
          <a:solidFill>
            <a:srgbClr val="D94F1E"/>
          </a:solidFill>
          <a:ln w="12700">
            <a:solidFill>
              <a:srgbClr val="D94F1E"/>
            </a:solidFill>
            <a:prstDash val="solid"/>
          </a:ln>
        </p:spPr>
      </p:sp>
      <p:sp>
        <p:nvSpPr>
          <p:cNvPr id="5" name="Text 3"/>
          <p:cNvSpPr/>
          <p:nvPr/>
        </p:nvSpPr>
        <p:spPr>
          <a:xfrm>
            <a:off x="640080" y="1325880"/>
            <a:ext cx="2743200" cy="457200"/>
          </a:xfrm>
          <a:prstGeom prst="rect">
            <a:avLst/>
          </a:prstGeom>
          <a:noFill/>
          <a:ln/>
        </p:spPr>
        <p:txBody>
          <a:bodyPr wrap="square" lIns="0" tIns="0" rIns="0" bIns="0" rtlCol="0" anchor="ctr"/>
          <a:lstStyle/>
          <a:p>
            <a:pPr indent="0" marL="0">
              <a:buNone/>
            </a:pPr>
            <a:r>
              <a:rPr lang="en-US" sz="1400" spc="300" kern="0" dirty="0">
                <a:solidFill>
                  <a:srgbClr val="BFE0DE"/>
                </a:solidFill>
                <a:latin typeface="Calibri" pitchFamily="34" charset="0"/>
                <a:ea typeface="Calibri" pitchFamily="34" charset="-122"/>
                <a:cs typeface="Calibri" pitchFamily="34" charset="-120"/>
              </a:rPr>
              <a:t>Section 02</a:t>
            </a:r>
            <a:endParaRPr lang="en-US" sz="1400" dirty="0"/>
          </a:p>
        </p:txBody>
      </p:sp>
      <p:sp>
        <p:nvSpPr>
          <p:cNvPr id="6" name="Text 4"/>
          <p:cNvSpPr/>
          <p:nvPr/>
        </p:nvSpPr>
        <p:spPr>
          <a:xfrm>
            <a:off x="640080" y="2011680"/>
            <a:ext cx="7680960" cy="109728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Our Working Assumptions</a:t>
            </a:r>
            <a:endParaRPr lang="en-US" sz="4200" dirty="0"/>
          </a:p>
        </p:txBody>
      </p:sp>
      <p:sp>
        <p:nvSpPr>
          <p:cNvPr id="7" name="Text 5"/>
          <p:cNvSpPr/>
          <p:nvPr/>
        </p:nvSpPr>
        <p:spPr>
          <a:xfrm>
            <a:off x="658368" y="3063240"/>
            <a:ext cx="6949440" cy="457200"/>
          </a:xfrm>
          <a:prstGeom prst="rect">
            <a:avLst/>
          </a:prstGeom>
          <a:noFill/>
          <a:ln/>
        </p:spPr>
        <p:txBody>
          <a:bodyPr wrap="square" lIns="0" tIns="0" rIns="0" bIns="0" rtlCol="0" anchor="ctr"/>
          <a:lstStyle/>
          <a:p>
            <a:pPr indent="0" marL="0">
              <a:buNone/>
            </a:pPr>
            <a:r>
              <a:rPr lang="en-US" sz="1500" i="1" dirty="0">
                <a:solidFill>
                  <a:srgbClr val="BFE0DE"/>
                </a:solidFill>
                <a:latin typeface="Calibri" pitchFamily="34" charset="0"/>
                <a:ea typeface="Calibri" pitchFamily="34" charset="-122"/>
                <a:cs typeface="Calibri" pitchFamily="34" charset="-120"/>
              </a:rPr>
              <a:t>What we treat as confirmed, and what we design around — to be validated together</a:t>
            </a:r>
            <a:endParaRPr lang="en-US" sz="1500" dirty="0"/>
          </a:p>
        </p:txBody>
      </p:sp>
      <p:sp>
        <p:nvSpPr>
          <p:cNvPr id="8" name="Text 6"/>
          <p:cNvSpPr/>
          <p:nvPr/>
        </p:nvSpPr>
        <p:spPr>
          <a:xfrm>
            <a:off x="640080" y="4572000"/>
            <a:ext cx="20116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Survalent</a:t>
            </a:r>
            <a:pPr indent="0" marL="0">
              <a:buNone/>
            </a:pPr>
            <a:r>
              <a:rPr lang="en-US" sz="1300" b="1" dirty="0">
                <a:solidFill>
                  <a:srgbClr val="D94F1E"/>
                </a:solidFill>
                <a:latin typeface="Calibri" pitchFamily="34" charset="0"/>
                <a:ea typeface="Calibri" pitchFamily="34" charset="-122"/>
                <a:cs typeface="Calibri" pitchFamily="34" charset="-120"/>
              </a:rPr>
              <a: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 cy="384048"/>
          </a:xfrm>
          <a:prstGeom prst="rect">
            <a:avLst/>
          </a:prstGeom>
          <a:solidFill>
            <a:srgbClr val="D94F1E"/>
          </a:solidFill>
          <a:ln w="12700">
            <a:solidFill>
              <a:srgbClr val="D94F1E"/>
            </a:solidFill>
            <a:prstDash val="solid"/>
          </a:ln>
        </p:spPr>
      </p:sp>
      <p:sp>
        <p:nvSpPr>
          <p:cNvPr id="3" name="Text 1"/>
          <p:cNvSpPr/>
          <p:nvPr/>
        </p:nvSpPr>
        <p:spPr>
          <a:xfrm>
            <a:off x="502920" y="146304"/>
            <a:ext cx="8229600" cy="658368"/>
          </a:xfrm>
          <a:prstGeom prst="rect">
            <a:avLst/>
          </a:prstGeom>
          <a:noFill/>
          <a:ln/>
        </p:spPr>
        <p:txBody>
          <a:bodyPr wrap="square" lIns="0" tIns="0" rIns="0" bIns="0" rtlCol="0" anchor="ctr"/>
          <a:lstStyle/>
          <a:p>
            <a:pPr indent="0" marL="0">
              <a:buNone/>
            </a:pPr>
            <a:r>
              <a:rPr lang="en-US" sz="3000" b="1" dirty="0">
                <a:solidFill>
                  <a:srgbClr val="2B7A8C"/>
                </a:solidFill>
                <a:latin typeface="Calibri" pitchFamily="34" charset="0"/>
                <a:ea typeface="Calibri" pitchFamily="34" charset="-122"/>
                <a:cs typeface="Calibri" pitchFamily="34" charset="-120"/>
              </a:rPr>
              <a:t>Assumptions &amp; Design Basis</a:t>
            </a:r>
            <a:endParaRPr lang="en-US" sz="3000" dirty="0"/>
          </a:p>
        </p:txBody>
      </p:sp>
      <p:sp>
        <p:nvSpPr>
          <p:cNvPr id="4" name="Shape 2"/>
          <p:cNvSpPr/>
          <p:nvPr/>
        </p:nvSpPr>
        <p:spPr>
          <a:xfrm>
            <a:off x="365760" y="4736592"/>
            <a:ext cx="8412480" cy="0"/>
          </a:xfrm>
          <a:prstGeom prst="line">
            <a:avLst/>
          </a:prstGeom>
          <a:noFill/>
          <a:ln w="12700">
            <a:solidFill>
              <a:srgbClr val="E2E2E0"/>
            </a:solidFill>
            <a:prstDash val="solid"/>
          </a:ln>
        </p:spPr>
      </p:sp>
      <p:sp>
        <p:nvSpPr>
          <p:cNvPr id="5" name="Text 3"/>
          <p:cNvSpPr/>
          <p:nvPr/>
        </p:nvSpPr>
        <p:spPr>
          <a:xfrm>
            <a:off x="365760" y="4773168"/>
            <a:ext cx="2011680" cy="27432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Survalent</a:t>
            </a:r>
            <a:pPr indent="0" marL="0">
              <a:buNone/>
            </a:pPr>
            <a:r>
              <a:rPr lang="en-US" sz="1300" b="1" dirty="0">
                <a:solidFill>
                  <a:srgbClr val="D94F1E"/>
                </a:solidFill>
                <a:latin typeface="Calibri" pitchFamily="34" charset="0"/>
                <a:ea typeface="Calibri" pitchFamily="34" charset="-122"/>
                <a:cs typeface="Calibri" pitchFamily="34" charset="-120"/>
              </a:rPr>
              <a:t>.</a:t>
            </a:r>
            <a:endParaRPr lang="en-US" sz="1300" dirty="0"/>
          </a:p>
        </p:txBody>
      </p:sp>
      <p:sp>
        <p:nvSpPr>
          <p:cNvPr id="6" name="Text 4"/>
          <p:cNvSpPr/>
          <p:nvPr/>
        </p:nvSpPr>
        <p:spPr>
          <a:xfrm>
            <a:off x="2926080" y="4809744"/>
            <a:ext cx="3291840" cy="237744"/>
          </a:xfrm>
          <a:prstGeom prst="rect">
            <a:avLst/>
          </a:prstGeom>
          <a:noFill/>
          <a:ln/>
        </p:spPr>
        <p:txBody>
          <a:bodyPr wrap="square" lIns="0" tIns="0" rIns="0" bIns="0" rtlCol="0" anchor="ctr"/>
          <a:lstStyle/>
          <a:p>
            <a:pPr algn="ctr" indent="0" marL="0">
              <a:buNone/>
            </a:pPr>
            <a:r>
              <a:rPr lang="en-US" sz="800" spc="200" kern="0" dirty="0">
                <a:solidFill>
                  <a:srgbClr val="8A8A85"/>
                </a:solidFill>
              </a:rPr>
              <a:t>Confidential &amp; Proprietary</a:t>
            </a:r>
            <a:endParaRPr lang="en-US" sz="800" dirty="0"/>
          </a:p>
        </p:txBody>
      </p:sp>
      <p:sp>
        <p:nvSpPr>
          <p:cNvPr id="7" name="Text 5"/>
          <p:cNvSpPr/>
          <p:nvPr/>
        </p:nvSpPr>
        <p:spPr>
          <a:xfrm>
            <a:off x="8229600" y="4809744"/>
            <a:ext cx="548640" cy="237744"/>
          </a:xfrm>
          <a:prstGeom prst="rect">
            <a:avLst/>
          </a:prstGeom>
          <a:noFill/>
          <a:ln/>
        </p:spPr>
        <p:txBody>
          <a:bodyPr wrap="square" lIns="0" tIns="0" rIns="0" bIns="0" rtlCol="0" anchor="ctr"/>
          <a:lstStyle/>
          <a:p>
            <a:pPr algn="r" indent="0" marL="0">
              <a:buNone/>
            </a:pPr>
            <a:r>
              <a:rPr lang="en-US" sz="900" dirty="0">
                <a:solidFill>
                  <a:srgbClr val="8A8A85"/>
                </a:solidFill>
              </a:rPr>
              <a:t>6</a:t>
            </a:r>
            <a:endParaRPr lang="en-US" sz="900" dirty="0"/>
          </a:p>
        </p:txBody>
      </p:sp>
      <p:sp>
        <p:nvSpPr>
          <p:cNvPr id="8" name="Shape 6"/>
          <p:cNvSpPr/>
          <p:nvPr/>
        </p:nvSpPr>
        <p:spPr>
          <a:xfrm>
            <a:off x="457200" y="1005840"/>
            <a:ext cx="3977640" cy="3246120"/>
          </a:xfrm>
          <a:prstGeom prst="roundRect">
            <a:avLst>
              <a:gd name="adj" fmla="val 2254"/>
            </a:avLst>
          </a:prstGeom>
          <a:solidFill>
            <a:srgbClr val="E1EEF0"/>
          </a:solidFill>
          <a:ln w="6350">
            <a:solidFill>
              <a:srgbClr val="9FCAD2"/>
            </a:solidFill>
            <a:prstDash val="solid"/>
          </a:ln>
        </p:spPr>
      </p:sp>
      <p:sp>
        <p:nvSpPr>
          <p:cNvPr id="9" name="Shape 7"/>
          <p:cNvSpPr/>
          <p:nvPr/>
        </p:nvSpPr>
        <p:spPr>
          <a:xfrm>
            <a:off x="640080" y="1170432"/>
            <a:ext cx="384048" cy="384048"/>
          </a:xfrm>
          <a:prstGeom prst="ellipse">
            <a:avLst/>
          </a:prstGeom>
          <a:solidFill>
            <a:srgbClr val="FFFFFF"/>
          </a:solidFill>
          <a:ln w="12700">
            <a:solidFill>
              <a:srgbClr val="FFFFFF"/>
            </a:solidFill>
            <a:prstDash val="solid"/>
          </a:ln>
        </p:spPr>
      </p:sp>
      <p:pic>
        <p:nvPicPr>
          <p:cNvPr id="10" name="Image 0" descr="preencoded.png">    </p:cNvPr>
          <p:cNvPicPr>
            <a:picLocks noChangeAspect="1"/>
          </p:cNvPicPr>
          <p:nvPr/>
        </p:nvPicPr>
        <p:blipFill>
          <a:blip r:embed="rId1"/>
          <a:stretch>
            <a:fillRect/>
          </a:stretch>
        </p:blipFill>
        <p:spPr>
          <a:xfrm>
            <a:off x="724571" y="1254923"/>
            <a:ext cx="215067" cy="215067"/>
          </a:xfrm>
          <a:prstGeom prst="rect">
            <a:avLst/>
          </a:prstGeom>
        </p:spPr>
      </p:pic>
      <p:sp>
        <p:nvSpPr>
          <p:cNvPr id="11" name="Text 8"/>
          <p:cNvSpPr/>
          <p:nvPr/>
        </p:nvSpPr>
        <p:spPr>
          <a:xfrm>
            <a:off x="1133856" y="1170432"/>
            <a:ext cx="3108960" cy="384048"/>
          </a:xfrm>
          <a:prstGeom prst="rect">
            <a:avLst/>
          </a:prstGeom>
          <a:noFill/>
          <a:ln/>
        </p:spPr>
        <p:txBody>
          <a:bodyPr wrap="square" lIns="0" tIns="0" rIns="0" bIns="0" rtlCol="0" anchor="ctr"/>
          <a:lstStyle/>
          <a:p>
            <a:pPr indent="0" marL="0">
              <a:buNone/>
            </a:pPr>
            <a:r>
              <a:rPr lang="en-US" sz="1600" b="1" dirty="0">
                <a:solidFill>
                  <a:srgbClr val="1C5260"/>
                </a:solidFill>
                <a:latin typeface="Calibri" pitchFamily="34" charset="0"/>
                <a:ea typeface="Calibri" pitchFamily="34" charset="-122"/>
                <a:cs typeface="Calibri" pitchFamily="34" charset="-120"/>
              </a:rPr>
              <a:t>Confirmed</a:t>
            </a:r>
            <a:endParaRPr lang="en-US" sz="1600" dirty="0"/>
          </a:p>
        </p:txBody>
      </p:sp>
      <p:sp>
        <p:nvSpPr>
          <p:cNvPr id="12" name="Shape 9"/>
          <p:cNvSpPr/>
          <p:nvPr/>
        </p:nvSpPr>
        <p:spPr>
          <a:xfrm>
            <a:off x="713232" y="1819656"/>
            <a:ext cx="91440" cy="91440"/>
          </a:xfrm>
          <a:prstGeom prst="ellipse">
            <a:avLst/>
          </a:prstGeom>
          <a:solidFill>
            <a:srgbClr val="2B7A8C"/>
          </a:solidFill>
          <a:ln w="12700">
            <a:solidFill>
              <a:srgbClr val="2B7A8C"/>
            </a:solidFill>
            <a:prstDash val="solid"/>
          </a:ln>
        </p:spPr>
      </p:sp>
      <p:sp>
        <p:nvSpPr>
          <p:cNvPr id="13" name="Text 10"/>
          <p:cNvSpPr/>
          <p:nvPr/>
        </p:nvSpPr>
        <p:spPr>
          <a:xfrm>
            <a:off x="896112" y="1755648"/>
            <a:ext cx="3383280" cy="365760"/>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Fully greenfield development — 750 ha</a:t>
            </a:r>
            <a:endParaRPr lang="en-US" sz="1150" dirty="0"/>
          </a:p>
        </p:txBody>
      </p:sp>
      <p:sp>
        <p:nvSpPr>
          <p:cNvPr id="14" name="Shape 11"/>
          <p:cNvSpPr/>
          <p:nvPr/>
        </p:nvSpPr>
        <p:spPr>
          <a:xfrm>
            <a:off x="713232" y="2221992"/>
            <a:ext cx="91440" cy="91440"/>
          </a:xfrm>
          <a:prstGeom prst="ellipse">
            <a:avLst/>
          </a:prstGeom>
          <a:solidFill>
            <a:srgbClr val="2B7A8C"/>
          </a:solidFill>
          <a:ln w="12700">
            <a:solidFill>
              <a:srgbClr val="2B7A8C"/>
            </a:solidFill>
            <a:prstDash val="solid"/>
          </a:ln>
        </p:spPr>
      </p:sp>
      <p:sp>
        <p:nvSpPr>
          <p:cNvPr id="15" name="Text 12"/>
          <p:cNvSpPr/>
          <p:nvPr/>
        </p:nvSpPr>
        <p:spPr>
          <a:xfrm>
            <a:off x="896112" y="2157984"/>
            <a:ext cx="3383280" cy="365760"/>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3 × 110/22kV substations (2×80 MVA each)</a:t>
            </a:r>
            <a:endParaRPr lang="en-US" sz="1150" dirty="0"/>
          </a:p>
        </p:txBody>
      </p:sp>
      <p:sp>
        <p:nvSpPr>
          <p:cNvPr id="16" name="Shape 13"/>
          <p:cNvSpPr/>
          <p:nvPr/>
        </p:nvSpPr>
        <p:spPr>
          <a:xfrm>
            <a:off x="713232" y="2624328"/>
            <a:ext cx="91440" cy="91440"/>
          </a:xfrm>
          <a:prstGeom prst="ellipse">
            <a:avLst/>
          </a:prstGeom>
          <a:solidFill>
            <a:srgbClr val="2B7A8C"/>
          </a:solidFill>
          <a:ln w="12700">
            <a:solidFill>
              <a:srgbClr val="2B7A8C"/>
            </a:solidFill>
            <a:prstDash val="solid"/>
          </a:ln>
        </p:spPr>
      </p:sp>
      <p:sp>
        <p:nvSpPr>
          <p:cNvPr id="17" name="Text 14"/>
          <p:cNvSpPr/>
          <p:nvPr/>
        </p:nvSpPr>
        <p:spPr>
          <a:xfrm>
            <a:off x="896112" y="2560320"/>
            <a:ext cx="3383280" cy="365760"/>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22kV grid: reclosers, LBS, RMUs</a:t>
            </a:r>
            <a:endParaRPr lang="en-US" sz="1150" dirty="0"/>
          </a:p>
        </p:txBody>
      </p:sp>
      <p:sp>
        <p:nvSpPr>
          <p:cNvPr id="18" name="Shape 15"/>
          <p:cNvSpPr/>
          <p:nvPr/>
        </p:nvSpPr>
        <p:spPr>
          <a:xfrm>
            <a:off x="713232" y="3026664"/>
            <a:ext cx="91440" cy="91440"/>
          </a:xfrm>
          <a:prstGeom prst="ellipse">
            <a:avLst/>
          </a:prstGeom>
          <a:solidFill>
            <a:srgbClr val="2B7A8C"/>
          </a:solidFill>
          <a:ln w="12700">
            <a:solidFill>
              <a:srgbClr val="2B7A8C"/>
            </a:solidFill>
            <a:prstDash val="solid"/>
          </a:ln>
        </p:spPr>
      </p:sp>
      <p:sp>
        <p:nvSpPr>
          <p:cNvPr id="19" name="Text 16"/>
          <p:cNvSpPr/>
          <p:nvPr/>
        </p:nvSpPr>
        <p:spPr>
          <a:xfrm>
            <a:off x="896112" y="2962656"/>
            <a:ext cx="3383280" cy="365760"/>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187 MW distributed RTS on tenant roofs</a:t>
            </a:r>
            <a:endParaRPr lang="en-US" sz="1150" dirty="0"/>
          </a:p>
        </p:txBody>
      </p:sp>
      <p:sp>
        <p:nvSpPr>
          <p:cNvPr id="20" name="Shape 17"/>
          <p:cNvSpPr/>
          <p:nvPr/>
        </p:nvSpPr>
        <p:spPr>
          <a:xfrm>
            <a:off x="713232" y="3429000"/>
            <a:ext cx="91440" cy="91440"/>
          </a:xfrm>
          <a:prstGeom prst="ellipse">
            <a:avLst/>
          </a:prstGeom>
          <a:solidFill>
            <a:srgbClr val="2B7A8C"/>
          </a:solidFill>
          <a:ln w="12700">
            <a:solidFill>
              <a:srgbClr val="2B7A8C"/>
            </a:solidFill>
            <a:prstDash val="solid"/>
          </a:ln>
        </p:spPr>
      </p:sp>
      <p:sp>
        <p:nvSpPr>
          <p:cNvPr id="21" name="Text 18"/>
          <p:cNvSpPr/>
          <p:nvPr/>
        </p:nvSpPr>
        <p:spPr>
          <a:xfrm>
            <a:off x="896112" y="3364992"/>
            <a:ext cx="3383280" cy="365760"/>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Centralized BESS, 50–100 MWh</a:t>
            </a:r>
            <a:endParaRPr lang="en-US" sz="1150" dirty="0"/>
          </a:p>
        </p:txBody>
      </p:sp>
      <p:sp>
        <p:nvSpPr>
          <p:cNvPr id="22" name="Shape 19"/>
          <p:cNvSpPr/>
          <p:nvPr/>
        </p:nvSpPr>
        <p:spPr>
          <a:xfrm>
            <a:off x="713232" y="3831336"/>
            <a:ext cx="91440" cy="91440"/>
          </a:xfrm>
          <a:prstGeom prst="ellipse">
            <a:avLst/>
          </a:prstGeom>
          <a:solidFill>
            <a:srgbClr val="2B7A8C"/>
          </a:solidFill>
          <a:ln w="12700">
            <a:solidFill>
              <a:srgbClr val="2B7A8C"/>
            </a:solidFill>
            <a:prstDash val="solid"/>
          </a:ln>
        </p:spPr>
      </p:sp>
      <p:sp>
        <p:nvSpPr>
          <p:cNvPr id="23" name="Text 20"/>
          <p:cNvSpPr/>
          <p:nvPr/>
        </p:nvSpPr>
        <p:spPr>
          <a:xfrm>
            <a:off x="896112" y="3767328"/>
            <a:ext cx="3383280" cy="365760"/>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Construction start Q4 2026</a:t>
            </a:r>
            <a:endParaRPr lang="en-US" sz="1150" dirty="0"/>
          </a:p>
        </p:txBody>
      </p:sp>
      <p:sp>
        <p:nvSpPr>
          <p:cNvPr id="24" name="Shape 21"/>
          <p:cNvSpPr/>
          <p:nvPr/>
        </p:nvSpPr>
        <p:spPr>
          <a:xfrm>
            <a:off x="4709160" y="1005840"/>
            <a:ext cx="3977640" cy="3246120"/>
          </a:xfrm>
          <a:prstGeom prst="roundRect">
            <a:avLst>
              <a:gd name="adj" fmla="val 2254"/>
            </a:avLst>
          </a:prstGeom>
          <a:solidFill>
            <a:srgbClr val="FBEAE2"/>
          </a:solidFill>
          <a:ln w="6350">
            <a:solidFill>
              <a:srgbClr val="EBB59F"/>
            </a:solidFill>
            <a:prstDash val="solid"/>
          </a:ln>
        </p:spPr>
      </p:sp>
      <p:sp>
        <p:nvSpPr>
          <p:cNvPr id="25" name="Shape 22"/>
          <p:cNvSpPr/>
          <p:nvPr/>
        </p:nvSpPr>
        <p:spPr>
          <a:xfrm>
            <a:off x="4892040" y="1170432"/>
            <a:ext cx="384048" cy="384048"/>
          </a:xfrm>
          <a:prstGeom prst="ellipse">
            <a:avLst/>
          </a:prstGeom>
          <a:solidFill>
            <a:srgbClr val="FFFFFF"/>
          </a:solidFill>
          <a:ln w="12700">
            <a:solidFill>
              <a:srgbClr val="FFFFFF"/>
            </a:solidFill>
            <a:prstDash val="solid"/>
          </a:ln>
        </p:spPr>
      </p:sp>
      <p:pic>
        <p:nvPicPr>
          <p:cNvPr id="26" name="Image 1" descr="preencoded.png">    </p:cNvPr>
          <p:cNvPicPr>
            <a:picLocks noChangeAspect="1"/>
          </p:cNvPicPr>
          <p:nvPr/>
        </p:nvPicPr>
        <p:blipFill>
          <a:blip r:embed="rId2"/>
          <a:stretch>
            <a:fillRect/>
          </a:stretch>
        </p:blipFill>
        <p:spPr>
          <a:xfrm>
            <a:off x="4976531" y="1254923"/>
            <a:ext cx="215067" cy="215067"/>
          </a:xfrm>
          <a:prstGeom prst="rect">
            <a:avLst/>
          </a:prstGeom>
        </p:spPr>
      </p:pic>
      <p:sp>
        <p:nvSpPr>
          <p:cNvPr id="27" name="Text 23"/>
          <p:cNvSpPr/>
          <p:nvPr/>
        </p:nvSpPr>
        <p:spPr>
          <a:xfrm>
            <a:off x="5385816" y="1170432"/>
            <a:ext cx="3108960" cy="384048"/>
          </a:xfrm>
          <a:prstGeom prst="rect">
            <a:avLst/>
          </a:prstGeom>
          <a:noFill/>
          <a:ln/>
        </p:spPr>
        <p:txBody>
          <a:bodyPr wrap="square" lIns="0" tIns="0" rIns="0" bIns="0" rtlCol="0" anchor="ctr"/>
          <a:lstStyle/>
          <a:p>
            <a:pPr indent="0" marL="0">
              <a:buNone/>
            </a:pPr>
            <a:r>
              <a:rPr lang="en-US" sz="1600" b="1" dirty="0">
                <a:solidFill>
                  <a:srgbClr val="A53A14"/>
                </a:solidFill>
                <a:latin typeface="Calibri" pitchFamily="34" charset="0"/>
                <a:ea typeface="Calibri" pitchFamily="34" charset="-122"/>
                <a:cs typeface="Calibri" pitchFamily="34" charset="-120"/>
              </a:rPr>
              <a:t>Our Assumptions</a:t>
            </a:r>
            <a:endParaRPr lang="en-US" sz="1600" dirty="0"/>
          </a:p>
        </p:txBody>
      </p:sp>
      <p:sp>
        <p:nvSpPr>
          <p:cNvPr id="28" name="Shape 24"/>
          <p:cNvSpPr/>
          <p:nvPr/>
        </p:nvSpPr>
        <p:spPr>
          <a:xfrm>
            <a:off x="4965192" y="1819656"/>
            <a:ext cx="91440" cy="91440"/>
          </a:xfrm>
          <a:prstGeom prst="ellipse">
            <a:avLst/>
          </a:prstGeom>
          <a:solidFill>
            <a:srgbClr val="D94F1E"/>
          </a:solidFill>
          <a:ln w="12700">
            <a:solidFill>
              <a:srgbClr val="D94F1E"/>
            </a:solidFill>
            <a:prstDash val="solid"/>
          </a:ln>
        </p:spPr>
      </p:sp>
      <p:sp>
        <p:nvSpPr>
          <p:cNvPr id="29" name="Text 25"/>
          <p:cNvSpPr/>
          <p:nvPr/>
        </p:nvSpPr>
        <p:spPr>
          <a:xfrm>
            <a:off x="5148072" y="1755648"/>
            <a:ext cx="3429000" cy="365760"/>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No legacy ADMS — clean-slate design</a:t>
            </a:r>
            <a:endParaRPr lang="en-US" sz="1150" dirty="0"/>
          </a:p>
        </p:txBody>
      </p:sp>
      <p:sp>
        <p:nvSpPr>
          <p:cNvPr id="30" name="Shape 26"/>
          <p:cNvSpPr/>
          <p:nvPr/>
        </p:nvSpPr>
        <p:spPr>
          <a:xfrm>
            <a:off x="4965192" y="2221992"/>
            <a:ext cx="91440" cy="91440"/>
          </a:xfrm>
          <a:prstGeom prst="ellipse">
            <a:avLst/>
          </a:prstGeom>
          <a:solidFill>
            <a:srgbClr val="D94F1E"/>
          </a:solidFill>
          <a:ln w="12700">
            <a:solidFill>
              <a:srgbClr val="D94F1E"/>
            </a:solidFill>
            <a:prstDash val="solid"/>
          </a:ln>
        </p:spPr>
      </p:sp>
      <p:sp>
        <p:nvSpPr>
          <p:cNvPr id="31" name="Text 27"/>
          <p:cNvSpPr/>
          <p:nvPr/>
        </p:nvSpPr>
        <p:spPr>
          <a:xfrm>
            <a:off x="5148072" y="2157984"/>
            <a:ext cx="3429000" cy="365760"/>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BESS sited at substation level</a:t>
            </a:r>
            <a:endParaRPr lang="en-US" sz="1150" dirty="0"/>
          </a:p>
        </p:txBody>
      </p:sp>
      <p:sp>
        <p:nvSpPr>
          <p:cNvPr id="32" name="Shape 28"/>
          <p:cNvSpPr/>
          <p:nvPr/>
        </p:nvSpPr>
        <p:spPr>
          <a:xfrm>
            <a:off x="4965192" y="2624328"/>
            <a:ext cx="91440" cy="91440"/>
          </a:xfrm>
          <a:prstGeom prst="ellipse">
            <a:avLst/>
          </a:prstGeom>
          <a:solidFill>
            <a:srgbClr val="D94F1E"/>
          </a:solidFill>
          <a:ln w="12700">
            <a:solidFill>
              <a:srgbClr val="D94F1E"/>
            </a:solidFill>
            <a:prstDash val="solid"/>
          </a:ln>
        </p:spPr>
      </p:sp>
      <p:sp>
        <p:nvSpPr>
          <p:cNvPr id="33" name="Text 29"/>
          <p:cNvSpPr/>
          <p:nvPr/>
        </p:nvSpPr>
        <p:spPr>
          <a:xfrm>
            <a:off x="5148072" y="2560320"/>
            <a:ext cx="3429000" cy="365760"/>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Tenant-owned RTS; VSIP needs grid control</a:t>
            </a:r>
            <a:endParaRPr lang="en-US" sz="1150" dirty="0"/>
          </a:p>
        </p:txBody>
      </p:sp>
      <p:sp>
        <p:nvSpPr>
          <p:cNvPr id="34" name="Shape 30"/>
          <p:cNvSpPr/>
          <p:nvPr/>
        </p:nvSpPr>
        <p:spPr>
          <a:xfrm>
            <a:off x="4965192" y="3026664"/>
            <a:ext cx="91440" cy="91440"/>
          </a:xfrm>
          <a:prstGeom prst="ellipse">
            <a:avLst/>
          </a:prstGeom>
          <a:solidFill>
            <a:srgbClr val="D94F1E"/>
          </a:solidFill>
          <a:ln w="12700">
            <a:solidFill>
              <a:srgbClr val="D94F1E"/>
            </a:solidFill>
            <a:prstDash val="solid"/>
          </a:ln>
        </p:spPr>
      </p:sp>
      <p:sp>
        <p:nvSpPr>
          <p:cNvPr id="35" name="Text 31"/>
          <p:cNvSpPr/>
          <p:nvPr/>
        </p:nvSpPr>
        <p:spPr>
          <a:xfrm>
            <a:off x="5148072" y="2962656"/>
            <a:ext cx="3429000" cy="365760"/>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IEC-104 to controller; Modbus/Sunspec inverters</a:t>
            </a:r>
            <a:endParaRPr lang="en-US" sz="1150" dirty="0"/>
          </a:p>
        </p:txBody>
      </p:sp>
      <p:sp>
        <p:nvSpPr>
          <p:cNvPr id="36" name="Shape 32"/>
          <p:cNvSpPr/>
          <p:nvPr/>
        </p:nvSpPr>
        <p:spPr>
          <a:xfrm>
            <a:off x="4965192" y="3429000"/>
            <a:ext cx="91440" cy="91440"/>
          </a:xfrm>
          <a:prstGeom prst="ellipse">
            <a:avLst/>
          </a:prstGeom>
          <a:solidFill>
            <a:srgbClr val="D94F1E"/>
          </a:solidFill>
          <a:ln w="12700">
            <a:solidFill>
              <a:srgbClr val="D94F1E"/>
            </a:solidFill>
            <a:prstDash val="solid"/>
          </a:ln>
        </p:spPr>
      </p:sp>
      <p:sp>
        <p:nvSpPr>
          <p:cNvPr id="37" name="Text 33"/>
          <p:cNvSpPr/>
          <p:nvPr/>
        </p:nvSpPr>
        <p:spPr>
          <a:xfrm>
            <a:off x="5148072" y="3364992"/>
            <a:ext cx="3429000" cy="365760"/>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VSIP operates the system in-house</a:t>
            </a:r>
            <a:endParaRPr lang="en-US" sz="1150" dirty="0"/>
          </a:p>
        </p:txBody>
      </p:sp>
      <p:sp>
        <p:nvSpPr>
          <p:cNvPr id="38" name="Shape 34"/>
          <p:cNvSpPr/>
          <p:nvPr/>
        </p:nvSpPr>
        <p:spPr>
          <a:xfrm>
            <a:off x="4965192" y="3831336"/>
            <a:ext cx="91440" cy="91440"/>
          </a:xfrm>
          <a:prstGeom prst="ellipse">
            <a:avLst/>
          </a:prstGeom>
          <a:solidFill>
            <a:srgbClr val="D94F1E"/>
          </a:solidFill>
          <a:ln w="12700">
            <a:solidFill>
              <a:srgbClr val="D94F1E"/>
            </a:solidFill>
            <a:prstDash val="solid"/>
          </a:ln>
        </p:spPr>
      </p:sp>
      <p:sp>
        <p:nvSpPr>
          <p:cNvPr id="39" name="Text 35"/>
          <p:cNvSpPr/>
          <p:nvPr/>
        </p:nvSpPr>
        <p:spPr>
          <a:xfrm>
            <a:off x="5148072" y="3767328"/>
            <a:ext cx="3429000" cy="365760"/>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5–7 year phased build-out</a:t>
            </a:r>
            <a:endParaRPr lang="en-US" sz="1150" dirty="0"/>
          </a:p>
        </p:txBody>
      </p:sp>
      <p:sp>
        <p:nvSpPr>
          <p:cNvPr id="40" name="Shape 36"/>
          <p:cNvSpPr/>
          <p:nvPr/>
        </p:nvSpPr>
        <p:spPr>
          <a:xfrm>
            <a:off x="457200" y="4370832"/>
            <a:ext cx="8229600" cy="310896"/>
          </a:xfrm>
          <a:prstGeom prst="roundRect">
            <a:avLst>
              <a:gd name="adj" fmla="val 14706"/>
            </a:avLst>
          </a:prstGeom>
          <a:solidFill>
            <a:srgbClr val="F6F6F4"/>
          </a:solidFill>
          <a:ln w="6350">
            <a:solidFill>
              <a:srgbClr val="CCCCCC"/>
            </a:solidFill>
            <a:prstDash val="solid"/>
          </a:ln>
        </p:spPr>
      </p:sp>
      <p:sp>
        <p:nvSpPr>
          <p:cNvPr id="41" name="Text 37"/>
          <p:cNvSpPr/>
          <p:nvPr/>
        </p:nvSpPr>
        <p:spPr>
          <a:xfrm>
            <a:off x="457200" y="4370832"/>
            <a:ext cx="8229600" cy="310896"/>
          </a:xfrm>
          <a:prstGeom prst="rect">
            <a:avLst/>
          </a:prstGeom>
          <a:noFill/>
          <a:ln/>
        </p:spPr>
        <p:txBody>
          <a:bodyPr wrap="square" lIns="0" tIns="0" rIns="0" bIns="0" rtlCol="0" anchor="ctr"/>
          <a:lstStyle/>
          <a:p>
            <a:pPr algn="ctr" indent="0" marL="0">
              <a:buNone/>
            </a:pPr>
            <a:r>
              <a:rPr lang="en-US" sz="1050" i="1" dirty="0">
                <a:solidFill>
                  <a:srgbClr val="5F5E5A"/>
                </a:solidFill>
                <a:latin typeface="Calibri" pitchFamily="34" charset="0"/>
                <a:ea typeface="Calibri" pitchFamily="34" charset="-122"/>
                <a:cs typeface="Calibri" pitchFamily="34" charset="-120"/>
              </a:rPr>
              <a:t>These assumptions form the basis of our proposed architecture. We will validate and refine them together.</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3139"/>
        </a:solidFill>
      </p:bgPr>
    </p:bg>
    <p:spTree>
      <p:nvGrpSpPr>
        <p:cNvPr id="1" name=""/>
        <p:cNvGrpSpPr/>
        <p:nvPr/>
      </p:nvGrpSpPr>
      <p:grpSpPr>
        <a:xfrm>
          <a:off x="0" y="0"/>
          <a:ext cx="0" cy="0"/>
          <a:chOff x="0" y="0"/>
          <a:chExt cx="0" cy="0"/>
        </a:xfrm>
      </p:grpSpPr>
      <p:sp>
        <p:nvSpPr>
          <p:cNvPr id="2" name="Shape 0"/>
          <p:cNvSpPr/>
          <p:nvPr/>
        </p:nvSpPr>
        <p:spPr>
          <a:xfrm>
            <a:off x="6949440" y="-1280160"/>
            <a:ext cx="4206240" cy="4206240"/>
          </a:xfrm>
          <a:prstGeom prst="ellipse">
            <a:avLst/>
          </a:prstGeom>
          <a:solidFill>
            <a:srgbClr val="1C5260">
              <a:alpha val="65000"/>
            </a:srgbClr>
          </a:solidFill>
          <a:ln/>
        </p:spPr>
      </p:sp>
      <p:sp>
        <p:nvSpPr>
          <p:cNvPr id="3" name="Shape 1"/>
          <p:cNvSpPr/>
          <p:nvPr/>
        </p:nvSpPr>
        <p:spPr>
          <a:xfrm>
            <a:off x="8138160" y="2377440"/>
            <a:ext cx="2194560" cy="2194560"/>
          </a:xfrm>
          <a:prstGeom prst="ellipse">
            <a:avLst/>
          </a:prstGeom>
          <a:solidFill>
            <a:srgbClr val="2B7A8C">
              <a:alpha val="30000"/>
            </a:srgbClr>
          </a:solidFill>
          <a:ln/>
        </p:spPr>
      </p:sp>
      <p:sp>
        <p:nvSpPr>
          <p:cNvPr id="4" name="Shape 2"/>
          <p:cNvSpPr/>
          <p:nvPr/>
        </p:nvSpPr>
        <p:spPr>
          <a:xfrm>
            <a:off x="640080" y="1874520"/>
            <a:ext cx="457200" cy="64008"/>
          </a:xfrm>
          <a:prstGeom prst="rect">
            <a:avLst/>
          </a:prstGeom>
          <a:solidFill>
            <a:srgbClr val="D94F1E"/>
          </a:solidFill>
          <a:ln w="12700">
            <a:solidFill>
              <a:srgbClr val="D94F1E"/>
            </a:solidFill>
            <a:prstDash val="solid"/>
          </a:ln>
        </p:spPr>
      </p:sp>
      <p:sp>
        <p:nvSpPr>
          <p:cNvPr id="5" name="Text 3"/>
          <p:cNvSpPr/>
          <p:nvPr/>
        </p:nvSpPr>
        <p:spPr>
          <a:xfrm>
            <a:off x="640080" y="1325880"/>
            <a:ext cx="2743200" cy="457200"/>
          </a:xfrm>
          <a:prstGeom prst="rect">
            <a:avLst/>
          </a:prstGeom>
          <a:noFill/>
          <a:ln/>
        </p:spPr>
        <p:txBody>
          <a:bodyPr wrap="square" lIns="0" tIns="0" rIns="0" bIns="0" rtlCol="0" anchor="ctr"/>
          <a:lstStyle/>
          <a:p>
            <a:pPr indent="0" marL="0">
              <a:buNone/>
            </a:pPr>
            <a:r>
              <a:rPr lang="en-US" sz="1400" spc="300" kern="0" dirty="0">
                <a:solidFill>
                  <a:srgbClr val="BFE0DE"/>
                </a:solidFill>
                <a:latin typeface="Calibri" pitchFamily="34" charset="0"/>
                <a:ea typeface="Calibri" pitchFamily="34" charset="-122"/>
                <a:cs typeface="Calibri" pitchFamily="34" charset="-120"/>
              </a:rPr>
              <a:t>Section 03</a:t>
            </a:r>
            <a:endParaRPr lang="en-US" sz="1400" dirty="0"/>
          </a:p>
        </p:txBody>
      </p:sp>
      <p:sp>
        <p:nvSpPr>
          <p:cNvPr id="6" name="Text 4"/>
          <p:cNvSpPr/>
          <p:nvPr/>
        </p:nvSpPr>
        <p:spPr>
          <a:xfrm>
            <a:off x="640080" y="2011680"/>
            <a:ext cx="7680960" cy="109728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The Survalent Platform</a:t>
            </a:r>
            <a:endParaRPr lang="en-US" sz="4200" dirty="0"/>
          </a:p>
        </p:txBody>
      </p:sp>
      <p:sp>
        <p:nvSpPr>
          <p:cNvPr id="7" name="Text 5"/>
          <p:cNvSpPr/>
          <p:nvPr/>
        </p:nvSpPr>
        <p:spPr>
          <a:xfrm>
            <a:off x="658368" y="3063240"/>
            <a:ext cx="6949440" cy="457200"/>
          </a:xfrm>
          <a:prstGeom prst="rect">
            <a:avLst/>
          </a:prstGeom>
          <a:noFill/>
          <a:ln/>
        </p:spPr>
        <p:txBody>
          <a:bodyPr wrap="square" lIns="0" tIns="0" rIns="0" bIns="0" rtlCol="0" anchor="ctr"/>
          <a:lstStyle/>
          <a:p>
            <a:pPr indent="0" marL="0">
              <a:buNone/>
            </a:pPr>
            <a:r>
              <a:rPr lang="en-US" sz="1500" i="1" dirty="0">
                <a:solidFill>
                  <a:srgbClr val="BFE0DE"/>
                </a:solidFill>
                <a:latin typeface="Calibri" pitchFamily="34" charset="0"/>
                <a:ea typeface="Calibri" pitchFamily="34" charset="-122"/>
                <a:cs typeface="Calibri" pitchFamily="34" charset="-120"/>
              </a:rPr>
              <a:t>Why a grid-first ADMS + DERMS is the right foundation for VSIP 4</a:t>
            </a:r>
            <a:endParaRPr lang="en-US" sz="1500" dirty="0"/>
          </a:p>
        </p:txBody>
      </p:sp>
      <p:sp>
        <p:nvSpPr>
          <p:cNvPr id="8" name="Text 6"/>
          <p:cNvSpPr/>
          <p:nvPr/>
        </p:nvSpPr>
        <p:spPr>
          <a:xfrm>
            <a:off x="640080" y="4572000"/>
            <a:ext cx="20116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Survalent</a:t>
            </a:r>
            <a:pPr indent="0" marL="0">
              <a:buNone/>
            </a:pPr>
            <a:r>
              <a:rPr lang="en-US" sz="1300" b="1" dirty="0">
                <a:solidFill>
                  <a:srgbClr val="D94F1E"/>
                </a:solidFill>
                <a:latin typeface="Calibri" pitchFamily="34" charset="0"/>
                <a:ea typeface="Calibri" pitchFamily="34" charset="-122"/>
                <a:cs typeface="Calibri" pitchFamily="34" charset="-120"/>
              </a:rPr>
              <a: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 cy="384048"/>
          </a:xfrm>
          <a:prstGeom prst="rect">
            <a:avLst/>
          </a:prstGeom>
          <a:solidFill>
            <a:srgbClr val="D94F1E"/>
          </a:solidFill>
          <a:ln w="12700">
            <a:solidFill>
              <a:srgbClr val="D94F1E"/>
            </a:solidFill>
            <a:prstDash val="solid"/>
          </a:ln>
        </p:spPr>
      </p:sp>
      <p:sp>
        <p:nvSpPr>
          <p:cNvPr id="3" name="Text 1"/>
          <p:cNvSpPr/>
          <p:nvPr/>
        </p:nvSpPr>
        <p:spPr>
          <a:xfrm>
            <a:off x="502920" y="146304"/>
            <a:ext cx="8229600" cy="658368"/>
          </a:xfrm>
          <a:prstGeom prst="rect">
            <a:avLst/>
          </a:prstGeom>
          <a:noFill/>
          <a:ln/>
        </p:spPr>
        <p:txBody>
          <a:bodyPr wrap="square" lIns="0" tIns="0" rIns="0" bIns="0" rtlCol="0" anchor="ctr"/>
          <a:lstStyle/>
          <a:p>
            <a:pPr indent="0" marL="0">
              <a:buNone/>
            </a:pPr>
            <a:r>
              <a:rPr lang="en-US" sz="3000" b="1" dirty="0">
                <a:solidFill>
                  <a:srgbClr val="2B7A8C"/>
                </a:solidFill>
                <a:latin typeface="Calibri" pitchFamily="34" charset="0"/>
                <a:ea typeface="Calibri" pitchFamily="34" charset="-122"/>
                <a:cs typeface="Calibri" pitchFamily="34" charset="-120"/>
              </a:rPr>
              <a:t>Why a Grid-First Platform Matters</a:t>
            </a:r>
            <a:endParaRPr lang="en-US" sz="3000" dirty="0"/>
          </a:p>
        </p:txBody>
      </p:sp>
      <p:sp>
        <p:nvSpPr>
          <p:cNvPr id="4" name="Shape 2"/>
          <p:cNvSpPr/>
          <p:nvPr/>
        </p:nvSpPr>
        <p:spPr>
          <a:xfrm>
            <a:off x="365760" y="4736592"/>
            <a:ext cx="8412480" cy="0"/>
          </a:xfrm>
          <a:prstGeom prst="line">
            <a:avLst/>
          </a:prstGeom>
          <a:noFill/>
          <a:ln w="12700">
            <a:solidFill>
              <a:srgbClr val="E2E2E0"/>
            </a:solidFill>
            <a:prstDash val="solid"/>
          </a:ln>
        </p:spPr>
      </p:sp>
      <p:sp>
        <p:nvSpPr>
          <p:cNvPr id="5" name="Text 3"/>
          <p:cNvSpPr/>
          <p:nvPr/>
        </p:nvSpPr>
        <p:spPr>
          <a:xfrm>
            <a:off x="365760" y="4773168"/>
            <a:ext cx="2011680" cy="27432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Survalent</a:t>
            </a:r>
            <a:pPr indent="0" marL="0">
              <a:buNone/>
            </a:pPr>
            <a:r>
              <a:rPr lang="en-US" sz="1300" b="1" dirty="0">
                <a:solidFill>
                  <a:srgbClr val="D94F1E"/>
                </a:solidFill>
                <a:latin typeface="Calibri" pitchFamily="34" charset="0"/>
                <a:ea typeface="Calibri" pitchFamily="34" charset="-122"/>
                <a:cs typeface="Calibri" pitchFamily="34" charset="-120"/>
              </a:rPr>
              <a:t>.</a:t>
            </a:r>
            <a:endParaRPr lang="en-US" sz="1300" dirty="0"/>
          </a:p>
        </p:txBody>
      </p:sp>
      <p:sp>
        <p:nvSpPr>
          <p:cNvPr id="6" name="Text 4"/>
          <p:cNvSpPr/>
          <p:nvPr/>
        </p:nvSpPr>
        <p:spPr>
          <a:xfrm>
            <a:off x="2926080" y="4809744"/>
            <a:ext cx="3291840" cy="237744"/>
          </a:xfrm>
          <a:prstGeom prst="rect">
            <a:avLst/>
          </a:prstGeom>
          <a:noFill/>
          <a:ln/>
        </p:spPr>
        <p:txBody>
          <a:bodyPr wrap="square" lIns="0" tIns="0" rIns="0" bIns="0" rtlCol="0" anchor="ctr"/>
          <a:lstStyle/>
          <a:p>
            <a:pPr algn="ctr" indent="0" marL="0">
              <a:buNone/>
            </a:pPr>
            <a:r>
              <a:rPr lang="en-US" sz="800" spc="200" kern="0" dirty="0">
                <a:solidFill>
                  <a:srgbClr val="8A8A85"/>
                </a:solidFill>
              </a:rPr>
              <a:t>Confidential &amp; Proprietary</a:t>
            </a:r>
            <a:endParaRPr lang="en-US" sz="800" dirty="0"/>
          </a:p>
        </p:txBody>
      </p:sp>
      <p:sp>
        <p:nvSpPr>
          <p:cNvPr id="7" name="Text 5"/>
          <p:cNvSpPr/>
          <p:nvPr/>
        </p:nvSpPr>
        <p:spPr>
          <a:xfrm>
            <a:off x="8229600" y="4809744"/>
            <a:ext cx="548640" cy="237744"/>
          </a:xfrm>
          <a:prstGeom prst="rect">
            <a:avLst/>
          </a:prstGeom>
          <a:noFill/>
          <a:ln/>
        </p:spPr>
        <p:txBody>
          <a:bodyPr wrap="square" lIns="0" tIns="0" rIns="0" bIns="0" rtlCol="0" anchor="ctr"/>
          <a:lstStyle/>
          <a:p>
            <a:pPr algn="r" indent="0" marL="0">
              <a:buNone/>
            </a:pPr>
            <a:r>
              <a:rPr lang="en-US" sz="900" dirty="0">
                <a:solidFill>
                  <a:srgbClr val="8A8A85"/>
                </a:solidFill>
              </a:rPr>
              <a:t>8</a:t>
            </a:r>
            <a:endParaRPr lang="en-US" sz="900" dirty="0"/>
          </a:p>
        </p:txBody>
      </p:sp>
      <p:sp>
        <p:nvSpPr>
          <p:cNvPr id="8" name="Text 6"/>
          <p:cNvSpPr/>
          <p:nvPr/>
        </p:nvSpPr>
        <p:spPr>
          <a:xfrm>
            <a:off x="502920" y="786384"/>
            <a:ext cx="8229600" cy="457200"/>
          </a:xfrm>
          <a:prstGeom prst="rect">
            <a:avLst/>
          </a:prstGeom>
          <a:noFill/>
          <a:ln/>
        </p:spPr>
        <p:txBody>
          <a:bodyPr wrap="square" lIns="0" tIns="0" rIns="0" bIns="0" rtlCol="0" anchor="ctr"/>
          <a:lstStyle/>
          <a:p>
            <a:pPr indent="0" marL="0">
              <a:buNone/>
            </a:pPr>
            <a:r>
              <a:rPr lang="en-US" sz="1250" dirty="0">
                <a:solidFill>
                  <a:srgbClr val="5F5E5A"/>
                </a:solidFill>
                <a:latin typeface="Calibri" pitchFamily="34" charset="0"/>
                <a:ea typeface="Calibri" pitchFamily="34" charset="-122"/>
                <a:cs typeface="Calibri" pitchFamily="34" charset="-120"/>
              </a:rPr>
              <a:t>187 MW of distributed solar, a centralized BESS, and 200 MW of load cannot be managed by a market-aggregation tool. VSIP 4 needs a platform built for grid operations.</a:t>
            </a:r>
            <a:endParaRPr lang="en-US" sz="1250" dirty="0"/>
          </a:p>
        </p:txBody>
      </p:sp>
      <p:sp>
        <p:nvSpPr>
          <p:cNvPr id="9" name="Shape 7"/>
          <p:cNvSpPr/>
          <p:nvPr/>
        </p:nvSpPr>
        <p:spPr>
          <a:xfrm>
            <a:off x="457200" y="1417320"/>
            <a:ext cx="2624328" cy="1828800"/>
          </a:xfrm>
          <a:prstGeom prst="roundRect">
            <a:avLst>
              <a:gd name="adj" fmla="val 4000"/>
            </a:avLst>
          </a:prstGeom>
          <a:solidFill>
            <a:srgbClr val="FFFFFF"/>
          </a:solidFill>
          <a:ln w="6350">
            <a:solidFill>
              <a:srgbClr val="CCCCCC"/>
            </a:solidFill>
            <a:prstDash val="solid"/>
          </a:ln>
          <a:effectLst>
            <a:outerShdw sx="100000" sy="100000" kx="0" ky="0" algn="bl" rotWithShape="0" blurRad="76200" dist="25400" dir="2700000">
              <a:srgbClr val="000000">
                <a:alpha val="10000"/>
              </a:srgbClr>
            </a:outerShdw>
          </a:effectLst>
        </p:spPr>
      </p:sp>
      <p:sp>
        <p:nvSpPr>
          <p:cNvPr id="10" name="Shape 8"/>
          <p:cNvSpPr/>
          <p:nvPr/>
        </p:nvSpPr>
        <p:spPr>
          <a:xfrm>
            <a:off x="658368" y="1636776"/>
            <a:ext cx="457200" cy="457200"/>
          </a:xfrm>
          <a:prstGeom prst="ellipse">
            <a:avLst/>
          </a:prstGeom>
          <a:solidFill>
            <a:srgbClr val="FBEAE2"/>
          </a:solidFill>
          <a:ln w="12700">
            <a:solidFill>
              <a:srgbClr val="FBEAE2"/>
            </a:solidFill>
            <a:prstDash val="solid"/>
          </a:ln>
        </p:spPr>
      </p:sp>
      <p:pic>
        <p:nvPicPr>
          <p:cNvPr id="11" name="Image 0" descr="preencoded.png">    </p:cNvPr>
          <p:cNvPicPr>
            <a:picLocks noChangeAspect="1"/>
          </p:cNvPicPr>
          <p:nvPr/>
        </p:nvPicPr>
        <p:blipFill>
          <a:blip r:embed="rId1"/>
          <a:stretch>
            <a:fillRect/>
          </a:stretch>
        </p:blipFill>
        <p:spPr>
          <a:xfrm>
            <a:off x="758952" y="1737360"/>
            <a:ext cx="256032" cy="256032"/>
          </a:xfrm>
          <a:prstGeom prst="rect">
            <a:avLst/>
          </a:prstGeom>
        </p:spPr>
      </p:pic>
      <p:sp>
        <p:nvSpPr>
          <p:cNvPr id="12" name="Text 9"/>
          <p:cNvSpPr/>
          <p:nvPr/>
        </p:nvSpPr>
        <p:spPr>
          <a:xfrm>
            <a:off x="658368" y="2167128"/>
            <a:ext cx="2221992" cy="31089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Visibility gap</a:t>
            </a:r>
            <a:endParaRPr lang="en-US" sz="1400" dirty="0"/>
          </a:p>
        </p:txBody>
      </p:sp>
      <p:sp>
        <p:nvSpPr>
          <p:cNvPr id="13" name="Text 10"/>
          <p:cNvSpPr/>
          <p:nvPr/>
        </p:nvSpPr>
        <p:spPr>
          <a:xfrm>
            <a:off x="658368" y="2496312"/>
            <a:ext cx="2221992" cy="676656"/>
          </a:xfrm>
          <a:prstGeom prst="rect">
            <a:avLst/>
          </a:prstGeom>
          <a:noFill/>
          <a:ln/>
        </p:spPr>
        <p:txBody>
          <a:bodyPr wrap="square" lIns="0" tIns="0" rIns="0" bIns="0" rtlCol="0" anchor="t"/>
          <a:lstStyle/>
          <a:p>
            <a:pPr indent="0" marL="0">
              <a:lnSpc>
                <a:spcPct val="105000"/>
              </a:lnSpc>
              <a:buNone/>
            </a:pPr>
            <a:r>
              <a:rPr lang="en-US" sz="1100" dirty="0">
                <a:solidFill>
                  <a:srgbClr val="5F5E5A"/>
                </a:solidFill>
                <a:latin typeface="Calibri" pitchFamily="34" charset="0"/>
                <a:ea typeface="Calibri" pitchFamily="34" charset="-122"/>
                <a:cs typeface="Calibri" pitchFamily="34" charset="-120"/>
              </a:rPr>
              <a:t>Without topology-aware monitoring, operators cannot see how DERs affect the 22kV network in real time.</a:t>
            </a:r>
            <a:endParaRPr lang="en-US" sz="1100" dirty="0"/>
          </a:p>
        </p:txBody>
      </p:sp>
      <p:sp>
        <p:nvSpPr>
          <p:cNvPr id="14" name="Shape 11"/>
          <p:cNvSpPr/>
          <p:nvPr/>
        </p:nvSpPr>
        <p:spPr>
          <a:xfrm>
            <a:off x="3264408" y="1417320"/>
            <a:ext cx="2624328" cy="1828800"/>
          </a:xfrm>
          <a:prstGeom prst="roundRect">
            <a:avLst>
              <a:gd name="adj" fmla="val 4000"/>
            </a:avLst>
          </a:prstGeom>
          <a:solidFill>
            <a:srgbClr val="FFFFFF"/>
          </a:solidFill>
          <a:ln w="6350">
            <a:solidFill>
              <a:srgbClr val="CCCCCC"/>
            </a:solidFill>
            <a:prstDash val="solid"/>
          </a:ln>
          <a:effectLst>
            <a:outerShdw sx="100000" sy="100000" kx="0" ky="0" algn="bl" rotWithShape="0" blurRad="76200" dist="25400" dir="2700000">
              <a:srgbClr val="000000">
                <a:alpha val="10000"/>
              </a:srgbClr>
            </a:outerShdw>
          </a:effectLst>
        </p:spPr>
      </p:sp>
      <p:sp>
        <p:nvSpPr>
          <p:cNvPr id="15" name="Shape 12"/>
          <p:cNvSpPr/>
          <p:nvPr/>
        </p:nvSpPr>
        <p:spPr>
          <a:xfrm>
            <a:off x="3465576" y="1636776"/>
            <a:ext cx="457200" cy="457200"/>
          </a:xfrm>
          <a:prstGeom prst="ellipse">
            <a:avLst/>
          </a:prstGeom>
          <a:solidFill>
            <a:srgbClr val="FBEAE2"/>
          </a:solidFill>
          <a:ln w="12700">
            <a:solidFill>
              <a:srgbClr val="FBEAE2"/>
            </a:solidFill>
            <a:prstDash val="solid"/>
          </a:ln>
        </p:spPr>
      </p:sp>
      <p:pic>
        <p:nvPicPr>
          <p:cNvPr id="16" name="Image 1" descr="preencoded.png">    </p:cNvPr>
          <p:cNvPicPr>
            <a:picLocks noChangeAspect="1"/>
          </p:cNvPicPr>
          <p:nvPr/>
        </p:nvPicPr>
        <p:blipFill>
          <a:blip r:embed="rId2"/>
          <a:stretch>
            <a:fillRect/>
          </a:stretch>
        </p:blipFill>
        <p:spPr>
          <a:xfrm>
            <a:off x="3566160" y="1737360"/>
            <a:ext cx="256032" cy="256032"/>
          </a:xfrm>
          <a:prstGeom prst="rect">
            <a:avLst/>
          </a:prstGeom>
        </p:spPr>
      </p:pic>
      <p:sp>
        <p:nvSpPr>
          <p:cNvPr id="17" name="Text 13"/>
          <p:cNvSpPr/>
          <p:nvPr/>
        </p:nvSpPr>
        <p:spPr>
          <a:xfrm>
            <a:off x="3465576" y="2167128"/>
            <a:ext cx="2221992" cy="31089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Export risk</a:t>
            </a:r>
            <a:endParaRPr lang="en-US" sz="1400" dirty="0"/>
          </a:p>
        </p:txBody>
      </p:sp>
      <p:sp>
        <p:nvSpPr>
          <p:cNvPr id="18" name="Text 14"/>
          <p:cNvSpPr/>
          <p:nvPr/>
        </p:nvSpPr>
        <p:spPr>
          <a:xfrm>
            <a:off x="3465576" y="2496312"/>
            <a:ext cx="2221992" cy="676656"/>
          </a:xfrm>
          <a:prstGeom prst="rect">
            <a:avLst/>
          </a:prstGeom>
          <a:noFill/>
          <a:ln/>
        </p:spPr>
        <p:txBody>
          <a:bodyPr wrap="square" lIns="0" tIns="0" rIns="0" bIns="0" rtlCol="0" anchor="t"/>
          <a:lstStyle/>
          <a:p>
            <a:pPr indent="0" marL="0">
              <a:lnSpc>
                <a:spcPct val="105000"/>
              </a:lnSpc>
              <a:buNone/>
            </a:pPr>
            <a:r>
              <a:rPr lang="en-US" sz="1100" dirty="0">
                <a:solidFill>
                  <a:srgbClr val="5F5E5A"/>
                </a:solidFill>
                <a:latin typeface="Calibri" pitchFamily="34" charset="0"/>
                <a:ea typeface="Calibri" pitchFamily="34" charset="-122"/>
                <a:cs typeface="Calibri" pitchFamily="34" charset="-120"/>
              </a:rPr>
              <a:t>Zero-export cannot be reliably enforced without knowing the live network state at every feeder and POI.</a:t>
            </a:r>
            <a:endParaRPr lang="en-US" sz="1100" dirty="0"/>
          </a:p>
        </p:txBody>
      </p:sp>
      <p:sp>
        <p:nvSpPr>
          <p:cNvPr id="19" name="Shape 15"/>
          <p:cNvSpPr/>
          <p:nvPr/>
        </p:nvSpPr>
        <p:spPr>
          <a:xfrm>
            <a:off x="6071616" y="1417320"/>
            <a:ext cx="2624328" cy="1828800"/>
          </a:xfrm>
          <a:prstGeom prst="roundRect">
            <a:avLst>
              <a:gd name="adj" fmla="val 4000"/>
            </a:avLst>
          </a:prstGeom>
          <a:solidFill>
            <a:srgbClr val="FFFFFF"/>
          </a:solidFill>
          <a:ln w="6350">
            <a:solidFill>
              <a:srgbClr val="CCCCCC"/>
            </a:solidFill>
            <a:prstDash val="solid"/>
          </a:ln>
          <a:effectLst>
            <a:outerShdw sx="100000" sy="100000" kx="0" ky="0" algn="bl" rotWithShape="0" blurRad="76200" dist="25400" dir="2700000">
              <a:srgbClr val="000000">
                <a:alpha val="10000"/>
              </a:srgbClr>
            </a:outerShdw>
          </a:effectLst>
        </p:spPr>
      </p:sp>
      <p:sp>
        <p:nvSpPr>
          <p:cNvPr id="20" name="Shape 16"/>
          <p:cNvSpPr/>
          <p:nvPr/>
        </p:nvSpPr>
        <p:spPr>
          <a:xfrm>
            <a:off x="6272784" y="1636776"/>
            <a:ext cx="457200" cy="457200"/>
          </a:xfrm>
          <a:prstGeom prst="ellipse">
            <a:avLst/>
          </a:prstGeom>
          <a:solidFill>
            <a:srgbClr val="FBEAE2"/>
          </a:solidFill>
          <a:ln w="12700">
            <a:solidFill>
              <a:srgbClr val="FBEAE2"/>
            </a:solidFill>
            <a:prstDash val="solid"/>
          </a:ln>
        </p:spPr>
      </p:sp>
      <p:pic>
        <p:nvPicPr>
          <p:cNvPr id="21" name="Image 2" descr="preencoded.png">    </p:cNvPr>
          <p:cNvPicPr>
            <a:picLocks noChangeAspect="1"/>
          </p:cNvPicPr>
          <p:nvPr/>
        </p:nvPicPr>
        <p:blipFill>
          <a:blip r:embed="rId3"/>
          <a:stretch>
            <a:fillRect/>
          </a:stretch>
        </p:blipFill>
        <p:spPr>
          <a:xfrm>
            <a:off x="6373368" y="1737360"/>
            <a:ext cx="256032" cy="256032"/>
          </a:xfrm>
          <a:prstGeom prst="rect">
            <a:avLst/>
          </a:prstGeom>
        </p:spPr>
      </p:pic>
      <p:sp>
        <p:nvSpPr>
          <p:cNvPr id="22" name="Text 17"/>
          <p:cNvSpPr/>
          <p:nvPr/>
        </p:nvSpPr>
        <p:spPr>
          <a:xfrm>
            <a:off x="6272784" y="2167128"/>
            <a:ext cx="2221992" cy="31089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Resilience gap</a:t>
            </a:r>
            <a:endParaRPr lang="en-US" sz="1400" dirty="0"/>
          </a:p>
        </p:txBody>
      </p:sp>
      <p:sp>
        <p:nvSpPr>
          <p:cNvPr id="23" name="Text 18"/>
          <p:cNvSpPr/>
          <p:nvPr/>
        </p:nvSpPr>
        <p:spPr>
          <a:xfrm>
            <a:off x="6272784" y="2496312"/>
            <a:ext cx="2221992" cy="676656"/>
          </a:xfrm>
          <a:prstGeom prst="rect">
            <a:avLst/>
          </a:prstGeom>
          <a:noFill/>
          <a:ln/>
        </p:spPr>
        <p:txBody>
          <a:bodyPr wrap="square" lIns="0" tIns="0" rIns="0" bIns="0" rtlCol="0" anchor="t"/>
          <a:lstStyle/>
          <a:p>
            <a:pPr indent="0" marL="0">
              <a:lnSpc>
                <a:spcPct val="105000"/>
              </a:lnSpc>
              <a:buNone/>
            </a:pPr>
            <a:r>
              <a:rPr lang="en-US" sz="1100" dirty="0">
                <a:solidFill>
                  <a:srgbClr val="5F5E5A"/>
                </a:solidFill>
                <a:latin typeface="Calibri" pitchFamily="34" charset="0"/>
                <a:ea typeface="Calibri" pitchFamily="34" charset="-122"/>
                <a:cs typeface="Calibri" pitchFamily="34" charset="-120"/>
              </a:rPr>
              <a:t>Islanding and black start demand tight SCADA + DERMS integration — not a loosely coupled aggregator.</a:t>
            </a:r>
            <a:endParaRPr lang="en-US" sz="1100" dirty="0"/>
          </a:p>
        </p:txBody>
      </p:sp>
      <p:sp>
        <p:nvSpPr>
          <p:cNvPr id="24" name="Shape 19"/>
          <p:cNvSpPr/>
          <p:nvPr/>
        </p:nvSpPr>
        <p:spPr>
          <a:xfrm>
            <a:off x="457200" y="3456432"/>
            <a:ext cx="8229600" cy="960120"/>
          </a:xfrm>
          <a:prstGeom prst="roundRect">
            <a:avLst>
              <a:gd name="adj" fmla="val 7619"/>
            </a:avLst>
          </a:prstGeom>
          <a:solidFill>
            <a:srgbClr val="123139"/>
          </a:solidFill>
          <a:ln w="12700">
            <a:solidFill>
              <a:srgbClr val="123139"/>
            </a:solidFill>
            <a:prstDash val="solid"/>
          </a:ln>
        </p:spPr>
      </p:sp>
      <p:sp>
        <p:nvSpPr>
          <p:cNvPr id="25" name="Shape 20"/>
          <p:cNvSpPr/>
          <p:nvPr/>
        </p:nvSpPr>
        <p:spPr>
          <a:xfrm>
            <a:off x="713232" y="3703320"/>
            <a:ext cx="457200" cy="457200"/>
          </a:xfrm>
          <a:prstGeom prst="ellipse">
            <a:avLst/>
          </a:prstGeom>
          <a:solidFill>
            <a:srgbClr val="1C5260"/>
          </a:solidFill>
          <a:ln w="12700">
            <a:solidFill>
              <a:srgbClr val="1C5260"/>
            </a:solidFill>
            <a:prstDash val="solid"/>
          </a:ln>
        </p:spPr>
      </p:sp>
      <p:pic>
        <p:nvPicPr>
          <p:cNvPr id="26" name="Image 3" descr="preencoded.png">    </p:cNvPr>
          <p:cNvPicPr>
            <a:picLocks noChangeAspect="1"/>
          </p:cNvPicPr>
          <p:nvPr/>
        </p:nvPicPr>
        <p:blipFill>
          <a:blip r:embed="rId4"/>
          <a:stretch>
            <a:fillRect/>
          </a:stretch>
        </p:blipFill>
        <p:spPr>
          <a:xfrm>
            <a:off x="813816" y="3803904"/>
            <a:ext cx="256032" cy="256032"/>
          </a:xfrm>
          <a:prstGeom prst="rect">
            <a:avLst/>
          </a:prstGeom>
        </p:spPr>
      </p:pic>
      <p:sp>
        <p:nvSpPr>
          <p:cNvPr id="27" name="Text 21"/>
          <p:cNvSpPr/>
          <p:nvPr/>
        </p:nvSpPr>
        <p:spPr>
          <a:xfrm>
            <a:off x="1371600" y="3456432"/>
            <a:ext cx="7132320" cy="9601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Survalent's answer
</a:t>
            </a:r>
            <a:pPr indent="0" marL="0">
              <a:buNone/>
            </a:pPr>
            <a:r>
              <a:rPr lang="en-US" sz="1200" dirty="0">
                <a:solidFill>
                  <a:srgbClr val="BFE0DE"/>
                </a:solidFill>
                <a:latin typeface="Calibri" pitchFamily="34" charset="0"/>
                <a:ea typeface="Calibri" pitchFamily="34" charset="-122"/>
                <a:cs typeface="Calibri" pitchFamily="34" charset="-120"/>
              </a:rPr>
              <a:t>Built for utility operations. Proven in 24/7 control-room environments — where reliability is not optional.</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 cy="384048"/>
          </a:xfrm>
          <a:prstGeom prst="rect">
            <a:avLst/>
          </a:prstGeom>
          <a:solidFill>
            <a:srgbClr val="D94F1E"/>
          </a:solidFill>
          <a:ln w="12700">
            <a:solidFill>
              <a:srgbClr val="D94F1E"/>
            </a:solidFill>
            <a:prstDash val="solid"/>
          </a:ln>
        </p:spPr>
      </p:sp>
      <p:sp>
        <p:nvSpPr>
          <p:cNvPr id="3" name="Text 1"/>
          <p:cNvSpPr/>
          <p:nvPr/>
        </p:nvSpPr>
        <p:spPr>
          <a:xfrm>
            <a:off x="502920" y="146304"/>
            <a:ext cx="8229600" cy="658368"/>
          </a:xfrm>
          <a:prstGeom prst="rect">
            <a:avLst/>
          </a:prstGeom>
          <a:noFill/>
          <a:ln/>
        </p:spPr>
        <p:txBody>
          <a:bodyPr wrap="square" lIns="0" tIns="0" rIns="0" bIns="0" rtlCol="0" anchor="ctr"/>
          <a:lstStyle/>
          <a:p>
            <a:pPr indent="0" marL="0">
              <a:buNone/>
            </a:pPr>
            <a:r>
              <a:rPr lang="en-US" sz="3000" b="1" dirty="0">
                <a:solidFill>
                  <a:srgbClr val="2B7A8C"/>
                </a:solidFill>
                <a:latin typeface="Calibri" pitchFamily="34" charset="0"/>
                <a:ea typeface="Calibri" pitchFamily="34" charset="-122"/>
                <a:cs typeface="Calibri" pitchFamily="34" charset="-120"/>
              </a:rPr>
              <a:t>SurvalentONE ADMS + DERMS</a:t>
            </a:r>
            <a:endParaRPr lang="en-US" sz="3000" dirty="0"/>
          </a:p>
        </p:txBody>
      </p:sp>
      <p:sp>
        <p:nvSpPr>
          <p:cNvPr id="4" name="Shape 2"/>
          <p:cNvSpPr/>
          <p:nvPr/>
        </p:nvSpPr>
        <p:spPr>
          <a:xfrm>
            <a:off x="365760" y="4736592"/>
            <a:ext cx="8412480" cy="0"/>
          </a:xfrm>
          <a:prstGeom prst="line">
            <a:avLst/>
          </a:prstGeom>
          <a:noFill/>
          <a:ln w="12700">
            <a:solidFill>
              <a:srgbClr val="E2E2E0"/>
            </a:solidFill>
            <a:prstDash val="solid"/>
          </a:ln>
        </p:spPr>
      </p:sp>
      <p:sp>
        <p:nvSpPr>
          <p:cNvPr id="5" name="Text 3"/>
          <p:cNvSpPr/>
          <p:nvPr/>
        </p:nvSpPr>
        <p:spPr>
          <a:xfrm>
            <a:off x="365760" y="4773168"/>
            <a:ext cx="2011680" cy="27432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Survalent</a:t>
            </a:r>
            <a:pPr indent="0" marL="0">
              <a:buNone/>
            </a:pPr>
            <a:r>
              <a:rPr lang="en-US" sz="1300" b="1" dirty="0">
                <a:solidFill>
                  <a:srgbClr val="D94F1E"/>
                </a:solidFill>
                <a:latin typeface="Calibri" pitchFamily="34" charset="0"/>
                <a:ea typeface="Calibri" pitchFamily="34" charset="-122"/>
                <a:cs typeface="Calibri" pitchFamily="34" charset="-120"/>
              </a:rPr>
              <a:t>.</a:t>
            </a:r>
            <a:endParaRPr lang="en-US" sz="1300" dirty="0"/>
          </a:p>
        </p:txBody>
      </p:sp>
      <p:sp>
        <p:nvSpPr>
          <p:cNvPr id="6" name="Text 4"/>
          <p:cNvSpPr/>
          <p:nvPr/>
        </p:nvSpPr>
        <p:spPr>
          <a:xfrm>
            <a:off x="2926080" y="4809744"/>
            <a:ext cx="3291840" cy="237744"/>
          </a:xfrm>
          <a:prstGeom prst="rect">
            <a:avLst/>
          </a:prstGeom>
          <a:noFill/>
          <a:ln/>
        </p:spPr>
        <p:txBody>
          <a:bodyPr wrap="square" lIns="0" tIns="0" rIns="0" bIns="0" rtlCol="0" anchor="ctr"/>
          <a:lstStyle/>
          <a:p>
            <a:pPr algn="ctr" indent="0" marL="0">
              <a:buNone/>
            </a:pPr>
            <a:r>
              <a:rPr lang="en-US" sz="800" spc="200" kern="0" dirty="0">
                <a:solidFill>
                  <a:srgbClr val="8A8A85"/>
                </a:solidFill>
              </a:rPr>
              <a:t>Confidential &amp; Proprietary</a:t>
            </a:r>
            <a:endParaRPr lang="en-US" sz="800" dirty="0"/>
          </a:p>
        </p:txBody>
      </p:sp>
      <p:sp>
        <p:nvSpPr>
          <p:cNvPr id="7" name="Text 5"/>
          <p:cNvSpPr/>
          <p:nvPr/>
        </p:nvSpPr>
        <p:spPr>
          <a:xfrm>
            <a:off x="8229600" y="4809744"/>
            <a:ext cx="548640" cy="237744"/>
          </a:xfrm>
          <a:prstGeom prst="rect">
            <a:avLst/>
          </a:prstGeom>
          <a:noFill/>
          <a:ln/>
        </p:spPr>
        <p:txBody>
          <a:bodyPr wrap="square" lIns="0" tIns="0" rIns="0" bIns="0" rtlCol="0" anchor="ctr"/>
          <a:lstStyle/>
          <a:p>
            <a:pPr algn="r" indent="0" marL="0">
              <a:buNone/>
            </a:pPr>
            <a:r>
              <a:rPr lang="en-US" sz="900" dirty="0">
                <a:solidFill>
                  <a:srgbClr val="8A8A85"/>
                </a:solidFill>
              </a:rPr>
              <a:t>9</a:t>
            </a:r>
            <a:endParaRPr lang="en-US" sz="900" dirty="0"/>
          </a:p>
        </p:txBody>
      </p:sp>
      <p:sp>
        <p:nvSpPr>
          <p:cNvPr id="8" name="Shape 6"/>
          <p:cNvSpPr/>
          <p:nvPr/>
        </p:nvSpPr>
        <p:spPr>
          <a:xfrm>
            <a:off x="457200" y="1005840"/>
            <a:ext cx="5989320" cy="640080"/>
          </a:xfrm>
          <a:prstGeom prst="roundRect">
            <a:avLst>
              <a:gd name="adj" fmla="val 8571"/>
            </a:avLst>
          </a:prstGeom>
          <a:solidFill>
            <a:srgbClr val="EEEAF7"/>
          </a:solidFill>
          <a:ln w="9525">
            <a:solidFill>
              <a:srgbClr val="BCA9E0"/>
            </a:solidFill>
            <a:prstDash val="solid"/>
          </a:ln>
        </p:spPr>
      </p:sp>
      <p:sp>
        <p:nvSpPr>
          <p:cNvPr id="9" name="Text 7"/>
          <p:cNvSpPr/>
          <p:nvPr/>
        </p:nvSpPr>
        <p:spPr>
          <a:xfrm>
            <a:off x="640080" y="1005840"/>
            <a:ext cx="2103120" cy="640080"/>
          </a:xfrm>
          <a:prstGeom prst="rect">
            <a:avLst/>
          </a:prstGeom>
          <a:noFill/>
          <a:ln/>
        </p:spPr>
        <p:txBody>
          <a:bodyPr wrap="square" lIns="0" tIns="0" rIns="0" bIns="0" rtlCol="0" anchor="ctr"/>
          <a:lstStyle/>
          <a:p>
            <a:pPr indent="0" marL="0">
              <a:buNone/>
            </a:pPr>
            <a:r>
              <a:rPr lang="en-US" sz="1250" b="1" dirty="0">
                <a:solidFill>
                  <a:srgbClr val="412C7A"/>
                </a:solidFill>
                <a:latin typeface="Calibri" pitchFamily="34" charset="0"/>
                <a:ea typeface="Calibri" pitchFamily="34" charset="-122"/>
                <a:cs typeface="Calibri" pitchFamily="34" charset="-120"/>
              </a:rPr>
              <a:t>Smart energy layer</a:t>
            </a:r>
            <a:endParaRPr lang="en-US" sz="1250" dirty="0"/>
          </a:p>
        </p:txBody>
      </p:sp>
      <p:sp>
        <p:nvSpPr>
          <p:cNvPr id="10" name="Text 8"/>
          <p:cNvSpPr/>
          <p:nvPr/>
        </p:nvSpPr>
        <p:spPr>
          <a:xfrm>
            <a:off x="2743200" y="1005840"/>
            <a:ext cx="3611880" cy="640080"/>
          </a:xfrm>
          <a:prstGeom prst="rect">
            <a:avLst/>
          </a:prstGeom>
          <a:noFill/>
          <a:ln/>
        </p:spPr>
        <p:txBody>
          <a:bodyPr wrap="square" lIns="0" tIns="0" rIns="0" bIns="0" rtlCol="0" anchor="ctr"/>
          <a:lstStyle/>
          <a:p>
            <a:pPr indent="0" marL="0">
              <a:buNone/>
            </a:pPr>
            <a:r>
              <a:rPr lang="en-US" sz="1030" dirty="0">
                <a:solidFill>
                  <a:srgbClr val="5F5E5A"/>
                </a:solidFill>
                <a:latin typeface="Calibri" pitchFamily="34" charset="0"/>
                <a:ea typeface="Calibri" pitchFamily="34" charset="-122"/>
                <a:cs typeface="Calibri" pitchFamily="34" charset="-120"/>
              </a:rPr>
              <a:t>VPP · AMI · carbon reporting · demand response</a:t>
            </a:r>
            <a:endParaRPr lang="en-US" sz="1030" dirty="0"/>
          </a:p>
        </p:txBody>
      </p:sp>
      <p:sp>
        <p:nvSpPr>
          <p:cNvPr id="11" name="Shape 9"/>
          <p:cNvSpPr/>
          <p:nvPr/>
        </p:nvSpPr>
        <p:spPr>
          <a:xfrm>
            <a:off x="457200" y="1737360"/>
            <a:ext cx="5989320" cy="640080"/>
          </a:xfrm>
          <a:prstGeom prst="roundRect">
            <a:avLst>
              <a:gd name="adj" fmla="val 8571"/>
            </a:avLst>
          </a:prstGeom>
          <a:solidFill>
            <a:srgbClr val="FBEEDA"/>
          </a:solidFill>
          <a:ln w="9525">
            <a:solidFill>
              <a:srgbClr val="EFC174"/>
            </a:solidFill>
            <a:prstDash val="solid"/>
          </a:ln>
        </p:spPr>
      </p:sp>
      <p:sp>
        <p:nvSpPr>
          <p:cNvPr id="12" name="Text 10"/>
          <p:cNvSpPr/>
          <p:nvPr/>
        </p:nvSpPr>
        <p:spPr>
          <a:xfrm>
            <a:off x="640080" y="1737360"/>
            <a:ext cx="2103120" cy="640080"/>
          </a:xfrm>
          <a:prstGeom prst="rect">
            <a:avLst/>
          </a:prstGeom>
          <a:noFill/>
          <a:ln/>
        </p:spPr>
        <p:txBody>
          <a:bodyPr wrap="square" lIns="0" tIns="0" rIns="0" bIns="0" rtlCol="0" anchor="ctr"/>
          <a:lstStyle/>
          <a:p>
            <a:pPr indent="0" marL="0">
              <a:buNone/>
            </a:pPr>
            <a:r>
              <a:rPr lang="en-US" sz="1250" b="1" dirty="0">
                <a:solidFill>
                  <a:srgbClr val="7A4E08"/>
                </a:solidFill>
                <a:latin typeface="Calibri" pitchFamily="34" charset="0"/>
                <a:ea typeface="Calibri" pitchFamily="34" charset="-122"/>
                <a:cs typeface="Calibri" pitchFamily="34" charset="-120"/>
              </a:rPr>
              <a:t>Microgrid layer</a:t>
            </a:r>
            <a:endParaRPr lang="en-US" sz="1250" dirty="0"/>
          </a:p>
        </p:txBody>
      </p:sp>
      <p:sp>
        <p:nvSpPr>
          <p:cNvPr id="13" name="Text 11"/>
          <p:cNvSpPr/>
          <p:nvPr/>
        </p:nvSpPr>
        <p:spPr>
          <a:xfrm>
            <a:off x="2743200" y="1737360"/>
            <a:ext cx="3611880" cy="640080"/>
          </a:xfrm>
          <a:prstGeom prst="rect">
            <a:avLst/>
          </a:prstGeom>
          <a:noFill/>
          <a:ln/>
        </p:spPr>
        <p:txBody>
          <a:bodyPr wrap="square" lIns="0" tIns="0" rIns="0" bIns="0" rtlCol="0" anchor="ctr"/>
          <a:lstStyle/>
          <a:p>
            <a:pPr indent="0" marL="0">
              <a:buNone/>
            </a:pPr>
            <a:r>
              <a:rPr lang="en-US" sz="1030" dirty="0">
                <a:solidFill>
                  <a:srgbClr val="5F5E5A"/>
                </a:solidFill>
                <a:latin typeface="Calibri" pitchFamily="34" charset="0"/>
                <a:ea typeface="Calibri" pitchFamily="34" charset="-122"/>
                <a:cs typeface="Calibri" pitchFamily="34" charset="-120"/>
              </a:rPr>
              <a:t>BESS dispatch · islanding · black start · grid-forming</a:t>
            </a:r>
            <a:endParaRPr lang="en-US" sz="1030" dirty="0"/>
          </a:p>
        </p:txBody>
      </p:sp>
      <p:sp>
        <p:nvSpPr>
          <p:cNvPr id="14" name="Shape 12"/>
          <p:cNvSpPr/>
          <p:nvPr/>
        </p:nvSpPr>
        <p:spPr>
          <a:xfrm>
            <a:off x="457200" y="2468880"/>
            <a:ext cx="5989320" cy="640080"/>
          </a:xfrm>
          <a:prstGeom prst="roundRect">
            <a:avLst>
              <a:gd name="adj" fmla="val 8571"/>
            </a:avLst>
          </a:prstGeom>
          <a:solidFill>
            <a:srgbClr val="EAF3DE"/>
          </a:solidFill>
          <a:ln w="9525">
            <a:solidFill>
              <a:srgbClr val="B5D38A"/>
            </a:solidFill>
            <a:prstDash val="solid"/>
          </a:ln>
        </p:spPr>
      </p:sp>
      <p:sp>
        <p:nvSpPr>
          <p:cNvPr id="15" name="Text 13"/>
          <p:cNvSpPr/>
          <p:nvPr/>
        </p:nvSpPr>
        <p:spPr>
          <a:xfrm>
            <a:off x="640080" y="2468880"/>
            <a:ext cx="2103120" cy="640080"/>
          </a:xfrm>
          <a:prstGeom prst="rect">
            <a:avLst/>
          </a:prstGeom>
          <a:noFill/>
          <a:ln/>
        </p:spPr>
        <p:txBody>
          <a:bodyPr wrap="square" lIns="0" tIns="0" rIns="0" bIns="0" rtlCol="0" anchor="ctr"/>
          <a:lstStyle/>
          <a:p>
            <a:pPr indent="0" marL="0">
              <a:buNone/>
            </a:pPr>
            <a:r>
              <a:rPr lang="en-US" sz="1250" b="1" dirty="0">
                <a:solidFill>
                  <a:srgbClr val="3C5E12"/>
                </a:solidFill>
                <a:latin typeface="Calibri" pitchFamily="34" charset="0"/>
                <a:ea typeface="Calibri" pitchFamily="34" charset="-122"/>
                <a:cs typeface="Calibri" pitchFamily="34" charset="-120"/>
              </a:rPr>
              <a:t>DERMS layer</a:t>
            </a:r>
            <a:endParaRPr lang="en-US" sz="1250" dirty="0"/>
          </a:p>
        </p:txBody>
      </p:sp>
      <p:sp>
        <p:nvSpPr>
          <p:cNvPr id="16" name="Text 14"/>
          <p:cNvSpPr/>
          <p:nvPr/>
        </p:nvSpPr>
        <p:spPr>
          <a:xfrm>
            <a:off x="2743200" y="2468880"/>
            <a:ext cx="3611880" cy="640080"/>
          </a:xfrm>
          <a:prstGeom prst="rect">
            <a:avLst/>
          </a:prstGeom>
          <a:noFill/>
          <a:ln/>
        </p:spPr>
        <p:txBody>
          <a:bodyPr wrap="square" lIns="0" tIns="0" rIns="0" bIns="0" rtlCol="0" anchor="ctr"/>
          <a:lstStyle/>
          <a:p>
            <a:pPr indent="0" marL="0">
              <a:buNone/>
            </a:pPr>
            <a:r>
              <a:rPr lang="en-US" sz="1030" dirty="0">
                <a:solidFill>
                  <a:srgbClr val="5F5E5A"/>
                </a:solidFill>
                <a:latin typeface="Calibri" pitchFamily="34" charset="0"/>
                <a:ea typeface="Calibri" pitchFamily="34" charset="-122"/>
                <a:cs typeface="Calibri" pitchFamily="34" charset="-120"/>
              </a:rPr>
              <a:t>RTS monitoring · curtailment · zero-export · forecasting</a:t>
            </a:r>
            <a:endParaRPr lang="en-US" sz="1030" dirty="0"/>
          </a:p>
        </p:txBody>
      </p:sp>
      <p:sp>
        <p:nvSpPr>
          <p:cNvPr id="17" name="Shape 15"/>
          <p:cNvSpPr/>
          <p:nvPr/>
        </p:nvSpPr>
        <p:spPr>
          <a:xfrm>
            <a:off x="457200" y="3200400"/>
            <a:ext cx="5989320" cy="640080"/>
          </a:xfrm>
          <a:prstGeom prst="roundRect">
            <a:avLst>
              <a:gd name="adj" fmla="val 8571"/>
            </a:avLst>
          </a:prstGeom>
          <a:solidFill>
            <a:srgbClr val="E6F0FA"/>
          </a:solidFill>
          <a:ln w="9525">
            <a:solidFill>
              <a:srgbClr val="9CC2E8"/>
            </a:solidFill>
            <a:prstDash val="solid"/>
          </a:ln>
        </p:spPr>
      </p:sp>
      <p:sp>
        <p:nvSpPr>
          <p:cNvPr id="18" name="Text 16"/>
          <p:cNvSpPr/>
          <p:nvPr/>
        </p:nvSpPr>
        <p:spPr>
          <a:xfrm>
            <a:off x="640080" y="3200400"/>
            <a:ext cx="2103120" cy="640080"/>
          </a:xfrm>
          <a:prstGeom prst="rect">
            <a:avLst/>
          </a:prstGeom>
          <a:noFill/>
          <a:ln/>
        </p:spPr>
        <p:txBody>
          <a:bodyPr wrap="square" lIns="0" tIns="0" rIns="0" bIns="0" rtlCol="0" anchor="ctr"/>
          <a:lstStyle/>
          <a:p>
            <a:pPr indent="0" marL="0">
              <a:buNone/>
            </a:pPr>
            <a:r>
              <a:rPr lang="en-US" sz="1250" b="1" dirty="0">
                <a:solidFill>
                  <a:srgbClr val="1C4878"/>
                </a:solidFill>
                <a:latin typeface="Calibri" pitchFamily="34" charset="0"/>
                <a:ea typeface="Calibri" pitchFamily="34" charset="-122"/>
                <a:cs typeface="Calibri" pitchFamily="34" charset="-120"/>
              </a:rPr>
              <a:t>ADMS layer</a:t>
            </a:r>
            <a:endParaRPr lang="en-US" sz="1250" dirty="0"/>
          </a:p>
        </p:txBody>
      </p:sp>
      <p:sp>
        <p:nvSpPr>
          <p:cNvPr id="19" name="Text 17"/>
          <p:cNvSpPr/>
          <p:nvPr/>
        </p:nvSpPr>
        <p:spPr>
          <a:xfrm>
            <a:off x="2743200" y="3200400"/>
            <a:ext cx="3611880" cy="640080"/>
          </a:xfrm>
          <a:prstGeom prst="rect">
            <a:avLst/>
          </a:prstGeom>
          <a:noFill/>
          <a:ln/>
        </p:spPr>
        <p:txBody>
          <a:bodyPr wrap="square" lIns="0" tIns="0" rIns="0" bIns="0" rtlCol="0" anchor="ctr"/>
          <a:lstStyle/>
          <a:p>
            <a:pPr indent="0" marL="0">
              <a:buNone/>
            </a:pPr>
            <a:r>
              <a:rPr lang="en-US" sz="1030" dirty="0">
                <a:solidFill>
                  <a:srgbClr val="5F5E5A"/>
                </a:solidFill>
                <a:latin typeface="Calibri" pitchFamily="34" charset="0"/>
                <a:ea typeface="Calibri" pitchFamily="34" charset="-122"/>
                <a:cs typeface="Calibri" pitchFamily="34" charset="-120"/>
              </a:rPr>
              <a:t>Topology · outage mgmt · FLISR · Volt/VAR</a:t>
            </a:r>
            <a:endParaRPr lang="en-US" sz="1030" dirty="0"/>
          </a:p>
        </p:txBody>
      </p:sp>
      <p:sp>
        <p:nvSpPr>
          <p:cNvPr id="20" name="Shape 18"/>
          <p:cNvSpPr/>
          <p:nvPr/>
        </p:nvSpPr>
        <p:spPr>
          <a:xfrm>
            <a:off x="457200" y="3931920"/>
            <a:ext cx="5989320" cy="640080"/>
          </a:xfrm>
          <a:prstGeom prst="roundRect">
            <a:avLst>
              <a:gd name="adj" fmla="val 8571"/>
            </a:avLst>
          </a:prstGeom>
          <a:solidFill>
            <a:srgbClr val="E1EEF0"/>
          </a:solidFill>
          <a:ln w="9525">
            <a:solidFill>
              <a:srgbClr val="8FC0CA"/>
            </a:solidFill>
            <a:prstDash val="solid"/>
          </a:ln>
        </p:spPr>
      </p:sp>
      <p:sp>
        <p:nvSpPr>
          <p:cNvPr id="21" name="Text 19"/>
          <p:cNvSpPr/>
          <p:nvPr/>
        </p:nvSpPr>
        <p:spPr>
          <a:xfrm>
            <a:off x="640080" y="3931920"/>
            <a:ext cx="2103120" cy="640080"/>
          </a:xfrm>
          <a:prstGeom prst="rect">
            <a:avLst/>
          </a:prstGeom>
          <a:noFill/>
          <a:ln/>
        </p:spPr>
        <p:txBody>
          <a:bodyPr wrap="square" lIns="0" tIns="0" rIns="0" bIns="0" rtlCol="0" anchor="ctr"/>
          <a:lstStyle/>
          <a:p>
            <a:pPr indent="0" marL="0">
              <a:buNone/>
            </a:pPr>
            <a:r>
              <a:rPr lang="en-US" sz="1250" b="1" dirty="0">
                <a:solidFill>
                  <a:srgbClr val="1C5260"/>
                </a:solidFill>
                <a:latin typeface="Calibri" pitchFamily="34" charset="0"/>
                <a:ea typeface="Calibri" pitchFamily="34" charset="-122"/>
                <a:cs typeface="Calibri" pitchFamily="34" charset="-120"/>
              </a:rPr>
              <a:t>Foundation — SCADA</a:t>
            </a:r>
            <a:endParaRPr lang="en-US" sz="1250" dirty="0"/>
          </a:p>
        </p:txBody>
      </p:sp>
      <p:sp>
        <p:nvSpPr>
          <p:cNvPr id="22" name="Text 20"/>
          <p:cNvSpPr/>
          <p:nvPr/>
        </p:nvSpPr>
        <p:spPr>
          <a:xfrm>
            <a:off x="2743200" y="3931920"/>
            <a:ext cx="3611880" cy="640080"/>
          </a:xfrm>
          <a:prstGeom prst="rect">
            <a:avLst/>
          </a:prstGeom>
          <a:noFill/>
          <a:ln/>
        </p:spPr>
        <p:txBody>
          <a:bodyPr wrap="square" lIns="0" tIns="0" rIns="0" bIns="0" rtlCol="0" anchor="ctr"/>
          <a:lstStyle/>
          <a:p>
            <a:pPr indent="0" marL="0">
              <a:buNone/>
            </a:pPr>
            <a:r>
              <a:rPr lang="en-US" sz="1030" dirty="0">
                <a:solidFill>
                  <a:srgbClr val="5F5E5A"/>
                </a:solidFill>
                <a:latin typeface="Calibri" pitchFamily="34" charset="0"/>
                <a:ea typeface="Calibri" pitchFamily="34" charset="-122"/>
                <a:cs typeface="Calibri" pitchFamily="34" charset="-120"/>
              </a:rPr>
              <a:t>Real-time acquisition · 22kV grid · power quality · OT security</a:t>
            </a:r>
            <a:endParaRPr lang="en-US" sz="1030" dirty="0"/>
          </a:p>
        </p:txBody>
      </p:sp>
      <p:sp>
        <p:nvSpPr>
          <p:cNvPr id="23" name="Shape 21"/>
          <p:cNvSpPr/>
          <p:nvPr/>
        </p:nvSpPr>
        <p:spPr>
          <a:xfrm>
            <a:off x="6720840" y="1005840"/>
            <a:ext cx="1965960" cy="3566160"/>
          </a:xfrm>
          <a:prstGeom prst="roundRect">
            <a:avLst>
              <a:gd name="adj" fmla="val 3721"/>
            </a:avLst>
          </a:prstGeom>
          <a:solidFill>
            <a:srgbClr val="F6F6F4"/>
          </a:solidFill>
          <a:ln w="6350">
            <a:solidFill>
              <a:srgbClr val="CCCCCC"/>
            </a:solidFill>
            <a:prstDash val="solid"/>
          </a:ln>
        </p:spPr>
      </p:sp>
      <p:sp>
        <p:nvSpPr>
          <p:cNvPr id="24" name="Text 22"/>
          <p:cNvSpPr/>
          <p:nvPr/>
        </p:nvSpPr>
        <p:spPr>
          <a:xfrm>
            <a:off x="6720840" y="1097280"/>
            <a:ext cx="1965960" cy="274320"/>
          </a:xfrm>
          <a:prstGeom prst="rect">
            <a:avLst/>
          </a:prstGeom>
          <a:noFill/>
          <a:ln/>
        </p:spPr>
        <p:txBody>
          <a:bodyPr wrap="square" lIns="0" tIns="0" rIns="0" bIns="0" rtlCol="0" anchor="ctr"/>
          <a:lstStyle/>
          <a:p>
            <a:pPr algn="ctr" indent="0" marL="0">
              <a:buNone/>
            </a:pPr>
            <a:r>
              <a:rPr lang="en-US" sz="1200" b="1" dirty="0">
                <a:solidFill>
                  <a:srgbClr val="2B7A8C"/>
                </a:solidFill>
                <a:latin typeface="Calibri" pitchFamily="34" charset="0"/>
                <a:ea typeface="Calibri" pitchFamily="34" charset="-122"/>
                <a:cs typeface="Calibri" pitchFamily="34" charset="-120"/>
              </a:rPr>
              <a:t>Integration</a:t>
            </a:r>
            <a:endParaRPr lang="en-US" sz="1200" dirty="0"/>
          </a:p>
        </p:txBody>
      </p:sp>
      <p:sp>
        <p:nvSpPr>
          <p:cNvPr id="25" name="Shape 23"/>
          <p:cNvSpPr/>
          <p:nvPr/>
        </p:nvSpPr>
        <p:spPr>
          <a:xfrm>
            <a:off x="6903720" y="1463040"/>
            <a:ext cx="1600200" cy="347472"/>
          </a:xfrm>
          <a:prstGeom prst="roundRect">
            <a:avLst>
              <a:gd name="adj" fmla="val 15789"/>
            </a:avLst>
          </a:prstGeom>
          <a:solidFill>
            <a:srgbClr val="FFFFFF"/>
          </a:solidFill>
          <a:ln w="6350">
            <a:solidFill>
              <a:srgbClr val="9FCAD2"/>
            </a:solidFill>
            <a:prstDash val="solid"/>
          </a:ln>
        </p:spPr>
      </p:sp>
      <p:sp>
        <p:nvSpPr>
          <p:cNvPr id="26" name="Text 24"/>
          <p:cNvSpPr/>
          <p:nvPr/>
        </p:nvSpPr>
        <p:spPr>
          <a:xfrm>
            <a:off x="6903720" y="1463040"/>
            <a:ext cx="1600200" cy="347472"/>
          </a:xfrm>
          <a:prstGeom prst="rect">
            <a:avLst/>
          </a:prstGeom>
          <a:noFill/>
          <a:ln/>
        </p:spPr>
        <p:txBody>
          <a:bodyPr wrap="square" lIns="0" tIns="0" rIns="0" bIns="0" rtlCol="0" anchor="ctr"/>
          <a:lstStyle/>
          <a:p>
            <a:pPr algn="ctr" indent="0" marL="0">
              <a:buNone/>
            </a:pPr>
            <a:r>
              <a:rPr lang="en-US" sz="1050" dirty="0">
                <a:solidFill>
                  <a:srgbClr val="1C5260"/>
                </a:solidFill>
                <a:latin typeface="Calibri" pitchFamily="34" charset="0"/>
                <a:ea typeface="Calibri" pitchFamily="34" charset="-122"/>
                <a:cs typeface="Calibri" pitchFamily="34" charset="-120"/>
              </a:rPr>
              <a:t>IEC-104</a:t>
            </a:r>
            <a:endParaRPr lang="en-US" sz="1050" dirty="0"/>
          </a:p>
        </p:txBody>
      </p:sp>
      <p:sp>
        <p:nvSpPr>
          <p:cNvPr id="27" name="Shape 25"/>
          <p:cNvSpPr/>
          <p:nvPr/>
        </p:nvSpPr>
        <p:spPr>
          <a:xfrm>
            <a:off x="6903720" y="1920240"/>
            <a:ext cx="1600200" cy="347472"/>
          </a:xfrm>
          <a:prstGeom prst="roundRect">
            <a:avLst>
              <a:gd name="adj" fmla="val 15789"/>
            </a:avLst>
          </a:prstGeom>
          <a:solidFill>
            <a:srgbClr val="FFFFFF"/>
          </a:solidFill>
          <a:ln w="6350">
            <a:solidFill>
              <a:srgbClr val="9FCAD2"/>
            </a:solidFill>
            <a:prstDash val="solid"/>
          </a:ln>
        </p:spPr>
      </p:sp>
      <p:sp>
        <p:nvSpPr>
          <p:cNvPr id="28" name="Text 26"/>
          <p:cNvSpPr/>
          <p:nvPr/>
        </p:nvSpPr>
        <p:spPr>
          <a:xfrm>
            <a:off x="6903720" y="1920240"/>
            <a:ext cx="1600200" cy="347472"/>
          </a:xfrm>
          <a:prstGeom prst="rect">
            <a:avLst/>
          </a:prstGeom>
          <a:noFill/>
          <a:ln/>
        </p:spPr>
        <p:txBody>
          <a:bodyPr wrap="square" lIns="0" tIns="0" rIns="0" bIns="0" rtlCol="0" anchor="ctr"/>
          <a:lstStyle/>
          <a:p>
            <a:pPr algn="ctr" indent="0" marL="0">
              <a:buNone/>
            </a:pPr>
            <a:r>
              <a:rPr lang="en-US" sz="1050" dirty="0">
                <a:solidFill>
                  <a:srgbClr val="1C5260"/>
                </a:solidFill>
                <a:latin typeface="Calibri" pitchFamily="34" charset="0"/>
                <a:ea typeface="Calibri" pitchFamily="34" charset="-122"/>
                <a:cs typeface="Calibri" pitchFamily="34" charset="-120"/>
              </a:rPr>
              <a:t>Modbus</a:t>
            </a:r>
            <a:endParaRPr lang="en-US" sz="1050" dirty="0"/>
          </a:p>
        </p:txBody>
      </p:sp>
      <p:sp>
        <p:nvSpPr>
          <p:cNvPr id="29" name="Shape 27"/>
          <p:cNvSpPr/>
          <p:nvPr/>
        </p:nvSpPr>
        <p:spPr>
          <a:xfrm>
            <a:off x="6903720" y="2377440"/>
            <a:ext cx="1600200" cy="347472"/>
          </a:xfrm>
          <a:prstGeom prst="roundRect">
            <a:avLst>
              <a:gd name="adj" fmla="val 15789"/>
            </a:avLst>
          </a:prstGeom>
          <a:solidFill>
            <a:srgbClr val="FFFFFF"/>
          </a:solidFill>
          <a:ln w="6350">
            <a:solidFill>
              <a:srgbClr val="9FCAD2"/>
            </a:solidFill>
            <a:prstDash val="solid"/>
          </a:ln>
        </p:spPr>
      </p:sp>
      <p:sp>
        <p:nvSpPr>
          <p:cNvPr id="30" name="Text 28"/>
          <p:cNvSpPr/>
          <p:nvPr/>
        </p:nvSpPr>
        <p:spPr>
          <a:xfrm>
            <a:off x="6903720" y="2377440"/>
            <a:ext cx="1600200" cy="347472"/>
          </a:xfrm>
          <a:prstGeom prst="rect">
            <a:avLst/>
          </a:prstGeom>
          <a:noFill/>
          <a:ln/>
        </p:spPr>
        <p:txBody>
          <a:bodyPr wrap="square" lIns="0" tIns="0" rIns="0" bIns="0" rtlCol="0" anchor="ctr"/>
          <a:lstStyle/>
          <a:p>
            <a:pPr algn="ctr" indent="0" marL="0">
              <a:buNone/>
            </a:pPr>
            <a:r>
              <a:rPr lang="en-US" sz="1050" dirty="0">
                <a:solidFill>
                  <a:srgbClr val="1C5260"/>
                </a:solidFill>
                <a:latin typeface="Calibri" pitchFamily="34" charset="0"/>
                <a:ea typeface="Calibri" pitchFamily="34" charset="-122"/>
                <a:cs typeface="Calibri" pitchFamily="34" charset="-120"/>
              </a:rPr>
              <a:t>IEC 61850</a:t>
            </a:r>
            <a:endParaRPr lang="en-US" sz="1050" dirty="0"/>
          </a:p>
        </p:txBody>
      </p:sp>
      <p:sp>
        <p:nvSpPr>
          <p:cNvPr id="31" name="Shape 29"/>
          <p:cNvSpPr/>
          <p:nvPr/>
        </p:nvSpPr>
        <p:spPr>
          <a:xfrm>
            <a:off x="6903720" y="2834640"/>
            <a:ext cx="1600200" cy="347472"/>
          </a:xfrm>
          <a:prstGeom prst="roundRect">
            <a:avLst>
              <a:gd name="adj" fmla="val 15789"/>
            </a:avLst>
          </a:prstGeom>
          <a:solidFill>
            <a:srgbClr val="FFFFFF"/>
          </a:solidFill>
          <a:ln w="6350">
            <a:solidFill>
              <a:srgbClr val="9FCAD2"/>
            </a:solidFill>
            <a:prstDash val="solid"/>
          </a:ln>
        </p:spPr>
      </p:sp>
      <p:sp>
        <p:nvSpPr>
          <p:cNvPr id="32" name="Text 30"/>
          <p:cNvSpPr/>
          <p:nvPr/>
        </p:nvSpPr>
        <p:spPr>
          <a:xfrm>
            <a:off x="6903720" y="2834640"/>
            <a:ext cx="1600200" cy="347472"/>
          </a:xfrm>
          <a:prstGeom prst="rect">
            <a:avLst/>
          </a:prstGeom>
          <a:noFill/>
          <a:ln/>
        </p:spPr>
        <p:txBody>
          <a:bodyPr wrap="square" lIns="0" tIns="0" rIns="0" bIns="0" rtlCol="0" anchor="ctr"/>
          <a:lstStyle/>
          <a:p>
            <a:pPr algn="ctr" indent="0" marL="0">
              <a:buNone/>
            </a:pPr>
            <a:r>
              <a:rPr lang="en-US" sz="1050" dirty="0">
                <a:solidFill>
                  <a:srgbClr val="1C5260"/>
                </a:solidFill>
                <a:latin typeface="Calibri" pitchFamily="34" charset="0"/>
                <a:ea typeface="Calibri" pitchFamily="34" charset="-122"/>
                <a:cs typeface="Calibri" pitchFamily="34" charset="-120"/>
              </a:rPr>
              <a:t>DNP3</a:t>
            </a:r>
            <a:endParaRPr lang="en-US" sz="1050" dirty="0"/>
          </a:p>
        </p:txBody>
      </p:sp>
      <p:sp>
        <p:nvSpPr>
          <p:cNvPr id="33" name="Shape 31"/>
          <p:cNvSpPr/>
          <p:nvPr/>
        </p:nvSpPr>
        <p:spPr>
          <a:xfrm>
            <a:off x="6903720" y="3291840"/>
            <a:ext cx="1600200" cy="347472"/>
          </a:xfrm>
          <a:prstGeom prst="roundRect">
            <a:avLst>
              <a:gd name="adj" fmla="val 15789"/>
            </a:avLst>
          </a:prstGeom>
          <a:solidFill>
            <a:srgbClr val="FFFFFF"/>
          </a:solidFill>
          <a:ln w="6350">
            <a:solidFill>
              <a:srgbClr val="9FCAD2"/>
            </a:solidFill>
            <a:prstDash val="solid"/>
          </a:ln>
        </p:spPr>
      </p:sp>
      <p:sp>
        <p:nvSpPr>
          <p:cNvPr id="34" name="Text 32"/>
          <p:cNvSpPr/>
          <p:nvPr/>
        </p:nvSpPr>
        <p:spPr>
          <a:xfrm>
            <a:off x="6903720" y="3291840"/>
            <a:ext cx="1600200" cy="347472"/>
          </a:xfrm>
          <a:prstGeom prst="rect">
            <a:avLst/>
          </a:prstGeom>
          <a:noFill/>
          <a:ln/>
        </p:spPr>
        <p:txBody>
          <a:bodyPr wrap="square" lIns="0" tIns="0" rIns="0" bIns="0" rtlCol="0" anchor="ctr"/>
          <a:lstStyle/>
          <a:p>
            <a:pPr algn="ctr" indent="0" marL="0">
              <a:buNone/>
            </a:pPr>
            <a:r>
              <a:rPr lang="en-US" sz="1050" dirty="0">
                <a:solidFill>
                  <a:srgbClr val="1C5260"/>
                </a:solidFill>
                <a:latin typeface="Calibri" pitchFamily="34" charset="0"/>
                <a:ea typeface="Calibri" pitchFamily="34" charset="-122"/>
                <a:cs typeface="Calibri" pitchFamily="34" charset="-120"/>
              </a:rPr>
              <a:t>IEEE 2030.5</a:t>
            </a:r>
            <a:endParaRPr lang="en-US" sz="1050" dirty="0"/>
          </a:p>
        </p:txBody>
      </p:sp>
      <p:sp>
        <p:nvSpPr>
          <p:cNvPr id="35" name="Shape 33"/>
          <p:cNvSpPr/>
          <p:nvPr/>
        </p:nvSpPr>
        <p:spPr>
          <a:xfrm>
            <a:off x="6903720" y="3749040"/>
            <a:ext cx="1600200" cy="347472"/>
          </a:xfrm>
          <a:prstGeom prst="roundRect">
            <a:avLst>
              <a:gd name="adj" fmla="val 15789"/>
            </a:avLst>
          </a:prstGeom>
          <a:solidFill>
            <a:srgbClr val="FFFFFF"/>
          </a:solidFill>
          <a:ln w="6350">
            <a:solidFill>
              <a:srgbClr val="9FCAD2"/>
            </a:solidFill>
            <a:prstDash val="solid"/>
          </a:ln>
        </p:spPr>
      </p:sp>
      <p:sp>
        <p:nvSpPr>
          <p:cNvPr id="36" name="Text 34"/>
          <p:cNvSpPr/>
          <p:nvPr/>
        </p:nvSpPr>
        <p:spPr>
          <a:xfrm>
            <a:off x="6903720" y="3749040"/>
            <a:ext cx="1600200" cy="347472"/>
          </a:xfrm>
          <a:prstGeom prst="rect">
            <a:avLst/>
          </a:prstGeom>
          <a:noFill/>
          <a:ln/>
        </p:spPr>
        <p:txBody>
          <a:bodyPr wrap="square" lIns="0" tIns="0" rIns="0" bIns="0" rtlCol="0" anchor="ctr"/>
          <a:lstStyle/>
          <a:p>
            <a:pPr algn="ctr" indent="0" marL="0">
              <a:buNone/>
            </a:pPr>
            <a:r>
              <a:rPr lang="en-US" sz="1050" dirty="0">
                <a:solidFill>
                  <a:srgbClr val="1C5260"/>
                </a:solidFill>
                <a:latin typeface="Calibri" pitchFamily="34" charset="0"/>
                <a:ea typeface="Calibri" pitchFamily="34" charset="-122"/>
                <a:cs typeface="Calibri" pitchFamily="34" charset="-120"/>
              </a:rPr>
              <a:t>Open API</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 cy="384048"/>
          </a:xfrm>
          <a:prstGeom prst="rect">
            <a:avLst/>
          </a:prstGeom>
          <a:solidFill>
            <a:srgbClr val="D94F1E"/>
          </a:solidFill>
          <a:ln w="12700">
            <a:solidFill>
              <a:srgbClr val="D94F1E"/>
            </a:solidFill>
            <a:prstDash val="solid"/>
          </a:ln>
        </p:spPr>
      </p:sp>
      <p:sp>
        <p:nvSpPr>
          <p:cNvPr id="3" name="Text 1"/>
          <p:cNvSpPr/>
          <p:nvPr/>
        </p:nvSpPr>
        <p:spPr>
          <a:xfrm>
            <a:off x="502920" y="146304"/>
            <a:ext cx="8229600" cy="658368"/>
          </a:xfrm>
          <a:prstGeom prst="rect">
            <a:avLst/>
          </a:prstGeom>
          <a:noFill/>
          <a:ln/>
        </p:spPr>
        <p:txBody>
          <a:bodyPr wrap="square" lIns="0" tIns="0" rIns="0" bIns="0" rtlCol="0" anchor="ctr"/>
          <a:lstStyle/>
          <a:p>
            <a:pPr indent="0" marL="0">
              <a:buNone/>
            </a:pPr>
            <a:r>
              <a:rPr lang="en-US" sz="3000" b="1" dirty="0">
                <a:solidFill>
                  <a:srgbClr val="2B7A8C"/>
                </a:solidFill>
                <a:latin typeface="Calibri" pitchFamily="34" charset="0"/>
                <a:ea typeface="Calibri" pitchFamily="34" charset="-122"/>
                <a:cs typeface="Calibri" pitchFamily="34" charset="-120"/>
              </a:rPr>
              <a:t>Capabilities Relevant to VSIP 4</a:t>
            </a:r>
            <a:endParaRPr lang="en-US" sz="3000" dirty="0"/>
          </a:p>
        </p:txBody>
      </p:sp>
      <p:sp>
        <p:nvSpPr>
          <p:cNvPr id="4" name="Shape 2"/>
          <p:cNvSpPr/>
          <p:nvPr/>
        </p:nvSpPr>
        <p:spPr>
          <a:xfrm>
            <a:off x="365760" y="4736592"/>
            <a:ext cx="8412480" cy="0"/>
          </a:xfrm>
          <a:prstGeom prst="line">
            <a:avLst/>
          </a:prstGeom>
          <a:noFill/>
          <a:ln w="12700">
            <a:solidFill>
              <a:srgbClr val="E2E2E0"/>
            </a:solidFill>
            <a:prstDash val="solid"/>
          </a:ln>
        </p:spPr>
      </p:sp>
      <p:sp>
        <p:nvSpPr>
          <p:cNvPr id="5" name="Text 3"/>
          <p:cNvSpPr/>
          <p:nvPr/>
        </p:nvSpPr>
        <p:spPr>
          <a:xfrm>
            <a:off x="365760" y="4773168"/>
            <a:ext cx="2011680" cy="27432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Survalent</a:t>
            </a:r>
            <a:pPr indent="0" marL="0">
              <a:buNone/>
            </a:pPr>
            <a:r>
              <a:rPr lang="en-US" sz="1300" b="1" dirty="0">
                <a:solidFill>
                  <a:srgbClr val="D94F1E"/>
                </a:solidFill>
                <a:latin typeface="Calibri" pitchFamily="34" charset="0"/>
                <a:ea typeface="Calibri" pitchFamily="34" charset="-122"/>
                <a:cs typeface="Calibri" pitchFamily="34" charset="-120"/>
              </a:rPr>
              <a:t>.</a:t>
            </a:r>
            <a:endParaRPr lang="en-US" sz="1300" dirty="0"/>
          </a:p>
        </p:txBody>
      </p:sp>
      <p:sp>
        <p:nvSpPr>
          <p:cNvPr id="6" name="Text 4"/>
          <p:cNvSpPr/>
          <p:nvPr/>
        </p:nvSpPr>
        <p:spPr>
          <a:xfrm>
            <a:off x="2926080" y="4809744"/>
            <a:ext cx="3291840" cy="237744"/>
          </a:xfrm>
          <a:prstGeom prst="rect">
            <a:avLst/>
          </a:prstGeom>
          <a:noFill/>
          <a:ln/>
        </p:spPr>
        <p:txBody>
          <a:bodyPr wrap="square" lIns="0" tIns="0" rIns="0" bIns="0" rtlCol="0" anchor="ctr"/>
          <a:lstStyle/>
          <a:p>
            <a:pPr algn="ctr" indent="0" marL="0">
              <a:buNone/>
            </a:pPr>
            <a:r>
              <a:rPr lang="en-US" sz="800" spc="200" kern="0" dirty="0">
                <a:solidFill>
                  <a:srgbClr val="8A8A85"/>
                </a:solidFill>
              </a:rPr>
              <a:t>Confidential &amp; Proprietary</a:t>
            </a:r>
            <a:endParaRPr lang="en-US" sz="800" dirty="0"/>
          </a:p>
        </p:txBody>
      </p:sp>
      <p:sp>
        <p:nvSpPr>
          <p:cNvPr id="7" name="Text 5"/>
          <p:cNvSpPr/>
          <p:nvPr/>
        </p:nvSpPr>
        <p:spPr>
          <a:xfrm>
            <a:off x="8229600" y="4809744"/>
            <a:ext cx="548640" cy="237744"/>
          </a:xfrm>
          <a:prstGeom prst="rect">
            <a:avLst/>
          </a:prstGeom>
          <a:noFill/>
          <a:ln/>
        </p:spPr>
        <p:txBody>
          <a:bodyPr wrap="square" lIns="0" tIns="0" rIns="0" bIns="0" rtlCol="0" anchor="ctr"/>
          <a:lstStyle/>
          <a:p>
            <a:pPr algn="r" indent="0" marL="0">
              <a:buNone/>
            </a:pPr>
            <a:r>
              <a:rPr lang="en-US" sz="900" dirty="0">
                <a:solidFill>
                  <a:srgbClr val="8A8A85"/>
                </a:solidFill>
              </a:rPr>
              <a:t>10</a:t>
            </a:r>
            <a:endParaRPr lang="en-US" sz="900" dirty="0"/>
          </a:p>
        </p:txBody>
      </p:sp>
      <p:sp>
        <p:nvSpPr>
          <p:cNvPr id="8" name="Shape 6"/>
          <p:cNvSpPr/>
          <p:nvPr/>
        </p:nvSpPr>
        <p:spPr>
          <a:xfrm>
            <a:off x="457200" y="1051560"/>
            <a:ext cx="2624328" cy="1627632"/>
          </a:xfrm>
          <a:prstGeom prst="roundRect">
            <a:avLst>
              <a:gd name="adj" fmla="val 4494"/>
            </a:avLst>
          </a:prstGeom>
          <a:solidFill>
            <a:srgbClr val="FFFFFF"/>
          </a:solidFill>
          <a:ln w="19050">
            <a:solidFill>
              <a:srgbClr val="2B7A8C"/>
            </a:solidFill>
            <a:prstDash val="solid"/>
          </a:ln>
          <a:effectLst>
            <a:outerShdw sx="100000" sy="100000" kx="0" ky="0" algn="bl" rotWithShape="0" blurRad="76200" dist="25400" dir="2700000">
              <a:srgbClr val="000000">
                <a:alpha val="10000"/>
              </a:srgbClr>
            </a:outerShdw>
          </a:effectLst>
        </p:spPr>
      </p:sp>
      <p:sp>
        <p:nvSpPr>
          <p:cNvPr id="9" name="Shape 7"/>
          <p:cNvSpPr/>
          <p:nvPr/>
        </p:nvSpPr>
        <p:spPr>
          <a:xfrm>
            <a:off x="640080" y="1234440"/>
            <a:ext cx="420624" cy="420624"/>
          </a:xfrm>
          <a:prstGeom prst="ellipse">
            <a:avLst/>
          </a:prstGeom>
          <a:solidFill>
            <a:srgbClr val="E1EEF0"/>
          </a:solidFill>
          <a:ln w="12700">
            <a:solidFill>
              <a:srgbClr val="E1EEF0"/>
            </a:solidFill>
            <a:prstDash val="solid"/>
          </a:ln>
        </p:spPr>
      </p:sp>
      <p:pic>
        <p:nvPicPr>
          <p:cNvPr id="10" name="Image 0" descr="preencoded.png">    </p:cNvPr>
          <p:cNvPicPr>
            <a:picLocks noChangeAspect="1"/>
          </p:cNvPicPr>
          <p:nvPr/>
        </p:nvPicPr>
        <p:blipFill>
          <a:blip r:embed="rId1"/>
          <a:stretch>
            <a:fillRect/>
          </a:stretch>
        </p:blipFill>
        <p:spPr>
          <a:xfrm>
            <a:off x="732617" y="1326977"/>
            <a:ext cx="235549" cy="235549"/>
          </a:xfrm>
          <a:prstGeom prst="rect">
            <a:avLst/>
          </a:prstGeom>
        </p:spPr>
      </p:pic>
      <p:sp>
        <p:nvSpPr>
          <p:cNvPr id="11" name="Text 8"/>
          <p:cNvSpPr/>
          <p:nvPr/>
        </p:nvSpPr>
        <p:spPr>
          <a:xfrm>
            <a:off x="2029968" y="1252728"/>
            <a:ext cx="914400" cy="219456"/>
          </a:xfrm>
          <a:prstGeom prst="rect">
            <a:avLst/>
          </a:prstGeom>
          <a:noFill/>
          <a:ln/>
        </p:spPr>
        <p:txBody>
          <a:bodyPr wrap="square" lIns="0" tIns="0" rIns="0" bIns="0" rtlCol="0" anchor="ctr"/>
          <a:lstStyle/>
          <a:p>
            <a:pPr algn="r" indent="0" marL="0">
              <a:buNone/>
            </a:pPr>
            <a:r>
              <a:rPr lang="en-US" sz="750" b="1" spc="100" kern="0" dirty="0">
                <a:solidFill>
                  <a:srgbClr val="2B7A8C"/>
                </a:solidFill>
                <a:latin typeface="Calibri" pitchFamily="34" charset="0"/>
                <a:ea typeface="Calibri" pitchFamily="34" charset="-122"/>
                <a:cs typeface="Calibri" pitchFamily="34" charset="-120"/>
              </a:rPr>
              <a:t>FOCUS NOW</a:t>
            </a:r>
            <a:endParaRPr lang="en-US" sz="750" dirty="0"/>
          </a:p>
        </p:txBody>
      </p:sp>
      <p:sp>
        <p:nvSpPr>
          <p:cNvPr id="12" name="Text 9"/>
          <p:cNvSpPr/>
          <p:nvPr/>
        </p:nvSpPr>
        <p:spPr>
          <a:xfrm>
            <a:off x="640080" y="1709928"/>
            <a:ext cx="2258568" cy="310896"/>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ADMS</a:t>
            </a:r>
            <a:endParaRPr lang="en-US" sz="1350" dirty="0"/>
          </a:p>
        </p:txBody>
      </p:sp>
      <p:sp>
        <p:nvSpPr>
          <p:cNvPr id="13" name="Text 10"/>
          <p:cNvSpPr/>
          <p:nvPr/>
        </p:nvSpPr>
        <p:spPr>
          <a:xfrm>
            <a:off x="640080" y="2020824"/>
            <a:ext cx="2258568" cy="603504"/>
          </a:xfrm>
          <a:prstGeom prst="rect">
            <a:avLst/>
          </a:prstGeom>
          <a:noFill/>
          <a:ln/>
        </p:spPr>
        <p:txBody>
          <a:bodyPr wrap="square" lIns="0" tIns="0" rIns="0" bIns="0" rtlCol="0" anchor="t"/>
          <a:lstStyle/>
          <a:p>
            <a:pPr indent="0" marL="0">
              <a:lnSpc>
                <a:spcPct val="102000"/>
              </a:lnSpc>
              <a:buNone/>
            </a:pPr>
            <a:r>
              <a:rPr lang="en-US" sz="1030" dirty="0">
                <a:solidFill>
                  <a:srgbClr val="5F5E5A"/>
                </a:solidFill>
                <a:latin typeface="Calibri" pitchFamily="34" charset="0"/>
                <a:ea typeface="Calibri" pitchFamily="34" charset="-122"/>
                <a:cs typeface="Calibri" pitchFamily="34" charset="-120"/>
              </a:rPr>
              <a:t>Topology, outage management, FLISR, and Volt/VAR across all 3 substations and the 22kV grid.</a:t>
            </a:r>
            <a:endParaRPr lang="en-US" sz="1030" dirty="0"/>
          </a:p>
        </p:txBody>
      </p:sp>
      <p:sp>
        <p:nvSpPr>
          <p:cNvPr id="14" name="Shape 11"/>
          <p:cNvSpPr/>
          <p:nvPr/>
        </p:nvSpPr>
        <p:spPr>
          <a:xfrm>
            <a:off x="3264408" y="1051560"/>
            <a:ext cx="2624328" cy="1627632"/>
          </a:xfrm>
          <a:prstGeom prst="roundRect">
            <a:avLst>
              <a:gd name="adj" fmla="val 4494"/>
            </a:avLst>
          </a:prstGeom>
          <a:solidFill>
            <a:srgbClr val="FFFFFF"/>
          </a:solidFill>
          <a:ln w="19050">
            <a:solidFill>
              <a:srgbClr val="2B7A8C"/>
            </a:solidFill>
            <a:prstDash val="solid"/>
          </a:ln>
          <a:effectLst>
            <a:outerShdw sx="100000" sy="100000" kx="0" ky="0" algn="bl" rotWithShape="0" blurRad="76200" dist="25400" dir="2700000">
              <a:srgbClr val="000000">
                <a:alpha val="10000"/>
              </a:srgbClr>
            </a:outerShdw>
          </a:effectLst>
        </p:spPr>
      </p:sp>
      <p:sp>
        <p:nvSpPr>
          <p:cNvPr id="15" name="Shape 12"/>
          <p:cNvSpPr/>
          <p:nvPr/>
        </p:nvSpPr>
        <p:spPr>
          <a:xfrm>
            <a:off x="3447288" y="1234440"/>
            <a:ext cx="420624" cy="420624"/>
          </a:xfrm>
          <a:prstGeom prst="ellipse">
            <a:avLst/>
          </a:prstGeom>
          <a:solidFill>
            <a:srgbClr val="E1EEF0"/>
          </a:solidFill>
          <a:ln w="12700">
            <a:solidFill>
              <a:srgbClr val="E1EEF0"/>
            </a:solidFill>
            <a:prstDash val="solid"/>
          </a:ln>
        </p:spPr>
      </p:sp>
      <p:pic>
        <p:nvPicPr>
          <p:cNvPr id="16" name="Image 1" descr="preencoded.png">    </p:cNvPr>
          <p:cNvPicPr>
            <a:picLocks noChangeAspect="1"/>
          </p:cNvPicPr>
          <p:nvPr/>
        </p:nvPicPr>
        <p:blipFill>
          <a:blip r:embed="rId2"/>
          <a:stretch>
            <a:fillRect/>
          </a:stretch>
        </p:blipFill>
        <p:spPr>
          <a:xfrm>
            <a:off x="3539825" y="1326977"/>
            <a:ext cx="235549" cy="235549"/>
          </a:xfrm>
          <a:prstGeom prst="rect">
            <a:avLst/>
          </a:prstGeom>
        </p:spPr>
      </p:pic>
      <p:sp>
        <p:nvSpPr>
          <p:cNvPr id="17" name="Text 13"/>
          <p:cNvSpPr/>
          <p:nvPr/>
        </p:nvSpPr>
        <p:spPr>
          <a:xfrm>
            <a:off x="4837176" y="1252728"/>
            <a:ext cx="914400" cy="219456"/>
          </a:xfrm>
          <a:prstGeom prst="rect">
            <a:avLst/>
          </a:prstGeom>
          <a:noFill/>
          <a:ln/>
        </p:spPr>
        <p:txBody>
          <a:bodyPr wrap="square" lIns="0" tIns="0" rIns="0" bIns="0" rtlCol="0" anchor="ctr"/>
          <a:lstStyle/>
          <a:p>
            <a:pPr algn="r" indent="0" marL="0">
              <a:buNone/>
            </a:pPr>
            <a:r>
              <a:rPr lang="en-US" sz="750" b="1" spc="100" kern="0" dirty="0">
                <a:solidFill>
                  <a:srgbClr val="2B7A8C"/>
                </a:solidFill>
                <a:latin typeface="Calibri" pitchFamily="34" charset="0"/>
                <a:ea typeface="Calibri" pitchFamily="34" charset="-122"/>
                <a:cs typeface="Calibri" pitchFamily="34" charset="-120"/>
              </a:rPr>
              <a:t>FOCUS NOW</a:t>
            </a:r>
            <a:endParaRPr lang="en-US" sz="750" dirty="0"/>
          </a:p>
        </p:txBody>
      </p:sp>
      <p:sp>
        <p:nvSpPr>
          <p:cNvPr id="18" name="Text 14"/>
          <p:cNvSpPr/>
          <p:nvPr/>
        </p:nvSpPr>
        <p:spPr>
          <a:xfrm>
            <a:off x="3447288" y="1709928"/>
            <a:ext cx="2258568" cy="310896"/>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DERMS</a:t>
            </a:r>
            <a:endParaRPr lang="en-US" sz="1350" dirty="0"/>
          </a:p>
        </p:txBody>
      </p:sp>
      <p:sp>
        <p:nvSpPr>
          <p:cNvPr id="19" name="Text 15"/>
          <p:cNvSpPr/>
          <p:nvPr/>
        </p:nvSpPr>
        <p:spPr>
          <a:xfrm>
            <a:off x="3447288" y="2020824"/>
            <a:ext cx="2258568" cy="603504"/>
          </a:xfrm>
          <a:prstGeom prst="rect">
            <a:avLst/>
          </a:prstGeom>
          <a:noFill/>
          <a:ln/>
        </p:spPr>
        <p:txBody>
          <a:bodyPr wrap="square" lIns="0" tIns="0" rIns="0" bIns="0" rtlCol="0" anchor="t"/>
          <a:lstStyle/>
          <a:p>
            <a:pPr indent="0" marL="0">
              <a:lnSpc>
                <a:spcPct val="102000"/>
              </a:lnSpc>
              <a:buNone/>
            </a:pPr>
            <a:r>
              <a:rPr lang="en-US" sz="1030" dirty="0">
                <a:solidFill>
                  <a:srgbClr val="5F5E5A"/>
                </a:solidFill>
                <a:latin typeface="Calibri" pitchFamily="34" charset="0"/>
                <a:ea typeface="Calibri" pitchFamily="34" charset="-122"/>
                <a:cs typeface="Calibri" pitchFamily="34" charset="-120"/>
              </a:rPr>
              <a:t>Orchestrate 187 MW of RTS — curtailment, zero-export enforcement, and solar forecasting.</a:t>
            </a:r>
            <a:endParaRPr lang="en-US" sz="1030" dirty="0"/>
          </a:p>
        </p:txBody>
      </p:sp>
      <p:sp>
        <p:nvSpPr>
          <p:cNvPr id="20" name="Shape 16"/>
          <p:cNvSpPr/>
          <p:nvPr/>
        </p:nvSpPr>
        <p:spPr>
          <a:xfrm>
            <a:off x="6071616" y="1051560"/>
            <a:ext cx="2624328" cy="1627632"/>
          </a:xfrm>
          <a:prstGeom prst="roundRect">
            <a:avLst>
              <a:gd name="adj" fmla="val 4494"/>
            </a:avLst>
          </a:prstGeom>
          <a:solidFill>
            <a:srgbClr val="FFFFFF"/>
          </a:solidFill>
          <a:ln w="6350">
            <a:solidFill>
              <a:srgbClr val="CCCCCC"/>
            </a:solidFill>
            <a:prstDash val="solid"/>
          </a:ln>
          <a:effectLst>
            <a:outerShdw sx="100000" sy="100000" kx="0" ky="0" algn="bl" rotWithShape="0" blurRad="76200" dist="25400" dir="2700000">
              <a:srgbClr val="000000">
                <a:alpha val="10000"/>
              </a:srgbClr>
            </a:outerShdw>
          </a:effectLst>
        </p:spPr>
      </p:sp>
      <p:sp>
        <p:nvSpPr>
          <p:cNvPr id="21" name="Shape 17"/>
          <p:cNvSpPr/>
          <p:nvPr/>
        </p:nvSpPr>
        <p:spPr>
          <a:xfrm>
            <a:off x="6254496" y="1234440"/>
            <a:ext cx="420624" cy="420624"/>
          </a:xfrm>
          <a:prstGeom prst="ellipse">
            <a:avLst/>
          </a:prstGeom>
          <a:solidFill>
            <a:srgbClr val="FBEAE2"/>
          </a:solidFill>
          <a:ln w="12700">
            <a:solidFill>
              <a:srgbClr val="FBEAE2"/>
            </a:solidFill>
            <a:prstDash val="solid"/>
          </a:ln>
        </p:spPr>
      </p:sp>
      <p:pic>
        <p:nvPicPr>
          <p:cNvPr id="22" name="Image 2" descr="preencoded.png">    </p:cNvPr>
          <p:cNvPicPr>
            <a:picLocks noChangeAspect="1"/>
          </p:cNvPicPr>
          <p:nvPr/>
        </p:nvPicPr>
        <p:blipFill>
          <a:blip r:embed="rId3"/>
          <a:stretch>
            <a:fillRect/>
          </a:stretch>
        </p:blipFill>
        <p:spPr>
          <a:xfrm>
            <a:off x="6347033" y="1326977"/>
            <a:ext cx="235549" cy="235549"/>
          </a:xfrm>
          <a:prstGeom prst="rect">
            <a:avLst/>
          </a:prstGeom>
        </p:spPr>
      </p:pic>
      <p:sp>
        <p:nvSpPr>
          <p:cNvPr id="23" name="Text 18"/>
          <p:cNvSpPr/>
          <p:nvPr/>
        </p:nvSpPr>
        <p:spPr>
          <a:xfrm>
            <a:off x="6254496" y="1709928"/>
            <a:ext cx="2258568" cy="310896"/>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Microgrid &amp; BESS</a:t>
            </a:r>
            <a:endParaRPr lang="en-US" sz="1350" dirty="0"/>
          </a:p>
        </p:txBody>
      </p:sp>
      <p:sp>
        <p:nvSpPr>
          <p:cNvPr id="24" name="Text 19"/>
          <p:cNvSpPr/>
          <p:nvPr/>
        </p:nvSpPr>
        <p:spPr>
          <a:xfrm>
            <a:off x="6254496" y="2020824"/>
            <a:ext cx="2258568" cy="603504"/>
          </a:xfrm>
          <a:prstGeom prst="rect">
            <a:avLst/>
          </a:prstGeom>
          <a:noFill/>
          <a:ln/>
        </p:spPr>
        <p:txBody>
          <a:bodyPr wrap="square" lIns="0" tIns="0" rIns="0" bIns="0" rtlCol="0" anchor="t"/>
          <a:lstStyle/>
          <a:p>
            <a:pPr indent="0" marL="0">
              <a:lnSpc>
                <a:spcPct val="102000"/>
              </a:lnSpc>
              <a:buNone/>
            </a:pPr>
            <a:r>
              <a:rPr lang="en-US" sz="1030" dirty="0">
                <a:solidFill>
                  <a:srgbClr val="5F5E5A"/>
                </a:solidFill>
                <a:latin typeface="Calibri" pitchFamily="34" charset="0"/>
                <a:ea typeface="Calibri" pitchFamily="34" charset="-122"/>
                <a:cs typeface="Calibri" pitchFamily="34" charset="-120"/>
              </a:rPr>
              <a:t>Closed-loop BESS dispatch, peak shaving, islanding, black start, grid-forming control.</a:t>
            </a:r>
            <a:endParaRPr lang="en-US" sz="1030" dirty="0"/>
          </a:p>
        </p:txBody>
      </p:sp>
      <p:sp>
        <p:nvSpPr>
          <p:cNvPr id="25" name="Shape 20"/>
          <p:cNvSpPr/>
          <p:nvPr/>
        </p:nvSpPr>
        <p:spPr>
          <a:xfrm>
            <a:off x="457200" y="2807208"/>
            <a:ext cx="2624328" cy="1627632"/>
          </a:xfrm>
          <a:prstGeom prst="roundRect">
            <a:avLst>
              <a:gd name="adj" fmla="val 4494"/>
            </a:avLst>
          </a:prstGeom>
          <a:solidFill>
            <a:srgbClr val="FFFFFF"/>
          </a:solidFill>
          <a:ln w="6350">
            <a:solidFill>
              <a:srgbClr val="CCCCCC"/>
            </a:solidFill>
            <a:prstDash val="solid"/>
          </a:ln>
          <a:effectLst>
            <a:outerShdw sx="100000" sy="100000" kx="0" ky="0" algn="bl" rotWithShape="0" blurRad="76200" dist="25400" dir="2700000">
              <a:srgbClr val="000000">
                <a:alpha val="10000"/>
              </a:srgbClr>
            </a:outerShdw>
          </a:effectLst>
        </p:spPr>
      </p:sp>
      <p:sp>
        <p:nvSpPr>
          <p:cNvPr id="26" name="Shape 21"/>
          <p:cNvSpPr/>
          <p:nvPr/>
        </p:nvSpPr>
        <p:spPr>
          <a:xfrm>
            <a:off x="640080" y="2990088"/>
            <a:ext cx="420624" cy="420624"/>
          </a:xfrm>
          <a:prstGeom prst="ellipse">
            <a:avLst/>
          </a:prstGeom>
          <a:solidFill>
            <a:srgbClr val="FBEAE2"/>
          </a:solidFill>
          <a:ln w="12700">
            <a:solidFill>
              <a:srgbClr val="FBEAE2"/>
            </a:solidFill>
            <a:prstDash val="solid"/>
          </a:ln>
        </p:spPr>
      </p:sp>
      <p:pic>
        <p:nvPicPr>
          <p:cNvPr id="27" name="Image 3" descr="preencoded.png">    </p:cNvPr>
          <p:cNvPicPr>
            <a:picLocks noChangeAspect="1"/>
          </p:cNvPicPr>
          <p:nvPr/>
        </p:nvPicPr>
        <p:blipFill>
          <a:blip r:embed="rId4"/>
          <a:stretch>
            <a:fillRect/>
          </a:stretch>
        </p:blipFill>
        <p:spPr>
          <a:xfrm>
            <a:off x="732617" y="3082625"/>
            <a:ext cx="235549" cy="235549"/>
          </a:xfrm>
          <a:prstGeom prst="rect">
            <a:avLst/>
          </a:prstGeom>
        </p:spPr>
      </p:pic>
      <p:sp>
        <p:nvSpPr>
          <p:cNvPr id="28" name="Text 22"/>
          <p:cNvSpPr/>
          <p:nvPr/>
        </p:nvSpPr>
        <p:spPr>
          <a:xfrm>
            <a:off x="640080" y="3465576"/>
            <a:ext cx="2258568" cy="310896"/>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Multi-vendor integration</a:t>
            </a:r>
            <a:endParaRPr lang="en-US" sz="1350" dirty="0"/>
          </a:p>
        </p:txBody>
      </p:sp>
      <p:sp>
        <p:nvSpPr>
          <p:cNvPr id="29" name="Text 23"/>
          <p:cNvSpPr/>
          <p:nvPr/>
        </p:nvSpPr>
        <p:spPr>
          <a:xfrm>
            <a:off x="640080" y="3776472"/>
            <a:ext cx="2258568" cy="603504"/>
          </a:xfrm>
          <a:prstGeom prst="rect">
            <a:avLst/>
          </a:prstGeom>
          <a:noFill/>
          <a:ln/>
        </p:spPr>
        <p:txBody>
          <a:bodyPr wrap="square" lIns="0" tIns="0" rIns="0" bIns="0" rtlCol="0" anchor="t"/>
          <a:lstStyle/>
          <a:p>
            <a:pPr indent="0" marL="0">
              <a:lnSpc>
                <a:spcPct val="102000"/>
              </a:lnSpc>
              <a:buNone/>
            </a:pPr>
            <a:r>
              <a:rPr lang="en-US" sz="1030" dirty="0">
                <a:solidFill>
                  <a:srgbClr val="5F5E5A"/>
                </a:solidFill>
                <a:latin typeface="Calibri" pitchFamily="34" charset="0"/>
                <a:ea typeface="Calibri" pitchFamily="34" charset="-122"/>
                <a:cs typeface="Calibri" pitchFamily="34" charset="-120"/>
              </a:rPr>
              <a:t>DNP3, IEC 61850, IEC-104, Modbus, IEEE 2030.5 — vendor-agnostic by design.</a:t>
            </a:r>
            <a:endParaRPr lang="en-US" sz="1030" dirty="0"/>
          </a:p>
        </p:txBody>
      </p:sp>
      <p:sp>
        <p:nvSpPr>
          <p:cNvPr id="30" name="Shape 24"/>
          <p:cNvSpPr/>
          <p:nvPr/>
        </p:nvSpPr>
        <p:spPr>
          <a:xfrm>
            <a:off x="3264408" y="2807208"/>
            <a:ext cx="2624328" cy="1627632"/>
          </a:xfrm>
          <a:prstGeom prst="roundRect">
            <a:avLst>
              <a:gd name="adj" fmla="val 4494"/>
            </a:avLst>
          </a:prstGeom>
          <a:solidFill>
            <a:srgbClr val="FFFFFF"/>
          </a:solidFill>
          <a:ln w="6350">
            <a:solidFill>
              <a:srgbClr val="CCCCCC"/>
            </a:solidFill>
            <a:prstDash val="solid"/>
          </a:ln>
          <a:effectLst>
            <a:outerShdw sx="100000" sy="100000" kx="0" ky="0" algn="bl" rotWithShape="0" blurRad="76200" dist="25400" dir="2700000">
              <a:srgbClr val="000000">
                <a:alpha val="10000"/>
              </a:srgbClr>
            </a:outerShdw>
          </a:effectLst>
        </p:spPr>
      </p:sp>
      <p:sp>
        <p:nvSpPr>
          <p:cNvPr id="31" name="Shape 25"/>
          <p:cNvSpPr/>
          <p:nvPr/>
        </p:nvSpPr>
        <p:spPr>
          <a:xfrm>
            <a:off x="3447288" y="2990088"/>
            <a:ext cx="420624" cy="420624"/>
          </a:xfrm>
          <a:prstGeom prst="ellipse">
            <a:avLst/>
          </a:prstGeom>
          <a:solidFill>
            <a:srgbClr val="FBEAE2"/>
          </a:solidFill>
          <a:ln w="12700">
            <a:solidFill>
              <a:srgbClr val="FBEAE2"/>
            </a:solidFill>
            <a:prstDash val="solid"/>
          </a:ln>
        </p:spPr>
      </p:sp>
      <p:pic>
        <p:nvPicPr>
          <p:cNvPr id="32" name="Image 4" descr="preencoded.png">    </p:cNvPr>
          <p:cNvPicPr>
            <a:picLocks noChangeAspect="1"/>
          </p:cNvPicPr>
          <p:nvPr/>
        </p:nvPicPr>
        <p:blipFill>
          <a:blip r:embed="rId5"/>
          <a:stretch>
            <a:fillRect/>
          </a:stretch>
        </p:blipFill>
        <p:spPr>
          <a:xfrm>
            <a:off x="3539825" y="3082625"/>
            <a:ext cx="235549" cy="235549"/>
          </a:xfrm>
          <a:prstGeom prst="rect">
            <a:avLst/>
          </a:prstGeom>
        </p:spPr>
      </p:pic>
      <p:sp>
        <p:nvSpPr>
          <p:cNvPr id="33" name="Text 26"/>
          <p:cNvSpPr/>
          <p:nvPr/>
        </p:nvSpPr>
        <p:spPr>
          <a:xfrm>
            <a:off x="3447288" y="3465576"/>
            <a:ext cx="2258568" cy="310896"/>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Industrial cybersecurity</a:t>
            </a:r>
            <a:endParaRPr lang="en-US" sz="1350" dirty="0"/>
          </a:p>
        </p:txBody>
      </p:sp>
      <p:sp>
        <p:nvSpPr>
          <p:cNvPr id="34" name="Text 27"/>
          <p:cNvSpPr/>
          <p:nvPr/>
        </p:nvSpPr>
        <p:spPr>
          <a:xfrm>
            <a:off x="3447288" y="3776472"/>
            <a:ext cx="2258568" cy="603504"/>
          </a:xfrm>
          <a:prstGeom prst="rect">
            <a:avLst/>
          </a:prstGeom>
          <a:noFill/>
          <a:ln/>
        </p:spPr>
        <p:txBody>
          <a:bodyPr wrap="square" lIns="0" tIns="0" rIns="0" bIns="0" rtlCol="0" anchor="t"/>
          <a:lstStyle/>
          <a:p>
            <a:pPr indent="0" marL="0">
              <a:lnSpc>
                <a:spcPct val="102000"/>
              </a:lnSpc>
              <a:buNone/>
            </a:pPr>
            <a:r>
              <a:rPr lang="en-US" sz="1030" dirty="0">
                <a:solidFill>
                  <a:srgbClr val="5F5E5A"/>
                </a:solidFill>
                <a:latin typeface="Calibri" pitchFamily="34" charset="0"/>
                <a:ea typeface="Calibri" pitchFamily="34" charset="-122"/>
                <a:cs typeface="Calibri" pitchFamily="34" charset="-120"/>
              </a:rPr>
              <a:t>OT segmentation, role-based access, audit logging. IEC 62443-aligned from day one.</a:t>
            </a:r>
            <a:endParaRPr lang="en-US" sz="1030" dirty="0"/>
          </a:p>
        </p:txBody>
      </p:sp>
      <p:sp>
        <p:nvSpPr>
          <p:cNvPr id="35" name="Shape 28"/>
          <p:cNvSpPr/>
          <p:nvPr/>
        </p:nvSpPr>
        <p:spPr>
          <a:xfrm>
            <a:off x="6071616" y="2807208"/>
            <a:ext cx="2624328" cy="1627632"/>
          </a:xfrm>
          <a:prstGeom prst="roundRect">
            <a:avLst>
              <a:gd name="adj" fmla="val 4494"/>
            </a:avLst>
          </a:prstGeom>
          <a:solidFill>
            <a:srgbClr val="FFFFFF"/>
          </a:solidFill>
          <a:ln w="6350">
            <a:solidFill>
              <a:srgbClr val="CCCCCC"/>
            </a:solidFill>
            <a:prstDash val="solid"/>
          </a:ln>
          <a:effectLst>
            <a:outerShdw sx="100000" sy="100000" kx="0" ky="0" algn="bl" rotWithShape="0" blurRad="76200" dist="25400" dir="2700000">
              <a:srgbClr val="000000">
                <a:alpha val="10000"/>
              </a:srgbClr>
            </a:outerShdw>
          </a:effectLst>
        </p:spPr>
      </p:sp>
      <p:sp>
        <p:nvSpPr>
          <p:cNvPr id="36" name="Shape 29"/>
          <p:cNvSpPr/>
          <p:nvPr/>
        </p:nvSpPr>
        <p:spPr>
          <a:xfrm>
            <a:off x="6254496" y="2990088"/>
            <a:ext cx="420624" cy="420624"/>
          </a:xfrm>
          <a:prstGeom prst="ellipse">
            <a:avLst/>
          </a:prstGeom>
          <a:solidFill>
            <a:srgbClr val="FBEAE2"/>
          </a:solidFill>
          <a:ln w="12700">
            <a:solidFill>
              <a:srgbClr val="FBEAE2"/>
            </a:solidFill>
            <a:prstDash val="solid"/>
          </a:ln>
        </p:spPr>
      </p:sp>
      <p:pic>
        <p:nvPicPr>
          <p:cNvPr id="37" name="Image 5" descr="preencoded.png">    </p:cNvPr>
          <p:cNvPicPr>
            <a:picLocks noChangeAspect="1"/>
          </p:cNvPicPr>
          <p:nvPr/>
        </p:nvPicPr>
        <p:blipFill>
          <a:blip r:embed="rId6"/>
          <a:stretch>
            <a:fillRect/>
          </a:stretch>
        </p:blipFill>
        <p:spPr>
          <a:xfrm>
            <a:off x="6347033" y="3082625"/>
            <a:ext cx="235549" cy="235549"/>
          </a:xfrm>
          <a:prstGeom prst="rect">
            <a:avLst/>
          </a:prstGeom>
        </p:spPr>
      </p:pic>
      <p:sp>
        <p:nvSpPr>
          <p:cNvPr id="38" name="Text 30"/>
          <p:cNvSpPr/>
          <p:nvPr/>
        </p:nvSpPr>
        <p:spPr>
          <a:xfrm>
            <a:off x="6254496" y="3465576"/>
            <a:ext cx="2258568" cy="310896"/>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VPP &amp; AMI readiness</a:t>
            </a:r>
            <a:endParaRPr lang="en-US" sz="1350" dirty="0"/>
          </a:p>
        </p:txBody>
      </p:sp>
      <p:sp>
        <p:nvSpPr>
          <p:cNvPr id="39" name="Text 31"/>
          <p:cNvSpPr/>
          <p:nvPr/>
        </p:nvSpPr>
        <p:spPr>
          <a:xfrm>
            <a:off x="6254496" y="3776472"/>
            <a:ext cx="2258568" cy="603504"/>
          </a:xfrm>
          <a:prstGeom prst="rect">
            <a:avLst/>
          </a:prstGeom>
          <a:noFill/>
          <a:ln/>
        </p:spPr>
        <p:txBody>
          <a:bodyPr wrap="square" lIns="0" tIns="0" rIns="0" bIns="0" rtlCol="0" anchor="t"/>
          <a:lstStyle/>
          <a:p>
            <a:pPr indent="0" marL="0">
              <a:lnSpc>
                <a:spcPct val="102000"/>
              </a:lnSpc>
              <a:buNone/>
            </a:pPr>
            <a:r>
              <a:rPr lang="en-US" sz="1030" dirty="0">
                <a:solidFill>
                  <a:srgbClr val="5F5E5A"/>
                </a:solidFill>
                <a:latin typeface="Calibri" pitchFamily="34" charset="0"/>
                <a:ea typeface="Calibri" pitchFamily="34" charset="-122"/>
                <a:cs typeface="Calibri" pitchFamily="34" charset="-120"/>
              </a:rPr>
              <a:t>Open API for AMI and VPP — demand response, ESG reporting, market participation later.</a:t>
            </a:r>
            <a:endParaRPr lang="en-US" sz="103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3139"/>
        </a:solidFill>
      </p:bgPr>
    </p:bg>
    <p:spTree>
      <p:nvGrpSpPr>
        <p:cNvPr id="1" name=""/>
        <p:cNvGrpSpPr/>
        <p:nvPr/>
      </p:nvGrpSpPr>
      <p:grpSpPr>
        <a:xfrm>
          <a:off x="0" y="0"/>
          <a:ext cx="0" cy="0"/>
          <a:chOff x="0" y="0"/>
          <a:chExt cx="0" cy="0"/>
        </a:xfrm>
      </p:grpSpPr>
      <p:sp>
        <p:nvSpPr>
          <p:cNvPr id="2" name="Shape 0"/>
          <p:cNvSpPr/>
          <p:nvPr/>
        </p:nvSpPr>
        <p:spPr>
          <a:xfrm>
            <a:off x="6949440" y="-1280160"/>
            <a:ext cx="4206240" cy="4206240"/>
          </a:xfrm>
          <a:prstGeom prst="ellipse">
            <a:avLst/>
          </a:prstGeom>
          <a:solidFill>
            <a:srgbClr val="1C5260">
              <a:alpha val="65000"/>
            </a:srgbClr>
          </a:solidFill>
          <a:ln/>
        </p:spPr>
      </p:sp>
      <p:sp>
        <p:nvSpPr>
          <p:cNvPr id="3" name="Shape 1"/>
          <p:cNvSpPr/>
          <p:nvPr/>
        </p:nvSpPr>
        <p:spPr>
          <a:xfrm>
            <a:off x="8138160" y="2377440"/>
            <a:ext cx="2194560" cy="2194560"/>
          </a:xfrm>
          <a:prstGeom prst="ellipse">
            <a:avLst/>
          </a:prstGeom>
          <a:solidFill>
            <a:srgbClr val="2B7A8C">
              <a:alpha val="30000"/>
            </a:srgbClr>
          </a:solidFill>
          <a:ln/>
        </p:spPr>
      </p:sp>
      <p:sp>
        <p:nvSpPr>
          <p:cNvPr id="4" name="Shape 2"/>
          <p:cNvSpPr/>
          <p:nvPr/>
        </p:nvSpPr>
        <p:spPr>
          <a:xfrm>
            <a:off x="640080" y="1874520"/>
            <a:ext cx="457200" cy="64008"/>
          </a:xfrm>
          <a:prstGeom prst="rect">
            <a:avLst/>
          </a:prstGeom>
          <a:solidFill>
            <a:srgbClr val="D94F1E"/>
          </a:solidFill>
          <a:ln w="12700">
            <a:solidFill>
              <a:srgbClr val="D94F1E"/>
            </a:solidFill>
            <a:prstDash val="solid"/>
          </a:ln>
        </p:spPr>
      </p:sp>
      <p:sp>
        <p:nvSpPr>
          <p:cNvPr id="5" name="Text 3"/>
          <p:cNvSpPr/>
          <p:nvPr/>
        </p:nvSpPr>
        <p:spPr>
          <a:xfrm>
            <a:off x="640080" y="1325880"/>
            <a:ext cx="2743200" cy="457200"/>
          </a:xfrm>
          <a:prstGeom prst="rect">
            <a:avLst/>
          </a:prstGeom>
          <a:noFill/>
          <a:ln/>
        </p:spPr>
        <p:txBody>
          <a:bodyPr wrap="square" lIns="0" tIns="0" rIns="0" bIns="0" rtlCol="0" anchor="ctr"/>
          <a:lstStyle/>
          <a:p>
            <a:pPr indent="0" marL="0">
              <a:buNone/>
            </a:pPr>
            <a:r>
              <a:rPr lang="en-US" sz="1400" spc="300" kern="0" dirty="0">
                <a:solidFill>
                  <a:srgbClr val="BFE0DE"/>
                </a:solidFill>
                <a:latin typeface="Calibri" pitchFamily="34" charset="0"/>
                <a:ea typeface="Calibri" pitchFamily="34" charset="-122"/>
                <a:cs typeface="Calibri" pitchFamily="34" charset="-120"/>
              </a:rPr>
              <a:t>Section 04</a:t>
            </a:r>
            <a:endParaRPr lang="en-US" sz="1400" dirty="0"/>
          </a:p>
        </p:txBody>
      </p:sp>
      <p:sp>
        <p:nvSpPr>
          <p:cNvPr id="6" name="Text 4"/>
          <p:cNvSpPr/>
          <p:nvPr/>
        </p:nvSpPr>
        <p:spPr>
          <a:xfrm>
            <a:off x="640080" y="2011680"/>
            <a:ext cx="7680960" cy="109728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Recommended Architecture</a:t>
            </a:r>
            <a:endParaRPr lang="en-US" sz="4200" dirty="0"/>
          </a:p>
        </p:txBody>
      </p:sp>
      <p:sp>
        <p:nvSpPr>
          <p:cNvPr id="7" name="Text 5"/>
          <p:cNvSpPr/>
          <p:nvPr/>
        </p:nvSpPr>
        <p:spPr>
          <a:xfrm>
            <a:off x="658368" y="3063240"/>
            <a:ext cx="6949440" cy="457200"/>
          </a:xfrm>
          <a:prstGeom prst="rect">
            <a:avLst/>
          </a:prstGeom>
          <a:noFill/>
          <a:ln/>
        </p:spPr>
        <p:txBody>
          <a:bodyPr wrap="square" lIns="0" tIns="0" rIns="0" bIns="0" rtlCol="0" anchor="ctr"/>
          <a:lstStyle/>
          <a:p>
            <a:pPr indent="0" marL="0">
              <a:buNone/>
            </a:pPr>
            <a:r>
              <a:rPr lang="en-US" sz="1500" i="1" dirty="0">
                <a:solidFill>
                  <a:srgbClr val="BFE0DE"/>
                </a:solidFill>
                <a:latin typeface="Calibri" pitchFamily="34" charset="0"/>
                <a:ea typeface="Calibri" pitchFamily="34" charset="-122"/>
                <a:cs typeface="Calibri" pitchFamily="34" charset="-120"/>
              </a:rPr>
              <a:t>How we would design VSIP 4 — and how we solve your two hardest requirements</a:t>
            </a:r>
            <a:endParaRPr lang="en-US" sz="1500" dirty="0"/>
          </a:p>
        </p:txBody>
      </p:sp>
      <p:sp>
        <p:nvSpPr>
          <p:cNvPr id="8" name="Text 6"/>
          <p:cNvSpPr/>
          <p:nvPr/>
        </p:nvSpPr>
        <p:spPr>
          <a:xfrm>
            <a:off x="640080" y="4572000"/>
            <a:ext cx="20116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Survalent</a:t>
            </a:r>
            <a:pPr indent="0" marL="0">
              <a:buNone/>
            </a:pPr>
            <a:r>
              <a:rPr lang="en-US" sz="1300" b="1" dirty="0">
                <a:solidFill>
                  <a:srgbClr val="D94F1E"/>
                </a:solidFill>
                <a:latin typeface="Calibri" pitchFamily="34" charset="0"/>
                <a:ea typeface="Calibri" pitchFamily="34" charset="-122"/>
                <a:cs typeface="Calibri" pitchFamily="34" charset="-120"/>
              </a:rPr>
              <a: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 cy="384048"/>
          </a:xfrm>
          <a:prstGeom prst="rect">
            <a:avLst/>
          </a:prstGeom>
          <a:solidFill>
            <a:srgbClr val="D94F1E"/>
          </a:solidFill>
          <a:ln w="12700">
            <a:solidFill>
              <a:srgbClr val="D94F1E"/>
            </a:solidFill>
            <a:prstDash val="solid"/>
          </a:ln>
        </p:spPr>
      </p:sp>
      <p:sp>
        <p:nvSpPr>
          <p:cNvPr id="3" name="Text 1"/>
          <p:cNvSpPr/>
          <p:nvPr/>
        </p:nvSpPr>
        <p:spPr>
          <a:xfrm>
            <a:off x="502920" y="146304"/>
            <a:ext cx="8229600" cy="658368"/>
          </a:xfrm>
          <a:prstGeom prst="rect">
            <a:avLst/>
          </a:prstGeom>
          <a:noFill/>
          <a:ln/>
        </p:spPr>
        <p:txBody>
          <a:bodyPr wrap="square" lIns="0" tIns="0" rIns="0" bIns="0" rtlCol="0" anchor="ctr"/>
          <a:lstStyle/>
          <a:p>
            <a:pPr indent="0" marL="0">
              <a:buNone/>
            </a:pPr>
            <a:r>
              <a:rPr lang="en-US" sz="3000" b="1" dirty="0">
                <a:solidFill>
                  <a:srgbClr val="2B7A8C"/>
                </a:solidFill>
                <a:latin typeface="Calibri" pitchFamily="34" charset="0"/>
                <a:ea typeface="Calibri" pitchFamily="34" charset="-122"/>
                <a:cs typeface="Calibri" pitchFamily="34" charset="-120"/>
              </a:rPr>
              <a:t>VSIP 4 System Architecture (Conceptual)</a:t>
            </a:r>
            <a:endParaRPr lang="en-US" sz="3000" dirty="0"/>
          </a:p>
        </p:txBody>
      </p:sp>
      <p:sp>
        <p:nvSpPr>
          <p:cNvPr id="4" name="Shape 2"/>
          <p:cNvSpPr/>
          <p:nvPr/>
        </p:nvSpPr>
        <p:spPr>
          <a:xfrm>
            <a:off x="365760" y="4736592"/>
            <a:ext cx="8412480" cy="0"/>
          </a:xfrm>
          <a:prstGeom prst="line">
            <a:avLst/>
          </a:prstGeom>
          <a:noFill/>
          <a:ln w="12700">
            <a:solidFill>
              <a:srgbClr val="E2E2E0"/>
            </a:solidFill>
            <a:prstDash val="solid"/>
          </a:ln>
        </p:spPr>
      </p:sp>
      <p:sp>
        <p:nvSpPr>
          <p:cNvPr id="5" name="Text 3"/>
          <p:cNvSpPr/>
          <p:nvPr/>
        </p:nvSpPr>
        <p:spPr>
          <a:xfrm>
            <a:off x="365760" y="4773168"/>
            <a:ext cx="2011680" cy="27432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Survalent</a:t>
            </a:r>
            <a:pPr indent="0" marL="0">
              <a:buNone/>
            </a:pPr>
            <a:r>
              <a:rPr lang="en-US" sz="1300" b="1" dirty="0">
                <a:solidFill>
                  <a:srgbClr val="D94F1E"/>
                </a:solidFill>
                <a:latin typeface="Calibri" pitchFamily="34" charset="0"/>
                <a:ea typeface="Calibri" pitchFamily="34" charset="-122"/>
                <a:cs typeface="Calibri" pitchFamily="34" charset="-120"/>
              </a:rPr>
              <a:t>.</a:t>
            </a:r>
            <a:endParaRPr lang="en-US" sz="1300" dirty="0"/>
          </a:p>
        </p:txBody>
      </p:sp>
      <p:sp>
        <p:nvSpPr>
          <p:cNvPr id="6" name="Text 4"/>
          <p:cNvSpPr/>
          <p:nvPr/>
        </p:nvSpPr>
        <p:spPr>
          <a:xfrm>
            <a:off x="2926080" y="4809744"/>
            <a:ext cx="3291840" cy="237744"/>
          </a:xfrm>
          <a:prstGeom prst="rect">
            <a:avLst/>
          </a:prstGeom>
          <a:noFill/>
          <a:ln/>
        </p:spPr>
        <p:txBody>
          <a:bodyPr wrap="square" lIns="0" tIns="0" rIns="0" bIns="0" rtlCol="0" anchor="ctr"/>
          <a:lstStyle/>
          <a:p>
            <a:pPr algn="ctr" indent="0" marL="0">
              <a:buNone/>
            </a:pPr>
            <a:r>
              <a:rPr lang="en-US" sz="800" spc="200" kern="0" dirty="0">
                <a:solidFill>
                  <a:srgbClr val="8A8A85"/>
                </a:solidFill>
              </a:rPr>
              <a:t>Confidential &amp; Proprietary</a:t>
            </a:r>
            <a:endParaRPr lang="en-US" sz="800" dirty="0"/>
          </a:p>
        </p:txBody>
      </p:sp>
      <p:sp>
        <p:nvSpPr>
          <p:cNvPr id="7" name="Text 5"/>
          <p:cNvSpPr/>
          <p:nvPr/>
        </p:nvSpPr>
        <p:spPr>
          <a:xfrm>
            <a:off x="8229600" y="4809744"/>
            <a:ext cx="548640" cy="237744"/>
          </a:xfrm>
          <a:prstGeom prst="rect">
            <a:avLst/>
          </a:prstGeom>
          <a:noFill/>
          <a:ln/>
        </p:spPr>
        <p:txBody>
          <a:bodyPr wrap="square" lIns="0" tIns="0" rIns="0" bIns="0" rtlCol="0" anchor="ctr"/>
          <a:lstStyle/>
          <a:p>
            <a:pPr algn="r" indent="0" marL="0">
              <a:buNone/>
            </a:pPr>
            <a:r>
              <a:rPr lang="en-US" sz="900" dirty="0">
                <a:solidFill>
                  <a:srgbClr val="8A8A85"/>
                </a:solidFill>
              </a:rPr>
              <a:t>12</a:t>
            </a:r>
            <a:endParaRPr lang="en-US" sz="900" dirty="0"/>
          </a:p>
        </p:txBody>
      </p:sp>
      <p:sp>
        <p:nvSpPr>
          <p:cNvPr id="8" name="Shape 6"/>
          <p:cNvSpPr/>
          <p:nvPr/>
        </p:nvSpPr>
        <p:spPr>
          <a:xfrm>
            <a:off x="1691640" y="960120"/>
            <a:ext cx="2651760" cy="420624"/>
          </a:xfrm>
          <a:prstGeom prst="roundRect">
            <a:avLst>
              <a:gd name="adj" fmla="val 13043"/>
            </a:avLst>
          </a:prstGeom>
          <a:solidFill>
            <a:srgbClr val="123139"/>
          </a:solidFill>
          <a:ln w="12700">
            <a:solidFill>
              <a:srgbClr val="123139"/>
            </a:solidFill>
            <a:prstDash val="solid"/>
          </a:ln>
        </p:spPr>
      </p:sp>
      <p:sp>
        <p:nvSpPr>
          <p:cNvPr id="9" name="Text 7"/>
          <p:cNvSpPr/>
          <p:nvPr/>
        </p:nvSpPr>
        <p:spPr>
          <a:xfrm>
            <a:off x="1691640" y="960120"/>
            <a:ext cx="2651760" cy="42062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National Grid — 110kV</a:t>
            </a:r>
            <a:endParaRPr lang="en-US" sz="1150" dirty="0"/>
          </a:p>
        </p:txBody>
      </p:sp>
      <p:sp>
        <p:nvSpPr>
          <p:cNvPr id="10" name="Shape 8"/>
          <p:cNvSpPr/>
          <p:nvPr/>
        </p:nvSpPr>
        <p:spPr>
          <a:xfrm>
            <a:off x="3017520" y="1380744"/>
            <a:ext cx="0" cy="320040"/>
          </a:xfrm>
          <a:prstGeom prst="line">
            <a:avLst/>
          </a:prstGeom>
          <a:noFill/>
          <a:ln w="19050">
            <a:solidFill>
              <a:srgbClr val="8A8A85"/>
            </a:solidFill>
            <a:prstDash val="solid"/>
            <a:headEnd type="none"/>
            <a:tailEnd type="arrow"/>
          </a:ln>
        </p:spPr>
      </p:sp>
      <p:sp>
        <p:nvSpPr>
          <p:cNvPr id="11" name="Shape 9"/>
          <p:cNvSpPr/>
          <p:nvPr/>
        </p:nvSpPr>
        <p:spPr>
          <a:xfrm>
            <a:off x="502920" y="1737360"/>
            <a:ext cx="1554480" cy="603504"/>
          </a:xfrm>
          <a:prstGeom prst="roundRect">
            <a:avLst>
              <a:gd name="adj" fmla="val 12121"/>
            </a:avLst>
          </a:prstGeom>
          <a:solidFill>
            <a:srgbClr val="E1EEF0"/>
          </a:solidFill>
          <a:ln w="6350">
            <a:solidFill>
              <a:srgbClr val="9FCAD2"/>
            </a:solidFill>
            <a:prstDash val="solid"/>
          </a:ln>
        </p:spPr>
      </p:sp>
      <p:sp>
        <p:nvSpPr>
          <p:cNvPr id="12" name="Text 10"/>
          <p:cNvSpPr/>
          <p:nvPr/>
        </p:nvSpPr>
        <p:spPr>
          <a:xfrm>
            <a:off x="502920" y="1792224"/>
            <a:ext cx="1554480" cy="274320"/>
          </a:xfrm>
          <a:prstGeom prst="rect">
            <a:avLst/>
          </a:prstGeom>
          <a:noFill/>
          <a:ln/>
        </p:spPr>
        <p:txBody>
          <a:bodyPr wrap="square" lIns="0" tIns="0" rIns="0" bIns="0" rtlCol="0" anchor="ctr"/>
          <a:lstStyle/>
          <a:p>
            <a:pPr algn="ctr" indent="0" marL="0">
              <a:buNone/>
            </a:pPr>
            <a:r>
              <a:rPr lang="en-US" sz="1100" b="1" dirty="0">
                <a:solidFill>
                  <a:srgbClr val="1C5260"/>
                </a:solidFill>
                <a:latin typeface="Calibri" pitchFamily="34" charset="0"/>
                <a:ea typeface="Calibri" pitchFamily="34" charset="-122"/>
                <a:cs typeface="Calibri" pitchFamily="34" charset="-120"/>
              </a:rPr>
              <a:t>Substation 1</a:t>
            </a:r>
            <a:endParaRPr lang="en-US" sz="1100" dirty="0"/>
          </a:p>
        </p:txBody>
      </p:sp>
      <p:sp>
        <p:nvSpPr>
          <p:cNvPr id="13" name="Text 11"/>
          <p:cNvSpPr/>
          <p:nvPr/>
        </p:nvSpPr>
        <p:spPr>
          <a:xfrm>
            <a:off x="502920" y="2048256"/>
            <a:ext cx="1554480" cy="237744"/>
          </a:xfrm>
          <a:prstGeom prst="rect">
            <a:avLst/>
          </a:prstGeom>
          <a:noFill/>
          <a:ln/>
        </p:spPr>
        <p:txBody>
          <a:bodyPr wrap="square" lIns="0" tIns="0" rIns="0" bIns="0" rtlCol="0" anchor="ctr"/>
          <a:lstStyle/>
          <a:p>
            <a:pPr algn="ctr" indent="0" marL="0">
              <a:buNone/>
            </a:pPr>
            <a:r>
              <a:rPr lang="en-US" sz="900" dirty="0">
                <a:solidFill>
                  <a:srgbClr val="5F5E5A"/>
                </a:solidFill>
                <a:latin typeface="Calibri" pitchFamily="34" charset="0"/>
                <a:ea typeface="Calibri" pitchFamily="34" charset="-122"/>
                <a:cs typeface="Calibri" pitchFamily="34" charset="-120"/>
              </a:rPr>
              <a:t>110/22kV · BESS</a:t>
            </a:r>
            <a:endParaRPr lang="en-US" sz="900" dirty="0"/>
          </a:p>
        </p:txBody>
      </p:sp>
      <p:sp>
        <p:nvSpPr>
          <p:cNvPr id="14" name="Shape 12"/>
          <p:cNvSpPr/>
          <p:nvPr/>
        </p:nvSpPr>
        <p:spPr>
          <a:xfrm>
            <a:off x="2240280" y="1737360"/>
            <a:ext cx="1554480" cy="603504"/>
          </a:xfrm>
          <a:prstGeom prst="roundRect">
            <a:avLst>
              <a:gd name="adj" fmla="val 12121"/>
            </a:avLst>
          </a:prstGeom>
          <a:solidFill>
            <a:srgbClr val="E1EEF0"/>
          </a:solidFill>
          <a:ln w="6350">
            <a:solidFill>
              <a:srgbClr val="9FCAD2"/>
            </a:solidFill>
            <a:prstDash val="solid"/>
          </a:ln>
        </p:spPr>
      </p:sp>
      <p:sp>
        <p:nvSpPr>
          <p:cNvPr id="15" name="Text 13"/>
          <p:cNvSpPr/>
          <p:nvPr/>
        </p:nvSpPr>
        <p:spPr>
          <a:xfrm>
            <a:off x="2240280" y="1792224"/>
            <a:ext cx="1554480" cy="274320"/>
          </a:xfrm>
          <a:prstGeom prst="rect">
            <a:avLst/>
          </a:prstGeom>
          <a:noFill/>
          <a:ln/>
        </p:spPr>
        <p:txBody>
          <a:bodyPr wrap="square" lIns="0" tIns="0" rIns="0" bIns="0" rtlCol="0" anchor="ctr"/>
          <a:lstStyle/>
          <a:p>
            <a:pPr algn="ctr" indent="0" marL="0">
              <a:buNone/>
            </a:pPr>
            <a:r>
              <a:rPr lang="en-US" sz="1100" b="1" dirty="0">
                <a:solidFill>
                  <a:srgbClr val="1C5260"/>
                </a:solidFill>
                <a:latin typeface="Calibri" pitchFamily="34" charset="0"/>
                <a:ea typeface="Calibri" pitchFamily="34" charset="-122"/>
                <a:cs typeface="Calibri" pitchFamily="34" charset="-120"/>
              </a:rPr>
              <a:t>Substation 2</a:t>
            </a:r>
            <a:endParaRPr lang="en-US" sz="1100" dirty="0"/>
          </a:p>
        </p:txBody>
      </p:sp>
      <p:sp>
        <p:nvSpPr>
          <p:cNvPr id="16" name="Text 14"/>
          <p:cNvSpPr/>
          <p:nvPr/>
        </p:nvSpPr>
        <p:spPr>
          <a:xfrm>
            <a:off x="2240280" y="2048256"/>
            <a:ext cx="1554480" cy="237744"/>
          </a:xfrm>
          <a:prstGeom prst="rect">
            <a:avLst/>
          </a:prstGeom>
          <a:noFill/>
          <a:ln/>
        </p:spPr>
        <p:txBody>
          <a:bodyPr wrap="square" lIns="0" tIns="0" rIns="0" bIns="0" rtlCol="0" anchor="ctr"/>
          <a:lstStyle/>
          <a:p>
            <a:pPr algn="ctr" indent="0" marL="0">
              <a:buNone/>
            </a:pPr>
            <a:r>
              <a:rPr lang="en-US" sz="900" dirty="0">
                <a:solidFill>
                  <a:srgbClr val="5F5E5A"/>
                </a:solidFill>
                <a:latin typeface="Calibri" pitchFamily="34" charset="0"/>
                <a:ea typeface="Calibri" pitchFamily="34" charset="-122"/>
                <a:cs typeface="Calibri" pitchFamily="34" charset="-120"/>
              </a:rPr>
              <a:t>110/22kV · BESS</a:t>
            </a:r>
            <a:endParaRPr lang="en-US" sz="900" dirty="0"/>
          </a:p>
        </p:txBody>
      </p:sp>
      <p:sp>
        <p:nvSpPr>
          <p:cNvPr id="17" name="Shape 15"/>
          <p:cNvSpPr/>
          <p:nvPr/>
        </p:nvSpPr>
        <p:spPr>
          <a:xfrm>
            <a:off x="3977640" y="1737360"/>
            <a:ext cx="1554480" cy="603504"/>
          </a:xfrm>
          <a:prstGeom prst="roundRect">
            <a:avLst>
              <a:gd name="adj" fmla="val 12121"/>
            </a:avLst>
          </a:prstGeom>
          <a:solidFill>
            <a:srgbClr val="E1EEF0"/>
          </a:solidFill>
          <a:ln w="6350">
            <a:solidFill>
              <a:srgbClr val="9FCAD2"/>
            </a:solidFill>
            <a:prstDash val="solid"/>
          </a:ln>
        </p:spPr>
      </p:sp>
      <p:sp>
        <p:nvSpPr>
          <p:cNvPr id="18" name="Text 16"/>
          <p:cNvSpPr/>
          <p:nvPr/>
        </p:nvSpPr>
        <p:spPr>
          <a:xfrm>
            <a:off x="3977640" y="1792224"/>
            <a:ext cx="1554480" cy="274320"/>
          </a:xfrm>
          <a:prstGeom prst="rect">
            <a:avLst/>
          </a:prstGeom>
          <a:noFill/>
          <a:ln/>
        </p:spPr>
        <p:txBody>
          <a:bodyPr wrap="square" lIns="0" tIns="0" rIns="0" bIns="0" rtlCol="0" anchor="ctr"/>
          <a:lstStyle/>
          <a:p>
            <a:pPr algn="ctr" indent="0" marL="0">
              <a:buNone/>
            </a:pPr>
            <a:r>
              <a:rPr lang="en-US" sz="1100" b="1" dirty="0">
                <a:solidFill>
                  <a:srgbClr val="1C5260"/>
                </a:solidFill>
                <a:latin typeface="Calibri" pitchFamily="34" charset="0"/>
                <a:ea typeface="Calibri" pitchFamily="34" charset="-122"/>
                <a:cs typeface="Calibri" pitchFamily="34" charset="-120"/>
              </a:rPr>
              <a:t>Substation 3</a:t>
            </a:r>
            <a:endParaRPr lang="en-US" sz="1100" dirty="0"/>
          </a:p>
        </p:txBody>
      </p:sp>
      <p:sp>
        <p:nvSpPr>
          <p:cNvPr id="19" name="Text 17"/>
          <p:cNvSpPr/>
          <p:nvPr/>
        </p:nvSpPr>
        <p:spPr>
          <a:xfrm>
            <a:off x="3977640" y="2048256"/>
            <a:ext cx="1554480" cy="237744"/>
          </a:xfrm>
          <a:prstGeom prst="rect">
            <a:avLst/>
          </a:prstGeom>
          <a:noFill/>
          <a:ln/>
        </p:spPr>
        <p:txBody>
          <a:bodyPr wrap="square" lIns="0" tIns="0" rIns="0" bIns="0" rtlCol="0" anchor="ctr"/>
          <a:lstStyle/>
          <a:p>
            <a:pPr algn="ctr" indent="0" marL="0">
              <a:buNone/>
            </a:pPr>
            <a:r>
              <a:rPr lang="en-US" sz="900" dirty="0">
                <a:solidFill>
                  <a:srgbClr val="5F5E5A"/>
                </a:solidFill>
                <a:latin typeface="Calibri" pitchFamily="34" charset="0"/>
                <a:ea typeface="Calibri" pitchFamily="34" charset="-122"/>
                <a:cs typeface="Calibri" pitchFamily="34" charset="-120"/>
              </a:rPr>
              <a:t>110/22kV · BESS</a:t>
            </a:r>
            <a:endParaRPr lang="en-US" sz="900" dirty="0"/>
          </a:p>
        </p:txBody>
      </p:sp>
      <p:sp>
        <p:nvSpPr>
          <p:cNvPr id="20" name="Shape 18"/>
          <p:cNvSpPr/>
          <p:nvPr/>
        </p:nvSpPr>
        <p:spPr>
          <a:xfrm>
            <a:off x="3017520" y="2340864"/>
            <a:ext cx="0" cy="329184"/>
          </a:xfrm>
          <a:prstGeom prst="line">
            <a:avLst/>
          </a:prstGeom>
          <a:noFill/>
          <a:ln w="19050">
            <a:solidFill>
              <a:srgbClr val="8A8A85"/>
            </a:solidFill>
            <a:prstDash val="solid"/>
            <a:headEnd type="none"/>
            <a:tailEnd type="arrow"/>
          </a:ln>
        </p:spPr>
      </p:sp>
      <p:sp>
        <p:nvSpPr>
          <p:cNvPr id="21" name="Shape 19"/>
          <p:cNvSpPr/>
          <p:nvPr/>
        </p:nvSpPr>
        <p:spPr>
          <a:xfrm>
            <a:off x="777240" y="2706624"/>
            <a:ext cx="4754880" cy="548640"/>
          </a:xfrm>
          <a:prstGeom prst="roundRect">
            <a:avLst>
              <a:gd name="adj" fmla="val 13333"/>
            </a:avLst>
          </a:prstGeom>
          <a:solidFill>
            <a:srgbClr val="FFFFFF"/>
          </a:solidFill>
          <a:ln w="12700">
            <a:solidFill>
              <a:srgbClr val="2B7A8C"/>
            </a:solidFill>
            <a:prstDash val="solid"/>
          </a:ln>
        </p:spPr>
      </p:sp>
      <p:sp>
        <p:nvSpPr>
          <p:cNvPr id="22" name="Text 20"/>
          <p:cNvSpPr/>
          <p:nvPr/>
        </p:nvSpPr>
        <p:spPr>
          <a:xfrm>
            <a:off x="777240" y="2761488"/>
            <a:ext cx="4754880" cy="274320"/>
          </a:xfrm>
          <a:prstGeom prst="rect">
            <a:avLst/>
          </a:prstGeom>
          <a:noFill/>
          <a:ln/>
        </p:spPr>
        <p:txBody>
          <a:bodyPr wrap="square" lIns="0" tIns="0" rIns="0" bIns="0" rtlCol="0" anchor="ctr"/>
          <a:lstStyle/>
          <a:p>
            <a:pPr algn="ctr" indent="0" marL="0">
              <a:buNone/>
            </a:pPr>
            <a:r>
              <a:rPr lang="en-US" sz="1150" b="1" dirty="0">
                <a:solidFill>
                  <a:srgbClr val="1A1A1A"/>
                </a:solidFill>
                <a:latin typeface="Calibri" pitchFamily="34" charset="0"/>
                <a:ea typeface="Calibri" pitchFamily="34" charset="-122"/>
                <a:cs typeface="Calibri" pitchFamily="34" charset="-120"/>
              </a:rPr>
              <a:t>22kV Distribution Network</a:t>
            </a:r>
            <a:endParaRPr lang="en-US" sz="1150" dirty="0"/>
          </a:p>
        </p:txBody>
      </p:sp>
      <p:sp>
        <p:nvSpPr>
          <p:cNvPr id="23" name="Text 21"/>
          <p:cNvSpPr/>
          <p:nvPr/>
        </p:nvSpPr>
        <p:spPr>
          <a:xfrm>
            <a:off x="777240" y="3017520"/>
            <a:ext cx="4754880" cy="219456"/>
          </a:xfrm>
          <a:prstGeom prst="rect">
            <a:avLst/>
          </a:prstGeom>
          <a:noFill/>
          <a:ln/>
        </p:spPr>
        <p:txBody>
          <a:bodyPr wrap="square" lIns="0" tIns="0" rIns="0" bIns="0" rtlCol="0" anchor="ctr"/>
          <a:lstStyle/>
          <a:p>
            <a:pPr algn="ctr" indent="0" marL="0">
              <a:buNone/>
            </a:pPr>
            <a:r>
              <a:rPr lang="en-US" sz="950" dirty="0">
                <a:solidFill>
                  <a:srgbClr val="5F5E5A"/>
                </a:solidFill>
                <a:latin typeface="Calibri" pitchFamily="34" charset="0"/>
                <a:ea typeface="Calibri" pitchFamily="34" charset="-122"/>
                <a:cs typeface="Calibri" pitchFamily="34" charset="-120"/>
              </a:rPr>
              <a:t>Reclosers · LBS · RMUs · Power Quality</a:t>
            </a:r>
            <a:endParaRPr lang="en-US" sz="950" dirty="0"/>
          </a:p>
        </p:txBody>
      </p:sp>
      <p:sp>
        <p:nvSpPr>
          <p:cNvPr id="24" name="Shape 22"/>
          <p:cNvSpPr/>
          <p:nvPr/>
        </p:nvSpPr>
        <p:spPr>
          <a:xfrm>
            <a:off x="3017520" y="3255264"/>
            <a:ext cx="0" cy="329184"/>
          </a:xfrm>
          <a:prstGeom prst="line">
            <a:avLst/>
          </a:prstGeom>
          <a:noFill/>
          <a:ln w="19050">
            <a:solidFill>
              <a:srgbClr val="8A8A85"/>
            </a:solidFill>
            <a:prstDash val="solid"/>
            <a:headEnd type="none"/>
            <a:tailEnd type="arrow"/>
          </a:ln>
        </p:spPr>
      </p:sp>
      <p:sp>
        <p:nvSpPr>
          <p:cNvPr id="25" name="Shape 23"/>
          <p:cNvSpPr/>
          <p:nvPr/>
        </p:nvSpPr>
        <p:spPr>
          <a:xfrm>
            <a:off x="777240" y="3621024"/>
            <a:ext cx="4754880" cy="566928"/>
          </a:xfrm>
          <a:prstGeom prst="roundRect">
            <a:avLst>
              <a:gd name="adj" fmla="val 12903"/>
            </a:avLst>
          </a:prstGeom>
          <a:solidFill>
            <a:srgbClr val="FBEAE2"/>
          </a:solidFill>
          <a:ln w="6350">
            <a:solidFill>
              <a:srgbClr val="EBB59F"/>
            </a:solidFill>
            <a:prstDash val="solid"/>
          </a:ln>
        </p:spPr>
      </p:sp>
      <p:sp>
        <p:nvSpPr>
          <p:cNvPr id="26" name="Text 24"/>
          <p:cNvSpPr/>
          <p:nvPr/>
        </p:nvSpPr>
        <p:spPr>
          <a:xfrm>
            <a:off x="777240" y="3675888"/>
            <a:ext cx="4754880" cy="274320"/>
          </a:xfrm>
          <a:prstGeom prst="rect">
            <a:avLst/>
          </a:prstGeom>
          <a:noFill/>
          <a:ln/>
        </p:spPr>
        <p:txBody>
          <a:bodyPr wrap="square" lIns="0" tIns="0" rIns="0" bIns="0" rtlCol="0" anchor="ctr"/>
          <a:lstStyle/>
          <a:p>
            <a:pPr algn="ctr" indent="0" marL="0">
              <a:buNone/>
            </a:pPr>
            <a:r>
              <a:rPr lang="en-US" sz="1150" b="1" dirty="0">
                <a:solidFill>
                  <a:srgbClr val="A53A14"/>
                </a:solidFill>
                <a:latin typeface="Calibri" pitchFamily="34" charset="0"/>
                <a:ea typeface="Calibri" pitchFamily="34" charset="-122"/>
                <a:cs typeface="Calibri" pitchFamily="34" charset="-120"/>
              </a:rPr>
              <a:t>Tenant Factories</a:t>
            </a:r>
            <a:endParaRPr lang="en-US" sz="1150" dirty="0"/>
          </a:p>
        </p:txBody>
      </p:sp>
      <p:sp>
        <p:nvSpPr>
          <p:cNvPr id="27" name="Text 25"/>
          <p:cNvSpPr/>
          <p:nvPr/>
        </p:nvSpPr>
        <p:spPr>
          <a:xfrm>
            <a:off x="777240" y="3950208"/>
            <a:ext cx="4754880" cy="219456"/>
          </a:xfrm>
          <a:prstGeom prst="rect">
            <a:avLst/>
          </a:prstGeom>
          <a:noFill/>
          <a:ln/>
        </p:spPr>
        <p:txBody>
          <a:bodyPr wrap="square" lIns="0" tIns="0" rIns="0" bIns="0" rtlCol="0" anchor="ctr"/>
          <a:lstStyle/>
          <a:p>
            <a:pPr algn="ctr" indent="0" marL="0">
              <a:buNone/>
            </a:pPr>
            <a:r>
              <a:rPr lang="en-US" sz="950" dirty="0">
                <a:solidFill>
                  <a:srgbClr val="5F5E5A"/>
                </a:solidFill>
                <a:latin typeface="Calibri" pitchFamily="34" charset="0"/>
                <a:ea typeface="Calibri" pitchFamily="34" charset="-122"/>
                <a:cs typeface="Calibri" pitchFamily="34" charset="-120"/>
              </a:rPr>
              <a:t>Distributed Rooftop Solar — 187 MW at POIs</a:t>
            </a:r>
            <a:endParaRPr lang="en-US" sz="950" dirty="0"/>
          </a:p>
        </p:txBody>
      </p:sp>
      <p:sp>
        <p:nvSpPr>
          <p:cNvPr id="28" name="Shape 26"/>
          <p:cNvSpPr/>
          <p:nvPr/>
        </p:nvSpPr>
        <p:spPr>
          <a:xfrm>
            <a:off x="5989320" y="1371600"/>
            <a:ext cx="2743200" cy="2816352"/>
          </a:xfrm>
          <a:prstGeom prst="roundRect">
            <a:avLst>
              <a:gd name="adj" fmla="val 3333"/>
            </a:avLst>
          </a:prstGeom>
          <a:solidFill>
            <a:srgbClr val="123139"/>
          </a:solidFill>
          <a:ln w="12700">
            <a:solidFill>
              <a:srgbClr val="123139"/>
            </a:solidFill>
            <a:prstDash val="solid"/>
          </a:ln>
        </p:spPr>
      </p:sp>
      <p:sp>
        <p:nvSpPr>
          <p:cNvPr id="29" name="Text 27"/>
          <p:cNvSpPr/>
          <p:nvPr/>
        </p:nvSpPr>
        <p:spPr>
          <a:xfrm>
            <a:off x="5989320" y="1481328"/>
            <a:ext cx="2743200"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SurvalentONE</a:t>
            </a:r>
            <a:endParaRPr lang="en-US" sz="1400" dirty="0"/>
          </a:p>
        </p:txBody>
      </p:sp>
      <p:sp>
        <p:nvSpPr>
          <p:cNvPr id="30" name="Text 28"/>
          <p:cNvSpPr/>
          <p:nvPr/>
        </p:nvSpPr>
        <p:spPr>
          <a:xfrm>
            <a:off x="5989320" y="1755648"/>
            <a:ext cx="2743200" cy="274320"/>
          </a:xfrm>
          <a:prstGeom prst="rect">
            <a:avLst/>
          </a:prstGeom>
          <a:noFill/>
          <a:ln/>
        </p:spPr>
        <p:txBody>
          <a:bodyPr wrap="square" lIns="0" tIns="0" rIns="0" bIns="0" rtlCol="0" anchor="ctr"/>
          <a:lstStyle/>
          <a:p>
            <a:pPr algn="ctr" indent="0" marL="0">
              <a:buNone/>
            </a:pPr>
            <a:r>
              <a:rPr lang="en-US" sz="1200" b="1" dirty="0">
                <a:solidFill>
                  <a:srgbClr val="D94F1E"/>
                </a:solidFill>
                <a:latin typeface="Calibri" pitchFamily="34" charset="0"/>
                <a:ea typeface="Calibri" pitchFamily="34" charset="-122"/>
                <a:cs typeface="Calibri" pitchFamily="34" charset="-120"/>
              </a:rPr>
              <a:t>ADMS + DERMS</a:t>
            </a:r>
            <a:endParaRPr lang="en-US" sz="1200" dirty="0"/>
          </a:p>
        </p:txBody>
      </p:sp>
      <p:sp>
        <p:nvSpPr>
          <p:cNvPr id="31" name="Text 29"/>
          <p:cNvSpPr/>
          <p:nvPr/>
        </p:nvSpPr>
        <p:spPr>
          <a:xfrm>
            <a:off x="5989320" y="2011680"/>
            <a:ext cx="2743200" cy="237744"/>
          </a:xfrm>
          <a:prstGeom prst="rect">
            <a:avLst/>
          </a:prstGeom>
          <a:noFill/>
          <a:ln/>
        </p:spPr>
        <p:txBody>
          <a:bodyPr wrap="square" lIns="0" tIns="0" rIns="0" bIns="0" rtlCol="0" anchor="ctr"/>
          <a:lstStyle/>
          <a:p>
            <a:pPr algn="ctr" indent="0" marL="0">
              <a:buNone/>
            </a:pPr>
            <a:r>
              <a:rPr lang="en-US" sz="950" i="1" dirty="0">
                <a:solidFill>
                  <a:srgbClr val="BFE0DE"/>
                </a:solidFill>
                <a:latin typeface="Calibri" pitchFamily="34" charset="0"/>
                <a:ea typeface="Calibri" pitchFamily="34" charset="-122"/>
                <a:cs typeface="Calibri" pitchFamily="34" charset="-120"/>
              </a:rPr>
              <a:t>Central intelligence layer</a:t>
            </a:r>
            <a:endParaRPr lang="en-US" sz="950" dirty="0"/>
          </a:p>
        </p:txBody>
      </p:sp>
      <p:sp>
        <p:nvSpPr>
          <p:cNvPr id="32" name="Shape 30"/>
          <p:cNvSpPr/>
          <p:nvPr/>
        </p:nvSpPr>
        <p:spPr>
          <a:xfrm>
            <a:off x="6263640" y="2377440"/>
            <a:ext cx="2194560" cy="347472"/>
          </a:xfrm>
          <a:prstGeom prst="roundRect">
            <a:avLst>
              <a:gd name="adj" fmla="val 15789"/>
            </a:avLst>
          </a:prstGeom>
          <a:solidFill>
            <a:srgbClr val="1C5260"/>
          </a:solidFill>
          <a:ln w="6350">
            <a:solidFill>
              <a:srgbClr val="2B7A8C"/>
            </a:solidFill>
            <a:prstDash val="solid"/>
          </a:ln>
        </p:spPr>
      </p:sp>
      <p:sp>
        <p:nvSpPr>
          <p:cNvPr id="33" name="Text 31"/>
          <p:cNvSpPr/>
          <p:nvPr/>
        </p:nvSpPr>
        <p:spPr>
          <a:xfrm>
            <a:off x="6263640" y="2377440"/>
            <a:ext cx="2194560" cy="34747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SCADA</a:t>
            </a:r>
            <a:endParaRPr lang="en-US" sz="1050" dirty="0"/>
          </a:p>
        </p:txBody>
      </p:sp>
      <p:sp>
        <p:nvSpPr>
          <p:cNvPr id="34" name="Shape 32"/>
          <p:cNvSpPr/>
          <p:nvPr/>
        </p:nvSpPr>
        <p:spPr>
          <a:xfrm>
            <a:off x="6263640" y="2798064"/>
            <a:ext cx="2194560" cy="347472"/>
          </a:xfrm>
          <a:prstGeom prst="roundRect">
            <a:avLst>
              <a:gd name="adj" fmla="val 15789"/>
            </a:avLst>
          </a:prstGeom>
          <a:solidFill>
            <a:srgbClr val="1C5260"/>
          </a:solidFill>
          <a:ln w="6350">
            <a:solidFill>
              <a:srgbClr val="2B7A8C"/>
            </a:solidFill>
            <a:prstDash val="solid"/>
          </a:ln>
        </p:spPr>
      </p:sp>
      <p:sp>
        <p:nvSpPr>
          <p:cNvPr id="35" name="Text 33"/>
          <p:cNvSpPr/>
          <p:nvPr/>
        </p:nvSpPr>
        <p:spPr>
          <a:xfrm>
            <a:off x="6263640" y="2798064"/>
            <a:ext cx="2194560" cy="34747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ADMS</a:t>
            </a:r>
            <a:endParaRPr lang="en-US" sz="1050" dirty="0"/>
          </a:p>
        </p:txBody>
      </p:sp>
      <p:sp>
        <p:nvSpPr>
          <p:cNvPr id="36" name="Shape 34"/>
          <p:cNvSpPr/>
          <p:nvPr/>
        </p:nvSpPr>
        <p:spPr>
          <a:xfrm>
            <a:off x="6263640" y="3218688"/>
            <a:ext cx="2194560" cy="347472"/>
          </a:xfrm>
          <a:prstGeom prst="roundRect">
            <a:avLst>
              <a:gd name="adj" fmla="val 15789"/>
            </a:avLst>
          </a:prstGeom>
          <a:solidFill>
            <a:srgbClr val="1C5260"/>
          </a:solidFill>
          <a:ln w="6350">
            <a:solidFill>
              <a:srgbClr val="2B7A8C"/>
            </a:solidFill>
            <a:prstDash val="solid"/>
          </a:ln>
        </p:spPr>
      </p:sp>
      <p:sp>
        <p:nvSpPr>
          <p:cNvPr id="37" name="Text 35"/>
          <p:cNvSpPr/>
          <p:nvPr/>
        </p:nvSpPr>
        <p:spPr>
          <a:xfrm>
            <a:off x="6263640" y="3218688"/>
            <a:ext cx="2194560" cy="34747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DERMS</a:t>
            </a:r>
            <a:endParaRPr lang="en-US" sz="1050" dirty="0"/>
          </a:p>
        </p:txBody>
      </p:sp>
      <p:sp>
        <p:nvSpPr>
          <p:cNvPr id="38" name="Shape 36"/>
          <p:cNvSpPr/>
          <p:nvPr/>
        </p:nvSpPr>
        <p:spPr>
          <a:xfrm>
            <a:off x="6263640" y="3639312"/>
            <a:ext cx="2194560" cy="347472"/>
          </a:xfrm>
          <a:prstGeom prst="roundRect">
            <a:avLst>
              <a:gd name="adj" fmla="val 15789"/>
            </a:avLst>
          </a:prstGeom>
          <a:solidFill>
            <a:srgbClr val="1C5260"/>
          </a:solidFill>
          <a:ln w="6350">
            <a:solidFill>
              <a:srgbClr val="2B7A8C"/>
            </a:solidFill>
            <a:prstDash val="solid"/>
          </a:ln>
        </p:spPr>
      </p:sp>
      <p:sp>
        <p:nvSpPr>
          <p:cNvPr id="39" name="Text 37"/>
          <p:cNvSpPr/>
          <p:nvPr/>
        </p:nvSpPr>
        <p:spPr>
          <a:xfrm>
            <a:off x="6263640" y="3639312"/>
            <a:ext cx="2194560" cy="34747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Microgrid</a:t>
            </a:r>
            <a:endParaRPr lang="en-US" sz="1050" dirty="0"/>
          </a:p>
        </p:txBody>
      </p:sp>
      <p:sp>
        <p:nvSpPr>
          <p:cNvPr id="40" name="Shape 38"/>
          <p:cNvSpPr/>
          <p:nvPr/>
        </p:nvSpPr>
        <p:spPr>
          <a:xfrm>
            <a:off x="5943600" y="2980944"/>
            <a:ext cx="-393192" cy="0"/>
          </a:xfrm>
          <a:prstGeom prst="line">
            <a:avLst/>
          </a:prstGeom>
          <a:noFill/>
          <a:ln w="19050">
            <a:solidFill>
              <a:srgbClr val="8A8A85"/>
            </a:solidFill>
            <a:prstDash val="solid"/>
            <a:headEnd type="arrow"/>
            <a:tailEnd type="arrow"/>
          </a:ln>
        </p:spPr>
      </p:sp>
      <p:sp>
        <p:nvSpPr>
          <p:cNvPr id="41" name="Text 39"/>
          <p:cNvSpPr/>
          <p:nvPr/>
        </p:nvSpPr>
        <p:spPr>
          <a:xfrm>
            <a:off x="5029200" y="2615184"/>
            <a:ext cx="1463040" cy="274320"/>
          </a:xfrm>
          <a:prstGeom prst="rect">
            <a:avLst/>
          </a:prstGeom>
          <a:noFill/>
          <a:ln/>
        </p:spPr>
        <p:txBody>
          <a:bodyPr wrap="square" lIns="0" tIns="0" rIns="0" bIns="0" rtlCol="0" anchor="ctr"/>
          <a:lstStyle/>
          <a:p>
            <a:pPr algn="ctr" indent="0" marL="0">
              <a:buNone/>
            </a:pPr>
            <a:r>
              <a:rPr lang="en-US" sz="850" i="1" dirty="0">
                <a:solidFill>
                  <a:srgbClr val="8A8A85"/>
                </a:solidFill>
                <a:latin typeface="Calibri" pitchFamily="34" charset="0"/>
                <a:ea typeface="Calibri" pitchFamily="34" charset="-122"/>
                <a:cs typeface="Calibri" pitchFamily="34" charset="-120"/>
              </a:rPr>
              <a:t>Monitor · Control</a:t>
            </a:r>
            <a:endParaRPr lang="en-US" sz="850" dirty="0"/>
          </a:p>
        </p:txBody>
      </p:sp>
      <p:sp>
        <p:nvSpPr>
          <p:cNvPr id="42" name="Text 40"/>
          <p:cNvSpPr/>
          <p:nvPr/>
        </p:nvSpPr>
        <p:spPr>
          <a:xfrm>
            <a:off x="457200" y="4343400"/>
            <a:ext cx="8229600" cy="310896"/>
          </a:xfrm>
          <a:prstGeom prst="rect">
            <a:avLst/>
          </a:prstGeom>
          <a:noFill/>
          <a:ln/>
        </p:spPr>
        <p:txBody>
          <a:bodyPr wrap="square" lIns="0" tIns="0" rIns="0" bIns="0" rtlCol="0" anchor="ctr"/>
          <a:lstStyle/>
          <a:p>
            <a:pPr algn="ctr" indent="0" marL="0">
              <a:buNone/>
            </a:pPr>
            <a:r>
              <a:rPr lang="en-US" sz="1050" i="1" dirty="0">
                <a:solidFill>
                  <a:srgbClr val="5F5E5A"/>
                </a:solidFill>
                <a:latin typeface="Calibri" pitchFamily="34" charset="0"/>
                <a:ea typeface="Calibri" pitchFamily="34" charset="-122"/>
                <a:cs typeface="Calibri" pitchFamily="34" charset="-120"/>
              </a:rPr>
              <a:t>Real-time monitoring and control across every layer — one operational view of the entire park.</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 cy="384048"/>
          </a:xfrm>
          <a:prstGeom prst="rect">
            <a:avLst/>
          </a:prstGeom>
          <a:solidFill>
            <a:srgbClr val="D94F1E"/>
          </a:solidFill>
          <a:ln w="12700">
            <a:solidFill>
              <a:srgbClr val="D94F1E"/>
            </a:solidFill>
            <a:prstDash val="solid"/>
          </a:ln>
        </p:spPr>
      </p:sp>
      <p:sp>
        <p:nvSpPr>
          <p:cNvPr id="3" name="Text 1"/>
          <p:cNvSpPr/>
          <p:nvPr/>
        </p:nvSpPr>
        <p:spPr>
          <a:xfrm>
            <a:off x="502920" y="146304"/>
            <a:ext cx="8229600" cy="658368"/>
          </a:xfrm>
          <a:prstGeom prst="rect">
            <a:avLst/>
          </a:prstGeom>
          <a:noFill/>
          <a:ln/>
        </p:spPr>
        <p:txBody>
          <a:bodyPr wrap="square" lIns="0" tIns="0" rIns="0" bIns="0" rtlCol="0" anchor="ctr"/>
          <a:lstStyle/>
          <a:p>
            <a:pPr indent="0" marL="0">
              <a:buNone/>
            </a:pPr>
            <a:r>
              <a:rPr lang="en-US" sz="3000" b="1" dirty="0">
                <a:solidFill>
                  <a:srgbClr val="2B7A8C"/>
                </a:solidFill>
                <a:latin typeface="Calibri" pitchFamily="34" charset="0"/>
                <a:ea typeface="Calibri" pitchFamily="34" charset="-122"/>
                <a:cs typeface="Calibri" pitchFamily="34" charset="-120"/>
              </a:rPr>
              <a:t>Zero-Export Control Strategy</a:t>
            </a:r>
            <a:endParaRPr lang="en-US" sz="3000" dirty="0"/>
          </a:p>
        </p:txBody>
      </p:sp>
      <p:sp>
        <p:nvSpPr>
          <p:cNvPr id="4" name="Shape 2"/>
          <p:cNvSpPr/>
          <p:nvPr/>
        </p:nvSpPr>
        <p:spPr>
          <a:xfrm>
            <a:off x="365760" y="4736592"/>
            <a:ext cx="8412480" cy="0"/>
          </a:xfrm>
          <a:prstGeom prst="line">
            <a:avLst/>
          </a:prstGeom>
          <a:noFill/>
          <a:ln w="12700">
            <a:solidFill>
              <a:srgbClr val="E2E2E0"/>
            </a:solidFill>
            <a:prstDash val="solid"/>
          </a:ln>
        </p:spPr>
      </p:sp>
      <p:sp>
        <p:nvSpPr>
          <p:cNvPr id="5" name="Text 3"/>
          <p:cNvSpPr/>
          <p:nvPr/>
        </p:nvSpPr>
        <p:spPr>
          <a:xfrm>
            <a:off x="365760" y="4773168"/>
            <a:ext cx="2011680" cy="27432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Survalent</a:t>
            </a:r>
            <a:pPr indent="0" marL="0">
              <a:buNone/>
            </a:pPr>
            <a:r>
              <a:rPr lang="en-US" sz="1300" b="1" dirty="0">
                <a:solidFill>
                  <a:srgbClr val="D94F1E"/>
                </a:solidFill>
                <a:latin typeface="Calibri" pitchFamily="34" charset="0"/>
                <a:ea typeface="Calibri" pitchFamily="34" charset="-122"/>
                <a:cs typeface="Calibri" pitchFamily="34" charset="-120"/>
              </a:rPr>
              <a:t>.</a:t>
            </a:r>
            <a:endParaRPr lang="en-US" sz="1300" dirty="0"/>
          </a:p>
        </p:txBody>
      </p:sp>
      <p:sp>
        <p:nvSpPr>
          <p:cNvPr id="6" name="Text 4"/>
          <p:cNvSpPr/>
          <p:nvPr/>
        </p:nvSpPr>
        <p:spPr>
          <a:xfrm>
            <a:off x="2926080" y="4809744"/>
            <a:ext cx="3291840" cy="237744"/>
          </a:xfrm>
          <a:prstGeom prst="rect">
            <a:avLst/>
          </a:prstGeom>
          <a:noFill/>
          <a:ln/>
        </p:spPr>
        <p:txBody>
          <a:bodyPr wrap="square" lIns="0" tIns="0" rIns="0" bIns="0" rtlCol="0" anchor="ctr"/>
          <a:lstStyle/>
          <a:p>
            <a:pPr algn="ctr" indent="0" marL="0">
              <a:buNone/>
            </a:pPr>
            <a:r>
              <a:rPr lang="en-US" sz="800" spc="200" kern="0" dirty="0">
                <a:solidFill>
                  <a:srgbClr val="8A8A85"/>
                </a:solidFill>
              </a:rPr>
              <a:t>Confidential &amp; Proprietary</a:t>
            </a:r>
            <a:endParaRPr lang="en-US" sz="800" dirty="0"/>
          </a:p>
        </p:txBody>
      </p:sp>
      <p:sp>
        <p:nvSpPr>
          <p:cNvPr id="7" name="Text 5"/>
          <p:cNvSpPr/>
          <p:nvPr/>
        </p:nvSpPr>
        <p:spPr>
          <a:xfrm>
            <a:off x="8229600" y="4809744"/>
            <a:ext cx="548640" cy="237744"/>
          </a:xfrm>
          <a:prstGeom prst="rect">
            <a:avLst/>
          </a:prstGeom>
          <a:noFill/>
          <a:ln/>
        </p:spPr>
        <p:txBody>
          <a:bodyPr wrap="square" lIns="0" tIns="0" rIns="0" bIns="0" rtlCol="0" anchor="ctr"/>
          <a:lstStyle/>
          <a:p>
            <a:pPr algn="r" indent="0" marL="0">
              <a:buNone/>
            </a:pPr>
            <a:r>
              <a:rPr lang="en-US" sz="900" dirty="0">
                <a:solidFill>
                  <a:srgbClr val="8A8A85"/>
                </a:solidFill>
              </a:rPr>
              <a:t>13</a:t>
            </a:r>
            <a:endParaRPr lang="en-US" sz="900" dirty="0"/>
          </a:p>
        </p:txBody>
      </p:sp>
      <p:sp>
        <p:nvSpPr>
          <p:cNvPr id="8" name="Shape 6"/>
          <p:cNvSpPr/>
          <p:nvPr/>
        </p:nvSpPr>
        <p:spPr>
          <a:xfrm>
            <a:off x="457200" y="1051560"/>
            <a:ext cx="1691640" cy="868680"/>
          </a:xfrm>
          <a:prstGeom prst="roundRect">
            <a:avLst>
              <a:gd name="adj" fmla="val 8421"/>
            </a:avLst>
          </a:prstGeom>
          <a:solidFill>
            <a:srgbClr val="E1EEF0"/>
          </a:solidFill>
          <a:ln w="6350">
            <a:solidFill>
              <a:srgbClr val="9FCAD2"/>
            </a:solidFill>
            <a:prstDash val="solid"/>
          </a:ln>
        </p:spPr>
      </p:sp>
      <p:sp>
        <p:nvSpPr>
          <p:cNvPr id="9" name="Shape 7"/>
          <p:cNvSpPr/>
          <p:nvPr/>
        </p:nvSpPr>
        <p:spPr>
          <a:xfrm>
            <a:off x="2331720" y="1051560"/>
            <a:ext cx="1691640" cy="868680"/>
          </a:xfrm>
          <a:prstGeom prst="roundRect">
            <a:avLst>
              <a:gd name="adj" fmla="val 8421"/>
            </a:avLst>
          </a:prstGeom>
          <a:solidFill>
            <a:srgbClr val="E1EEF0"/>
          </a:solidFill>
          <a:ln w="6350">
            <a:solidFill>
              <a:srgbClr val="9FCAD2"/>
            </a:solidFill>
            <a:prstDash val="solid"/>
          </a:ln>
        </p:spPr>
      </p:sp>
      <p:sp>
        <p:nvSpPr>
          <p:cNvPr id="10" name="Shape 8"/>
          <p:cNvSpPr/>
          <p:nvPr/>
        </p:nvSpPr>
        <p:spPr>
          <a:xfrm>
            <a:off x="4206240" y="1051560"/>
            <a:ext cx="1828800" cy="868680"/>
          </a:xfrm>
          <a:prstGeom prst="roundRect">
            <a:avLst>
              <a:gd name="adj" fmla="val 8421"/>
            </a:avLst>
          </a:prstGeom>
          <a:solidFill>
            <a:srgbClr val="E1EEF0"/>
          </a:solidFill>
          <a:ln w="6350">
            <a:solidFill>
              <a:srgbClr val="9FCAD2"/>
            </a:solidFill>
            <a:prstDash val="solid"/>
          </a:ln>
        </p:spPr>
      </p:sp>
      <p:sp>
        <p:nvSpPr>
          <p:cNvPr id="11" name="Text 9"/>
          <p:cNvSpPr/>
          <p:nvPr/>
        </p:nvSpPr>
        <p:spPr>
          <a:xfrm>
            <a:off x="457200" y="1133856"/>
            <a:ext cx="1691640" cy="310896"/>
          </a:xfrm>
          <a:prstGeom prst="rect">
            <a:avLst/>
          </a:prstGeom>
          <a:noFill/>
          <a:ln/>
        </p:spPr>
        <p:txBody>
          <a:bodyPr wrap="square" lIns="0" tIns="0" rIns="0" bIns="0" rtlCol="0" anchor="ctr"/>
          <a:lstStyle/>
          <a:p>
            <a:pPr algn="ctr" indent="0" marL="0">
              <a:buNone/>
            </a:pPr>
            <a:r>
              <a:rPr lang="en-US" sz="1150" b="1" dirty="0">
                <a:solidFill>
                  <a:srgbClr val="1C5260"/>
                </a:solidFill>
                <a:latin typeface="Calibri" pitchFamily="34" charset="0"/>
                <a:ea typeface="Calibri" pitchFamily="34" charset="-122"/>
                <a:cs typeface="Calibri" pitchFamily="34" charset="-120"/>
              </a:rPr>
              <a:t>RTS Generation</a:t>
            </a:r>
            <a:endParaRPr lang="en-US" sz="1150" dirty="0"/>
          </a:p>
        </p:txBody>
      </p:sp>
      <p:sp>
        <p:nvSpPr>
          <p:cNvPr id="12" name="Text 10"/>
          <p:cNvSpPr/>
          <p:nvPr/>
        </p:nvSpPr>
        <p:spPr>
          <a:xfrm>
            <a:off x="457200" y="1444752"/>
            <a:ext cx="1691640" cy="274320"/>
          </a:xfrm>
          <a:prstGeom prst="rect">
            <a:avLst/>
          </a:prstGeom>
          <a:noFill/>
          <a:ln/>
        </p:spPr>
        <p:txBody>
          <a:bodyPr wrap="square" lIns="0" tIns="0" rIns="0" bIns="0" rtlCol="0" anchor="ctr"/>
          <a:lstStyle/>
          <a:p>
            <a:pPr algn="ctr" indent="0" marL="0">
              <a:buNone/>
            </a:pPr>
            <a:r>
              <a:rPr lang="en-US" sz="950" dirty="0">
                <a:solidFill>
                  <a:srgbClr val="5F5E5A"/>
                </a:solidFill>
                <a:latin typeface="Calibri" pitchFamily="34" charset="0"/>
                <a:ea typeface="Calibri" pitchFamily="34" charset="-122"/>
                <a:cs typeface="Calibri" pitchFamily="34" charset="-120"/>
              </a:rPr>
              <a:t>Solar output rises</a:t>
            </a:r>
            <a:endParaRPr lang="en-US" sz="950" dirty="0"/>
          </a:p>
        </p:txBody>
      </p:sp>
      <p:sp>
        <p:nvSpPr>
          <p:cNvPr id="13" name="Text 11"/>
          <p:cNvSpPr/>
          <p:nvPr/>
        </p:nvSpPr>
        <p:spPr>
          <a:xfrm>
            <a:off x="2331720" y="1133856"/>
            <a:ext cx="1691640" cy="310896"/>
          </a:xfrm>
          <a:prstGeom prst="rect">
            <a:avLst/>
          </a:prstGeom>
          <a:noFill/>
          <a:ln/>
        </p:spPr>
        <p:txBody>
          <a:bodyPr wrap="square" lIns="0" tIns="0" rIns="0" bIns="0" rtlCol="0" anchor="ctr"/>
          <a:lstStyle/>
          <a:p>
            <a:pPr algn="ctr" indent="0" marL="0">
              <a:buNone/>
            </a:pPr>
            <a:r>
              <a:rPr lang="en-US" sz="1150" b="1" dirty="0">
                <a:solidFill>
                  <a:srgbClr val="1C5260"/>
                </a:solidFill>
                <a:latin typeface="Calibri" pitchFamily="34" charset="0"/>
                <a:ea typeface="Calibri" pitchFamily="34" charset="-122"/>
                <a:cs typeface="Calibri" pitchFamily="34" charset="-120"/>
              </a:rPr>
              <a:t>POI Measurement</a:t>
            </a:r>
            <a:endParaRPr lang="en-US" sz="1150" dirty="0"/>
          </a:p>
        </p:txBody>
      </p:sp>
      <p:sp>
        <p:nvSpPr>
          <p:cNvPr id="14" name="Text 12"/>
          <p:cNvSpPr/>
          <p:nvPr/>
        </p:nvSpPr>
        <p:spPr>
          <a:xfrm>
            <a:off x="2331720" y="1444752"/>
            <a:ext cx="1691640" cy="274320"/>
          </a:xfrm>
          <a:prstGeom prst="rect">
            <a:avLst/>
          </a:prstGeom>
          <a:noFill/>
          <a:ln/>
        </p:spPr>
        <p:txBody>
          <a:bodyPr wrap="square" lIns="0" tIns="0" rIns="0" bIns="0" rtlCol="0" anchor="ctr"/>
          <a:lstStyle/>
          <a:p>
            <a:pPr algn="ctr" indent="0" marL="0">
              <a:buNone/>
            </a:pPr>
            <a:r>
              <a:rPr lang="en-US" sz="950" dirty="0">
                <a:solidFill>
                  <a:srgbClr val="5F5E5A"/>
                </a:solidFill>
                <a:latin typeface="Calibri" pitchFamily="34" charset="0"/>
                <a:ea typeface="Calibri" pitchFamily="34" charset="-122"/>
                <a:cs typeface="Calibri" pitchFamily="34" charset="-120"/>
              </a:rPr>
              <a:t>Real-time at each POI</a:t>
            </a:r>
            <a:endParaRPr lang="en-US" sz="950" dirty="0"/>
          </a:p>
        </p:txBody>
      </p:sp>
      <p:sp>
        <p:nvSpPr>
          <p:cNvPr id="15" name="Text 13"/>
          <p:cNvSpPr/>
          <p:nvPr/>
        </p:nvSpPr>
        <p:spPr>
          <a:xfrm>
            <a:off x="4206240" y="1188720"/>
            <a:ext cx="1828800" cy="310896"/>
          </a:xfrm>
          <a:prstGeom prst="rect">
            <a:avLst/>
          </a:prstGeom>
          <a:noFill/>
          <a:ln/>
        </p:spPr>
        <p:txBody>
          <a:bodyPr wrap="square" lIns="0" tIns="0" rIns="0" bIns="0" rtlCol="0" anchor="ctr"/>
          <a:lstStyle/>
          <a:p>
            <a:pPr algn="ctr" indent="0" marL="0">
              <a:buNone/>
            </a:pPr>
            <a:r>
              <a:rPr lang="en-US" sz="1150" b="1" dirty="0">
                <a:solidFill>
                  <a:srgbClr val="1C5260"/>
                </a:solidFill>
                <a:latin typeface="Calibri" pitchFamily="34" charset="0"/>
                <a:ea typeface="Calibri" pitchFamily="34" charset="-122"/>
                <a:cs typeface="Calibri" pitchFamily="34" charset="-120"/>
              </a:rPr>
              <a:t>DERMS Decision</a:t>
            </a:r>
            <a:endParaRPr lang="en-US" sz="1150" dirty="0"/>
          </a:p>
        </p:txBody>
      </p:sp>
      <p:sp>
        <p:nvSpPr>
          <p:cNvPr id="16" name="Text 14"/>
          <p:cNvSpPr/>
          <p:nvPr/>
        </p:nvSpPr>
        <p:spPr>
          <a:xfrm>
            <a:off x="4206240" y="1499616"/>
            <a:ext cx="1828800" cy="274320"/>
          </a:xfrm>
          <a:prstGeom prst="rect">
            <a:avLst/>
          </a:prstGeom>
          <a:noFill/>
          <a:ln/>
        </p:spPr>
        <p:txBody>
          <a:bodyPr wrap="square" lIns="0" tIns="0" rIns="0" bIns="0" rtlCol="0" anchor="ctr"/>
          <a:lstStyle/>
          <a:p>
            <a:pPr algn="ctr" indent="0" marL="0">
              <a:buNone/>
            </a:pPr>
            <a:r>
              <a:rPr lang="en-US" sz="950" dirty="0">
                <a:solidFill>
                  <a:srgbClr val="5F5E5A"/>
                </a:solidFill>
                <a:latin typeface="Calibri" pitchFamily="34" charset="0"/>
                <a:ea typeface="Calibri" pitchFamily="34" charset="-122"/>
                <a:cs typeface="Calibri" pitchFamily="34" charset="-120"/>
              </a:rPr>
              <a:t>Compare vs grid limit</a:t>
            </a:r>
            <a:endParaRPr lang="en-US" sz="950" dirty="0"/>
          </a:p>
        </p:txBody>
      </p:sp>
      <p:sp>
        <p:nvSpPr>
          <p:cNvPr id="17" name="Shape 15"/>
          <p:cNvSpPr/>
          <p:nvPr/>
        </p:nvSpPr>
        <p:spPr>
          <a:xfrm>
            <a:off x="2167128" y="1481328"/>
            <a:ext cx="146304" cy="0"/>
          </a:xfrm>
          <a:prstGeom prst="line">
            <a:avLst/>
          </a:prstGeom>
          <a:noFill/>
          <a:ln w="19050">
            <a:solidFill>
              <a:srgbClr val="8A8A85"/>
            </a:solidFill>
            <a:prstDash val="solid"/>
            <a:tailEnd type="arrow"/>
          </a:ln>
        </p:spPr>
      </p:sp>
      <p:sp>
        <p:nvSpPr>
          <p:cNvPr id="18" name="Shape 16"/>
          <p:cNvSpPr/>
          <p:nvPr/>
        </p:nvSpPr>
        <p:spPr>
          <a:xfrm>
            <a:off x="4041648" y="1481328"/>
            <a:ext cx="146304" cy="0"/>
          </a:xfrm>
          <a:prstGeom prst="line">
            <a:avLst/>
          </a:prstGeom>
          <a:noFill/>
          <a:ln w="19050">
            <a:solidFill>
              <a:srgbClr val="8A8A85"/>
            </a:solidFill>
            <a:prstDash val="solid"/>
            <a:tailEnd type="arrow"/>
          </a:ln>
        </p:spPr>
      </p:sp>
      <p:sp>
        <p:nvSpPr>
          <p:cNvPr id="19" name="Shape 17"/>
          <p:cNvSpPr/>
          <p:nvPr/>
        </p:nvSpPr>
        <p:spPr>
          <a:xfrm>
            <a:off x="6400800" y="1051560"/>
            <a:ext cx="2286000" cy="1691640"/>
          </a:xfrm>
          <a:prstGeom prst="roundRect">
            <a:avLst>
              <a:gd name="adj" fmla="val 4324"/>
            </a:avLst>
          </a:prstGeom>
          <a:solidFill>
            <a:srgbClr val="123139"/>
          </a:solidFill>
          <a:ln w="12700">
            <a:solidFill>
              <a:srgbClr val="123139"/>
            </a:solidFill>
            <a:prstDash val="solid"/>
          </a:ln>
        </p:spPr>
      </p:sp>
      <p:sp>
        <p:nvSpPr>
          <p:cNvPr id="20" name="Text 18"/>
          <p:cNvSpPr/>
          <p:nvPr/>
        </p:nvSpPr>
        <p:spPr>
          <a:xfrm>
            <a:off x="6400800" y="1371600"/>
            <a:ext cx="22860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Hard Limit Enforced</a:t>
            </a:r>
            <a:endParaRPr lang="en-US" sz="1300" dirty="0"/>
          </a:p>
        </p:txBody>
      </p:sp>
      <p:sp>
        <p:nvSpPr>
          <p:cNvPr id="21" name="Text 19"/>
          <p:cNvSpPr/>
          <p:nvPr/>
        </p:nvSpPr>
        <p:spPr>
          <a:xfrm>
            <a:off x="6400800" y="1783080"/>
            <a:ext cx="2286000" cy="822960"/>
          </a:xfrm>
          <a:prstGeom prst="rect">
            <a:avLst/>
          </a:prstGeom>
          <a:noFill/>
          <a:ln/>
        </p:spPr>
        <p:txBody>
          <a:bodyPr wrap="square" lIns="0" tIns="0" rIns="0" bIns="0" rtlCol="0" anchor="t"/>
          <a:lstStyle/>
          <a:p>
            <a:pPr algn="ctr" indent="0" marL="0">
              <a:lnSpc>
                <a:spcPct val="105000"/>
              </a:lnSpc>
              <a:buNone/>
            </a:pPr>
            <a:r>
              <a:rPr lang="en-US" sz="1050" dirty="0">
                <a:solidFill>
                  <a:srgbClr val="BFE0DE"/>
                </a:solidFill>
                <a:latin typeface="Calibri" pitchFamily="34" charset="0"/>
                <a:ea typeface="Calibri" pitchFamily="34" charset="-122"/>
                <a:cs typeface="Calibri" pitchFamily="34" charset="-120"/>
              </a:rPr>
              <a:t>Zero net export at the</a:t>
            </a:r>
            <a:endParaRPr lang="en-US" sz="1050" dirty="0"/>
          </a:p>
          <a:p>
            <a:pPr algn="ctr" indent="0" marL="0">
              <a:lnSpc>
                <a:spcPct val="105000"/>
              </a:lnSpc>
              <a:buNone/>
            </a:pPr>
            <a:r>
              <a:rPr lang="en-US" sz="1050" dirty="0">
                <a:solidFill>
                  <a:srgbClr val="BFE0DE"/>
                </a:solidFill>
                <a:latin typeface="Calibri" pitchFamily="34" charset="0"/>
                <a:ea typeface="Calibri" pitchFamily="34" charset="-122"/>
                <a:cs typeface="Calibri" pitchFamily="34" charset="-120"/>
              </a:rPr>
              <a:t>feeder / substation</a:t>
            </a:r>
            <a:endParaRPr lang="en-US" sz="1050" dirty="0"/>
          </a:p>
          <a:p>
            <a:pPr algn="ctr" indent="0" marL="0">
              <a:lnSpc>
                <a:spcPct val="105000"/>
              </a:lnSpc>
              <a:buNone/>
            </a:pPr>
            <a:r>
              <a:rPr lang="en-US" sz="1050" dirty="0">
                <a:solidFill>
                  <a:srgbClr val="BFE0DE"/>
                </a:solidFill>
                <a:latin typeface="Calibri" pitchFamily="34" charset="0"/>
                <a:ea typeface="Calibri" pitchFamily="34" charset="-122"/>
                <a:cs typeface="Calibri" pitchFamily="34" charset="-120"/>
              </a:rPr>
              <a:t>boundary — guaranteed</a:t>
            </a:r>
            <a:endParaRPr lang="en-US" sz="1050" dirty="0"/>
          </a:p>
        </p:txBody>
      </p:sp>
      <p:sp>
        <p:nvSpPr>
          <p:cNvPr id="22" name="Shape 20"/>
          <p:cNvSpPr/>
          <p:nvPr/>
        </p:nvSpPr>
        <p:spPr>
          <a:xfrm>
            <a:off x="6053328" y="1874520"/>
            <a:ext cx="329184" cy="0"/>
          </a:xfrm>
          <a:prstGeom prst="line">
            <a:avLst/>
          </a:prstGeom>
          <a:noFill/>
          <a:ln w="19050">
            <a:solidFill>
              <a:srgbClr val="8A8A85"/>
            </a:solidFill>
            <a:prstDash val="solid"/>
            <a:tailEnd type="arrow"/>
          </a:ln>
        </p:spPr>
      </p:sp>
      <p:sp>
        <p:nvSpPr>
          <p:cNvPr id="23" name="Shape 21"/>
          <p:cNvSpPr/>
          <p:nvPr/>
        </p:nvSpPr>
        <p:spPr>
          <a:xfrm>
            <a:off x="640080" y="2971800"/>
            <a:ext cx="1783080" cy="786384"/>
          </a:xfrm>
          <a:prstGeom prst="roundRect">
            <a:avLst>
              <a:gd name="adj" fmla="val 9302"/>
            </a:avLst>
          </a:prstGeom>
          <a:solidFill>
            <a:srgbClr val="FBEAE2"/>
          </a:solidFill>
          <a:ln w="6350">
            <a:solidFill>
              <a:srgbClr val="EBB59F"/>
            </a:solidFill>
            <a:prstDash val="solid"/>
          </a:ln>
        </p:spPr>
      </p:sp>
      <p:sp>
        <p:nvSpPr>
          <p:cNvPr id="24" name="Shape 22"/>
          <p:cNvSpPr/>
          <p:nvPr/>
        </p:nvSpPr>
        <p:spPr>
          <a:xfrm>
            <a:off x="786384" y="3154680"/>
            <a:ext cx="420624" cy="420624"/>
          </a:xfrm>
          <a:prstGeom prst="ellipse">
            <a:avLst/>
          </a:prstGeom>
          <a:solidFill>
            <a:srgbClr val="FFFFFF"/>
          </a:solidFill>
          <a:ln w="12700">
            <a:solidFill>
              <a:srgbClr val="FFFFFF"/>
            </a:solidFill>
            <a:prstDash val="solid"/>
          </a:ln>
        </p:spPr>
      </p:sp>
      <p:pic>
        <p:nvPicPr>
          <p:cNvPr id="25" name="Image 0" descr="preencoded.png">    </p:cNvPr>
          <p:cNvPicPr>
            <a:picLocks noChangeAspect="1"/>
          </p:cNvPicPr>
          <p:nvPr/>
        </p:nvPicPr>
        <p:blipFill>
          <a:blip r:embed="rId1"/>
          <a:stretch>
            <a:fillRect/>
          </a:stretch>
        </p:blipFill>
        <p:spPr>
          <a:xfrm>
            <a:off x="878921" y="3247217"/>
            <a:ext cx="235549" cy="235549"/>
          </a:xfrm>
          <a:prstGeom prst="rect">
            <a:avLst/>
          </a:prstGeom>
        </p:spPr>
      </p:pic>
      <p:sp>
        <p:nvSpPr>
          <p:cNvPr id="26" name="Text 23"/>
          <p:cNvSpPr/>
          <p:nvPr/>
        </p:nvSpPr>
        <p:spPr>
          <a:xfrm>
            <a:off x="1280160" y="3099816"/>
            <a:ext cx="1051560" cy="310896"/>
          </a:xfrm>
          <a:prstGeom prst="rect">
            <a:avLst/>
          </a:prstGeom>
          <a:noFill/>
          <a:ln/>
        </p:spPr>
        <p:txBody>
          <a:bodyPr wrap="square" lIns="0" tIns="0" rIns="0" bIns="0" rtlCol="0" anchor="ctr"/>
          <a:lstStyle/>
          <a:p>
            <a:pPr indent="0" marL="0">
              <a:buNone/>
            </a:pPr>
            <a:r>
              <a:rPr lang="en-US" sz="1150" b="1" dirty="0">
                <a:solidFill>
                  <a:srgbClr val="A53A14"/>
                </a:solidFill>
                <a:latin typeface="Calibri" pitchFamily="34" charset="0"/>
                <a:ea typeface="Calibri" pitchFamily="34" charset="-122"/>
                <a:cs typeface="Calibri" pitchFamily="34" charset="-120"/>
              </a:rPr>
              <a:t>Curtail RTS</a:t>
            </a:r>
            <a:endParaRPr lang="en-US" sz="1150" dirty="0"/>
          </a:p>
        </p:txBody>
      </p:sp>
      <p:sp>
        <p:nvSpPr>
          <p:cNvPr id="27" name="Text 24"/>
          <p:cNvSpPr/>
          <p:nvPr/>
        </p:nvSpPr>
        <p:spPr>
          <a:xfrm>
            <a:off x="1280160" y="3392424"/>
            <a:ext cx="1051560" cy="274320"/>
          </a:xfrm>
          <a:prstGeom prst="rect">
            <a:avLst/>
          </a:prstGeom>
          <a:noFill/>
          <a:ln/>
        </p:spPr>
        <p:txBody>
          <a:bodyPr wrap="square" lIns="0" tIns="0" rIns="0" bIns="0" rtlCol="0" anchor="ctr"/>
          <a:lstStyle/>
          <a:p>
            <a:pPr indent="0" marL="0">
              <a:buNone/>
            </a:pPr>
            <a:r>
              <a:rPr lang="en-US" sz="900" dirty="0">
                <a:solidFill>
                  <a:srgbClr val="5F5E5A"/>
                </a:solidFill>
                <a:latin typeface="Calibri" pitchFamily="34" charset="0"/>
                <a:ea typeface="Calibri" pitchFamily="34" charset="-122"/>
                <a:cs typeface="Calibri" pitchFamily="34" charset="-120"/>
              </a:rPr>
              <a:t>Reduce solar output</a:t>
            </a:r>
            <a:endParaRPr lang="en-US" sz="900" dirty="0"/>
          </a:p>
        </p:txBody>
      </p:sp>
      <p:sp>
        <p:nvSpPr>
          <p:cNvPr id="28" name="Shape 25"/>
          <p:cNvSpPr/>
          <p:nvPr/>
        </p:nvSpPr>
        <p:spPr>
          <a:xfrm>
            <a:off x="2606040" y="2971800"/>
            <a:ext cx="1783080" cy="786384"/>
          </a:xfrm>
          <a:prstGeom prst="roundRect">
            <a:avLst>
              <a:gd name="adj" fmla="val 9302"/>
            </a:avLst>
          </a:prstGeom>
          <a:solidFill>
            <a:srgbClr val="FBEAE2"/>
          </a:solidFill>
          <a:ln w="6350">
            <a:solidFill>
              <a:srgbClr val="EBB59F"/>
            </a:solidFill>
            <a:prstDash val="solid"/>
          </a:ln>
        </p:spPr>
      </p:sp>
      <p:sp>
        <p:nvSpPr>
          <p:cNvPr id="29" name="Shape 26"/>
          <p:cNvSpPr/>
          <p:nvPr/>
        </p:nvSpPr>
        <p:spPr>
          <a:xfrm>
            <a:off x="2752344" y="3154680"/>
            <a:ext cx="420624" cy="420624"/>
          </a:xfrm>
          <a:prstGeom prst="ellipse">
            <a:avLst/>
          </a:prstGeom>
          <a:solidFill>
            <a:srgbClr val="FFFFFF"/>
          </a:solidFill>
          <a:ln w="12700">
            <a:solidFill>
              <a:srgbClr val="FFFFFF"/>
            </a:solidFill>
            <a:prstDash val="solid"/>
          </a:ln>
        </p:spPr>
      </p:sp>
      <p:pic>
        <p:nvPicPr>
          <p:cNvPr id="30" name="Image 1" descr="preencoded.png">    </p:cNvPr>
          <p:cNvPicPr>
            <a:picLocks noChangeAspect="1"/>
          </p:cNvPicPr>
          <p:nvPr/>
        </p:nvPicPr>
        <p:blipFill>
          <a:blip r:embed="rId2"/>
          <a:stretch>
            <a:fillRect/>
          </a:stretch>
        </p:blipFill>
        <p:spPr>
          <a:xfrm>
            <a:off x="2844881" y="3247217"/>
            <a:ext cx="235549" cy="235549"/>
          </a:xfrm>
          <a:prstGeom prst="rect">
            <a:avLst/>
          </a:prstGeom>
        </p:spPr>
      </p:pic>
      <p:sp>
        <p:nvSpPr>
          <p:cNvPr id="31" name="Text 27"/>
          <p:cNvSpPr/>
          <p:nvPr/>
        </p:nvSpPr>
        <p:spPr>
          <a:xfrm>
            <a:off x="3246120" y="3099816"/>
            <a:ext cx="1051560" cy="310896"/>
          </a:xfrm>
          <a:prstGeom prst="rect">
            <a:avLst/>
          </a:prstGeom>
          <a:noFill/>
          <a:ln/>
        </p:spPr>
        <p:txBody>
          <a:bodyPr wrap="square" lIns="0" tIns="0" rIns="0" bIns="0" rtlCol="0" anchor="ctr"/>
          <a:lstStyle/>
          <a:p>
            <a:pPr indent="0" marL="0">
              <a:buNone/>
            </a:pPr>
            <a:r>
              <a:rPr lang="en-US" sz="1150" b="1" dirty="0">
                <a:solidFill>
                  <a:srgbClr val="A53A14"/>
                </a:solidFill>
                <a:latin typeface="Calibri" pitchFamily="34" charset="0"/>
                <a:ea typeface="Calibri" pitchFamily="34" charset="-122"/>
                <a:cs typeface="Calibri" pitchFamily="34" charset="-120"/>
              </a:rPr>
              <a:t>Charge BESS</a:t>
            </a:r>
            <a:endParaRPr lang="en-US" sz="1150" dirty="0"/>
          </a:p>
        </p:txBody>
      </p:sp>
      <p:sp>
        <p:nvSpPr>
          <p:cNvPr id="32" name="Text 28"/>
          <p:cNvSpPr/>
          <p:nvPr/>
        </p:nvSpPr>
        <p:spPr>
          <a:xfrm>
            <a:off x="3246120" y="3392424"/>
            <a:ext cx="1051560" cy="274320"/>
          </a:xfrm>
          <a:prstGeom prst="rect">
            <a:avLst/>
          </a:prstGeom>
          <a:noFill/>
          <a:ln/>
        </p:spPr>
        <p:txBody>
          <a:bodyPr wrap="square" lIns="0" tIns="0" rIns="0" bIns="0" rtlCol="0" anchor="ctr"/>
          <a:lstStyle/>
          <a:p>
            <a:pPr indent="0" marL="0">
              <a:buNone/>
            </a:pPr>
            <a:r>
              <a:rPr lang="en-US" sz="900" dirty="0">
                <a:solidFill>
                  <a:srgbClr val="5F5E5A"/>
                </a:solidFill>
                <a:latin typeface="Calibri" pitchFamily="34" charset="0"/>
                <a:ea typeface="Calibri" pitchFamily="34" charset="-122"/>
                <a:cs typeface="Calibri" pitchFamily="34" charset="-120"/>
              </a:rPr>
              <a:t>Absorb excess energy</a:t>
            </a:r>
            <a:endParaRPr lang="en-US" sz="900" dirty="0"/>
          </a:p>
        </p:txBody>
      </p:sp>
      <p:sp>
        <p:nvSpPr>
          <p:cNvPr id="33" name="Shape 29"/>
          <p:cNvSpPr/>
          <p:nvPr/>
        </p:nvSpPr>
        <p:spPr>
          <a:xfrm>
            <a:off x="4572000" y="2971800"/>
            <a:ext cx="1783080" cy="786384"/>
          </a:xfrm>
          <a:prstGeom prst="roundRect">
            <a:avLst>
              <a:gd name="adj" fmla="val 9302"/>
            </a:avLst>
          </a:prstGeom>
          <a:solidFill>
            <a:srgbClr val="FBEAE2"/>
          </a:solidFill>
          <a:ln w="6350">
            <a:solidFill>
              <a:srgbClr val="EBB59F"/>
            </a:solidFill>
            <a:prstDash val="solid"/>
          </a:ln>
        </p:spPr>
      </p:sp>
      <p:sp>
        <p:nvSpPr>
          <p:cNvPr id="34" name="Shape 30"/>
          <p:cNvSpPr/>
          <p:nvPr/>
        </p:nvSpPr>
        <p:spPr>
          <a:xfrm>
            <a:off x="4718304" y="3154680"/>
            <a:ext cx="420624" cy="420624"/>
          </a:xfrm>
          <a:prstGeom prst="ellipse">
            <a:avLst/>
          </a:prstGeom>
          <a:solidFill>
            <a:srgbClr val="FFFFFF"/>
          </a:solidFill>
          <a:ln w="12700">
            <a:solidFill>
              <a:srgbClr val="FFFFFF"/>
            </a:solidFill>
            <a:prstDash val="solid"/>
          </a:ln>
        </p:spPr>
      </p:sp>
      <p:pic>
        <p:nvPicPr>
          <p:cNvPr id="35" name="Image 2" descr="preencoded.png">    </p:cNvPr>
          <p:cNvPicPr>
            <a:picLocks noChangeAspect="1"/>
          </p:cNvPicPr>
          <p:nvPr/>
        </p:nvPicPr>
        <p:blipFill>
          <a:blip r:embed="rId3"/>
          <a:stretch>
            <a:fillRect/>
          </a:stretch>
        </p:blipFill>
        <p:spPr>
          <a:xfrm>
            <a:off x="4810841" y="3247217"/>
            <a:ext cx="235549" cy="235549"/>
          </a:xfrm>
          <a:prstGeom prst="rect">
            <a:avLst/>
          </a:prstGeom>
        </p:spPr>
      </p:pic>
      <p:sp>
        <p:nvSpPr>
          <p:cNvPr id="36" name="Text 31"/>
          <p:cNvSpPr/>
          <p:nvPr/>
        </p:nvSpPr>
        <p:spPr>
          <a:xfrm>
            <a:off x="5212080" y="3099816"/>
            <a:ext cx="1051560" cy="310896"/>
          </a:xfrm>
          <a:prstGeom prst="rect">
            <a:avLst/>
          </a:prstGeom>
          <a:noFill/>
          <a:ln/>
        </p:spPr>
        <p:txBody>
          <a:bodyPr wrap="square" lIns="0" tIns="0" rIns="0" bIns="0" rtlCol="0" anchor="ctr"/>
          <a:lstStyle/>
          <a:p>
            <a:pPr indent="0" marL="0">
              <a:buNone/>
            </a:pPr>
            <a:r>
              <a:rPr lang="en-US" sz="1150" b="1" dirty="0">
                <a:solidFill>
                  <a:srgbClr val="A53A14"/>
                </a:solidFill>
                <a:latin typeface="Calibri" pitchFamily="34" charset="0"/>
                <a:ea typeface="Calibri" pitchFamily="34" charset="-122"/>
                <a:cs typeface="Calibri" pitchFamily="34" charset="-120"/>
              </a:rPr>
              <a:t>Alarm operator</a:t>
            </a:r>
            <a:endParaRPr lang="en-US" sz="1150" dirty="0"/>
          </a:p>
        </p:txBody>
      </p:sp>
      <p:sp>
        <p:nvSpPr>
          <p:cNvPr id="37" name="Text 32"/>
          <p:cNvSpPr/>
          <p:nvPr/>
        </p:nvSpPr>
        <p:spPr>
          <a:xfrm>
            <a:off x="5212080" y="3392424"/>
            <a:ext cx="1051560" cy="274320"/>
          </a:xfrm>
          <a:prstGeom prst="rect">
            <a:avLst/>
          </a:prstGeom>
          <a:noFill/>
          <a:ln/>
        </p:spPr>
        <p:txBody>
          <a:bodyPr wrap="square" lIns="0" tIns="0" rIns="0" bIns="0" rtlCol="0" anchor="ctr"/>
          <a:lstStyle/>
          <a:p>
            <a:pPr indent="0" marL="0">
              <a:buNone/>
            </a:pPr>
            <a:r>
              <a:rPr lang="en-US" sz="900" dirty="0">
                <a:solidFill>
                  <a:srgbClr val="5F5E5A"/>
                </a:solidFill>
                <a:latin typeface="Calibri" pitchFamily="34" charset="0"/>
                <a:ea typeface="Calibri" pitchFamily="34" charset="-122"/>
                <a:cs typeface="Calibri" pitchFamily="34" charset="-120"/>
              </a:rPr>
              <a:t>Flag for intervention</a:t>
            </a:r>
            <a:endParaRPr lang="en-US" sz="900" dirty="0"/>
          </a:p>
        </p:txBody>
      </p:sp>
      <p:sp>
        <p:nvSpPr>
          <p:cNvPr id="38" name="Text 33"/>
          <p:cNvSpPr/>
          <p:nvPr/>
        </p:nvSpPr>
        <p:spPr>
          <a:xfrm>
            <a:off x="5074920" y="2331720"/>
            <a:ext cx="1828800" cy="274320"/>
          </a:xfrm>
          <a:prstGeom prst="rect">
            <a:avLst/>
          </a:prstGeom>
          <a:noFill/>
          <a:ln/>
        </p:spPr>
        <p:txBody>
          <a:bodyPr wrap="square" lIns="0" tIns="0" rIns="0" bIns="0" rtlCol="0" anchor="ctr"/>
          <a:lstStyle/>
          <a:p>
            <a:pPr indent="0" marL="0">
              <a:buNone/>
            </a:pPr>
            <a:r>
              <a:rPr lang="en-US" sz="900" i="1" dirty="0">
                <a:solidFill>
                  <a:srgbClr val="8A8A85"/>
                </a:solidFill>
                <a:latin typeface="Calibri" pitchFamily="34" charset="0"/>
                <a:ea typeface="Calibri" pitchFamily="34" charset="-122"/>
                <a:cs typeface="Calibri" pitchFamily="34" charset="-120"/>
              </a:rPr>
              <a:t>If excess detected →</a:t>
            </a:r>
            <a:endParaRPr lang="en-US" sz="900" dirty="0"/>
          </a:p>
        </p:txBody>
      </p:sp>
      <p:sp>
        <p:nvSpPr>
          <p:cNvPr id="39" name="Shape 34"/>
          <p:cNvSpPr/>
          <p:nvPr/>
        </p:nvSpPr>
        <p:spPr>
          <a:xfrm>
            <a:off x="5120640" y="2697480"/>
            <a:ext cx="-1920240" cy="246888"/>
          </a:xfrm>
          <a:prstGeom prst="line">
            <a:avLst/>
          </a:prstGeom>
          <a:noFill/>
          <a:ln w="19050">
            <a:solidFill>
              <a:srgbClr val="8A8A85"/>
            </a:solidFill>
            <a:prstDash val="solid"/>
            <a:tailEnd type="arrow"/>
          </a:ln>
        </p:spPr>
      </p:sp>
      <p:sp>
        <p:nvSpPr>
          <p:cNvPr id="40" name="Shape 35"/>
          <p:cNvSpPr/>
          <p:nvPr/>
        </p:nvSpPr>
        <p:spPr>
          <a:xfrm>
            <a:off x="457200" y="3950208"/>
            <a:ext cx="4023360" cy="457200"/>
          </a:xfrm>
          <a:prstGeom prst="roundRect">
            <a:avLst>
              <a:gd name="adj" fmla="val 12000"/>
            </a:avLst>
          </a:prstGeom>
          <a:solidFill>
            <a:srgbClr val="E6F0FA"/>
          </a:solidFill>
          <a:ln w="6350">
            <a:solidFill>
              <a:srgbClr val="9CC2E8"/>
            </a:solidFill>
            <a:prstDash val="solid"/>
          </a:ln>
        </p:spPr>
      </p:sp>
      <p:sp>
        <p:nvSpPr>
          <p:cNvPr id="41" name="Text 36"/>
          <p:cNvSpPr/>
          <p:nvPr/>
        </p:nvSpPr>
        <p:spPr>
          <a:xfrm>
            <a:off x="640080" y="3950208"/>
            <a:ext cx="3749040" cy="457200"/>
          </a:xfrm>
          <a:prstGeom prst="rect">
            <a:avLst/>
          </a:prstGeom>
          <a:noFill/>
          <a:ln/>
        </p:spPr>
        <p:txBody>
          <a:bodyPr wrap="square" lIns="0" tIns="0" rIns="0" bIns="0" rtlCol="0" anchor="ctr"/>
          <a:lstStyle/>
          <a:p>
            <a:pPr indent="0" marL="0">
              <a:buNone/>
            </a:pPr>
            <a:r>
              <a:rPr lang="en-US" sz="1050" b="1" dirty="0">
                <a:solidFill>
                  <a:srgbClr val="1C4878"/>
                </a:solidFill>
                <a:latin typeface="Calibri" pitchFamily="34" charset="0"/>
                <a:ea typeface="Calibri" pitchFamily="34" charset="-122"/>
                <a:cs typeface="Calibri" pitchFamily="34" charset="-120"/>
              </a:rPr>
              <a:t>Phase 2:  </a:t>
            </a:r>
            <a:pPr indent="0" marL="0">
              <a:buNone/>
            </a:pPr>
            <a:r>
              <a:rPr lang="en-US" sz="1050" dirty="0">
                <a:solidFill>
                  <a:srgbClr val="5F5E5A"/>
                </a:solidFill>
                <a:latin typeface="Calibri" pitchFamily="34" charset="0"/>
                <a:ea typeface="Calibri" pitchFamily="34" charset="-122"/>
                <a:cs typeface="Calibri" pitchFamily="34" charset="-120"/>
              </a:rPr>
              <a:t>Monitoring + alarms via ADMS</a:t>
            </a:r>
            <a:endParaRPr lang="en-US" sz="1050" dirty="0"/>
          </a:p>
        </p:txBody>
      </p:sp>
      <p:sp>
        <p:nvSpPr>
          <p:cNvPr id="42" name="Shape 37"/>
          <p:cNvSpPr/>
          <p:nvPr/>
        </p:nvSpPr>
        <p:spPr>
          <a:xfrm>
            <a:off x="4663440" y="3950208"/>
            <a:ext cx="4023360" cy="457200"/>
          </a:xfrm>
          <a:prstGeom prst="roundRect">
            <a:avLst>
              <a:gd name="adj" fmla="val 12000"/>
            </a:avLst>
          </a:prstGeom>
          <a:solidFill>
            <a:srgbClr val="EAF3DE"/>
          </a:solidFill>
          <a:ln w="6350">
            <a:solidFill>
              <a:srgbClr val="B5D38A"/>
            </a:solidFill>
            <a:prstDash val="solid"/>
          </a:ln>
        </p:spPr>
      </p:sp>
      <p:sp>
        <p:nvSpPr>
          <p:cNvPr id="43" name="Text 38"/>
          <p:cNvSpPr/>
          <p:nvPr/>
        </p:nvSpPr>
        <p:spPr>
          <a:xfrm>
            <a:off x="4846320" y="3950208"/>
            <a:ext cx="3749040" cy="457200"/>
          </a:xfrm>
          <a:prstGeom prst="rect">
            <a:avLst/>
          </a:prstGeom>
          <a:noFill/>
          <a:ln/>
        </p:spPr>
        <p:txBody>
          <a:bodyPr wrap="square" lIns="0" tIns="0" rIns="0" bIns="0" rtlCol="0" anchor="ctr"/>
          <a:lstStyle/>
          <a:p>
            <a:pPr indent="0" marL="0">
              <a:buNone/>
            </a:pPr>
            <a:r>
              <a:rPr lang="en-US" sz="1050" b="1" dirty="0">
                <a:solidFill>
                  <a:srgbClr val="3C5E12"/>
                </a:solidFill>
                <a:latin typeface="Calibri" pitchFamily="34" charset="0"/>
                <a:ea typeface="Calibri" pitchFamily="34" charset="-122"/>
                <a:cs typeface="Calibri" pitchFamily="34" charset="-120"/>
              </a:rPr>
              <a:t>Phase 3:  </a:t>
            </a:r>
            <a:pPr indent="0" marL="0">
              <a:buNone/>
            </a:pPr>
            <a:r>
              <a:rPr lang="en-US" sz="1050" dirty="0">
                <a:solidFill>
                  <a:srgbClr val="5F5E5A"/>
                </a:solidFill>
                <a:latin typeface="Calibri" pitchFamily="34" charset="0"/>
                <a:ea typeface="Calibri" pitchFamily="34" charset="-122"/>
                <a:cs typeface="Calibri" pitchFamily="34" charset="-120"/>
              </a:rPr>
              <a:t>Closed-loop enforcement via DERMS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 cy="384048"/>
          </a:xfrm>
          <a:prstGeom prst="rect">
            <a:avLst/>
          </a:prstGeom>
          <a:solidFill>
            <a:srgbClr val="D94F1E"/>
          </a:solidFill>
          <a:ln w="12700">
            <a:solidFill>
              <a:srgbClr val="D94F1E"/>
            </a:solidFill>
            <a:prstDash val="solid"/>
          </a:ln>
        </p:spPr>
      </p:sp>
      <p:sp>
        <p:nvSpPr>
          <p:cNvPr id="3" name="Text 1"/>
          <p:cNvSpPr/>
          <p:nvPr/>
        </p:nvSpPr>
        <p:spPr>
          <a:xfrm>
            <a:off x="502920" y="146304"/>
            <a:ext cx="8229600" cy="658368"/>
          </a:xfrm>
          <a:prstGeom prst="rect">
            <a:avLst/>
          </a:prstGeom>
          <a:noFill/>
          <a:ln/>
        </p:spPr>
        <p:txBody>
          <a:bodyPr wrap="square" lIns="0" tIns="0" rIns="0" bIns="0" rtlCol="0" anchor="ctr"/>
          <a:lstStyle/>
          <a:p>
            <a:pPr indent="0" marL="0">
              <a:buNone/>
            </a:pPr>
            <a:r>
              <a:rPr lang="en-US" sz="3000" b="1" dirty="0">
                <a:solidFill>
                  <a:srgbClr val="2B7A8C"/>
                </a:solidFill>
                <a:latin typeface="Calibri" pitchFamily="34" charset="0"/>
                <a:ea typeface="Calibri" pitchFamily="34" charset="-122"/>
                <a:cs typeface="Calibri" pitchFamily="34" charset="-120"/>
              </a:rPr>
              <a:t>Islanding &amp; Black Start Strategy</a:t>
            </a:r>
            <a:endParaRPr lang="en-US" sz="3000" dirty="0"/>
          </a:p>
        </p:txBody>
      </p:sp>
      <p:sp>
        <p:nvSpPr>
          <p:cNvPr id="4" name="Shape 2"/>
          <p:cNvSpPr/>
          <p:nvPr/>
        </p:nvSpPr>
        <p:spPr>
          <a:xfrm>
            <a:off x="365760" y="4736592"/>
            <a:ext cx="8412480" cy="0"/>
          </a:xfrm>
          <a:prstGeom prst="line">
            <a:avLst/>
          </a:prstGeom>
          <a:noFill/>
          <a:ln w="12700">
            <a:solidFill>
              <a:srgbClr val="E2E2E0"/>
            </a:solidFill>
            <a:prstDash val="solid"/>
          </a:ln>
        </p:spPr>
      </p:sp>
      <p:sp>
        <p:nvSpPr>
          <p:cNvPr id="5" name="Text 3"/>
          <p:cNvSpPr/>
          <p:nvPr/>
        </p:nvSpPr>
        <p:spPr>
          <a:xfrm>
            <a:off x="365760" y="4773168"/>
            <a:ext cx="2011680" cy="27432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Survalent</a:t>
            </a:r>
            <a:pPr indent="0" marL="0">
              <a:buNone/>
            </a:pPr>
            <a:r>
              <a:rPr lang="en-US" sz="1300" b="1" dirty="0">
                <a:solidFill>
                  <a:srgbClr val="D94F1E"/>
                </a:solidFill>
                <a:latin typeface="Calibri" pitchFamily="34" charset="0"/>
                <a:ea typeface="Calibri" pitchFamily="34" charset="-122"/>
                <a:cs typeface="Calibri" pitchFamily="34" charset="-120"/>
              </a:rPr>
              <a:t>.</a:t>
            </a:r>
            <a:endParaRPr lang="en-US" sz="1300" dirty="0"/>
          </a:p>
        </p:txBody>
      </p:sp>
      <p:sp>
        <p:nvSpPr>
          <p:cNvPr id="6" name="Text 4"/>
          <p:cNvSpPr/>
          <p:nvPr/>
        </p:nvSpPr>
        <p:spPr>
          <a:xfrm>
            <a:off x="2926080" y="4809744"/>
            <a:ext cx="3291840" cy="237744"/>
          </a:xfrm>
          <a:prstGeom prst="rect">
            <a:avLst/>
          </a:prstGeom>
          <a:noFill/>
          <a:ln/>
        </p:spPr>
        <p:txBody>
          <a:bodyPr wrap="square" lIns="0" tIns="0" rIns="0" bIns="0" rtlCol="0" anchor="ctr"/>
          <a:lstStyle/>
          <a:p>
            <a:pPr algn="ctr" indent="0" marL="0">
              <a:buNone/>
            </a:pPr>
            <a:r>
              <a:rPr lang="en-US" sz="800" spc="200" kern="0" dirty="0">
                <a:solidFill>
                  <a:srgbClr val="8A8A85"/>
                </a:solidFill>
              </a:rPr>
              <a:t>Confidential &amp; Proprietary</a:t>
            </a:r>
            <a:endParaRPr lang="en-US" sz="800" dirty="0"/>
          </a:p>
        </p:txBody>
      </p:sp>
      <p:sp>
        <p:nvSpPr>
          <p:cNvPr id="7" name="Text 5"/>
          <p:cNvSpPr/>
          <p:nvPr/>
        </p:nvSpPr>
        <p:spPr>
          <a:xfrm>
            <a:off x="8229600" y="4809744"/>
            <a:ext cx="548640" cy="237744"/>
          </a:xfrm>
          <a:prstGeom prst="rect">
            <a:avLst/>
          </a:prstGeom>
          <a:noFill/>
          <a:ln/>
        </p:spPr>
        <p:txBody>
          <a:bodyPr wrap="square" lIns="0" tIns="0" rIns="0" bIns="0" rtlCol="0" anchor="ctr"/>
          <a:lstStyle/>
          <a:p>
            <a:pPr algn="r" indent="0" marL="0">
              <a:buNone/>
            </a:pPr>
            <a:r>
              <a:rPr lang="en-US" sz="900" dirty="0">
                <a:solidFill>
                  <a:srgbClr val="8A8A85"/>
                </a:solidFill>
              </a:rPr>
              <a:t>14</a:t>
            </a:r>
            <a:endParaRPr lang="en-US" sz="900" dirty="0"/>
          </a:p>
        </p:txBody>
      </p:sp>
      <p:sp>
        <p:nvSpPr>
          <p:cNvPr id="8" name="Text 6"/>
          <p:cNvSpPr/>
          <p:nvPr/>
        </p:nvSpPr>
        <p:spPr>
          <a:xfrm>
            <a:off x="502920" y="786384"/>
            <a:ext cx="8229600" cy="457200"/>
          </a:xfrm>
          <a:prstGeom prst="rect">
            <a:avLst/>
          </a:prstGeom>
          <a:noFill/>
          <a:ln/>
        </p:spPr>
        <p:txBody>
          <a:bodyPr wrap="square" lIns="0" tIns="0" rIns="0" bIns="0" rtlCol="0" anchor="ctr"/>
          <a:lstStyle/>
          <a:p>
            <a:pPr indent="0" marL="0">
              <a:buNone/>
            </a:pPr>
            <a:r>
              <a:rPr lang="en-US" sz="1200" dirty="0">
                <a:solidFill>
                  <a:srgbClr val="5F5E5A"/>
                </a:solidFill>
                <a:latin typeface="Calibri" pitchFamily="34" charset="0"/>
                <a:ea typeface="Calibri" pitchFamily="34" charset="-122"/>
                <a:cs typeface="Calibri" pitchFamily="34" charset="-120"/>
              </a:rPr>
              <a:t>When the national grid trips, VSIP 4 must sustain power to its tenant factories. Survalent coordinates a controlled island and an automated black-start sequence.</a:t>
            </a:r>
            <a:endParaRPr lang="en-US" sz="1200" dirty="0"/>
          </a:p>
        </p:txBody>
      </p:sp>
      <p:sp>
        <p:nvSpPr>
          <p:cNvPr id="9" name="Shape 7"/>
          <p:cNvSpPr/>
          <p:nvPr/>
        </p:nvSpPr>
        <p:spPr>
          <a:xfrm>
            <a:off x="457200" y="1371600"/>
            <a:ext cx="1874520" cy="1371600"/>
          </a:xfrm>
          <a:prstGeom prst="roundRect">
            <a:avLst>
              <a:gd name="adj" fmla="val 5333"/>
            </a:avLst>
          </a:prstGeom>
          <a:solidFill>
            <a:srgbClr val="E1EEF0"/>
          </a:solidFill>
          <a:ln w="6350">
            <a:solidFill>
              <a:srgbClr val="9FCAD2"/>
            </a:solidFill>
            <a:prstDash val="solid"/>
          </a:ln>
        </p:spPr>
      </p:sp>
      <p:sp>
        <p:nvSpPr>
          <p:cNvPr id="10" name="Shape 8"/>
          <p:cNvSpPr/>
          <p:nvPr/>
        </p:nvSpPr>
        <p:spPr>
          <a:xfrm>
            <a:off x="1147572" y="1536192"/>
            <a:ext cx="493776" cy="493776"/>
          </a:xfrm>
          <a:prstGeom prst="ellipse">
            <a:avLst/>
          </a:prstGeom>
          <a:solidFill>
            <a:srgbClr val="2B7A8C"/>
          </a:solidFill>
          <a:ln w="12700">
            <a:solidFill>
              <a:srgbClr val="2B7A8C"/>
            </a:solidFill>
            <a:prstDash val="solid"/>
          </a:ln>
        </p:spPr>
      </p:sp>
      <p:sp>
        <p:nvSpPr>
          <p:cNvPr id="11" name="Text 9"/>
          <p:cNvSpPr/>
          <p:nvPr/>
        </p:nvSpPr>
        <p:spPr>
          <a:xfrm>
            <a:off x="1147572" y="153619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Text 10"/>
          <p:cNvSpPr/>
          <p:nvPr/>
        </p:nvSpPr>
        <p:spPr>
          <a:xfrm>
            <a:off x="457200" y="2084832"/>
            <a:ext cx="1874520" cy="292608"/>
          </a:xfrm>
          <a:prstGeom prst="rect">
            <a:avLst/>
          </a:prstGeom>
          <a:noFill/>
          <a:ln/>
        </p:spPr>
        <p:txBody>
          <a:bodyPr wrap="square" lIns="0" tIns="0" rIns="0" bIns="0" rtlCol="0" anchor="ctr"/>
          <a:lstStyle/>
          <a:p>
            <a:pPr algn="ctr" indent="0" marL="0">
              <a:buNone/>
            </a:pPr>
            <a:r>
              <a:rPr lang="en-US" sz="1200" b="1" dirty="0">
                <a:solidFill>
                  <a:srgbClr val="1C5260"/>
                </a:solidFill>
                <a:latin typeface="Calibri" pitchFamily="34" charset="0"/>
                <a:ea typeface="Calibri" pitchFamily="34" charset="-122"/>
                <a:cs typeface="Calibri" pitchFamily="34" charset="-120"/>
              </a:rPr>
              <a:t>BESS energizes</a:t>
            </a:r>
            <a:endParaRPr lang="en-US" sz="1200" dirty="0"/>
          </a:p>
        </p:txBody>
      </p:sp>
      <p:sp>
        <p:nvSpPr>
          <p:cNvPr id="13" name="Text 11"/>
          <p:cNvSpPr/>
          <p:nvPr/>
        </p:nvSpPr>
        <p:spPr>
          <a:xfrm>
            <a:off x="548640" y="2359152"/>
            <a:ext cx="1691640" cy="365760"/>
          </a:xfrm>
          <a:prstGeom prst="rect">
            <a:avLst/>
          </a:prstGeom>
          <a:noFill/>
          <a:ln/>
        </p:spPr>
        <p:txBody>
          <a:bodyPr wrap="square" lIns="0" tIns="0" rIns="0" bIns="0" rtlCol="0" anchor="t"/>
          <a:lstStyle/>
          <a:p>
            <a:pPr algn="ctr" indent="0" marL="0">
              <a:lnSpc>
                <a:spcPct val="100000"/>
              </a:lnSpc>
              <a:buNone/>
            </a:pPr>
            <a:r>
              <a:rPr lang="en-US" sz="930" dirty="0">
                <a:solidFill>
                  <a:srgbClr val="5F5E5A"/>
                </a:solidFill>
                <a:latin typeface="Calibri" pitchFamily="34" charset="0"/>
                <a:ea typeface="Calibri" pitchFamily="34" charset="-122"/>
                <a:cs typeface="Calibri" pitchFamily="34" charset="-120"/>
              </a:rPr>
              <a:t>Grid-forming inverters</a:t>
            </a:r>
            <a:endParaRPr lang="en-US" sz="930" dirty="0"/>
          </a:p>
          <a:p>
            <a:pPr algn="ctr" indent="0" marL="0">
              <a:lnSpc>
                <a:spcPct val="100000"/>
              </a:lnSpc>
              <a:buNone/>
            </a:pPr>
            <a:r>
              <a:rPr lang="en-US" sz="930" dirty="0">
                <a:solidFill>
                  <a:srgbClr val="5F5E5A"/>
                </a:solidFill>
                <a:latin typeface="Calibri" pitchFamily="34" charset="0"/>
                <a:ea typeface="Calibri" pitchFamily="34" charset="-122"/>
                <a:cs typeface="Calibri" pitchFamily="34" charset="-120"/>
              </a:rPr>
              <a:t>set voltage &amp; frequency</a:t>
            </a:r>
            <a:endParaRPr lang="en-US" sz="930" dirty="0"/>
          </a:p>
        </p:txBody>
      </p:sp>
      <p:sp>
        <p:nvSpPr>
          <p:cNvPr id="14" name="Shape 12"/>
          <p:cNvSpPr/>
          <p:nvPr/>
        </p:nvSpPr>
        <p:spPr>
          <a:xfrm>
            <a:off x="2350008" y="2057400"/>
            <a:ext cx="283464" cy="0"/>
          </a:xfrm>
          <a:prstGeom prst="line">
            <a:avLst/>
          </a:prstGeom>
          <a:noFill/>
          <a:ln w="19050">
            <a:solidFill>
              <a:srgbClr val="2B7A8C"/>
            </a:solidFill>
            <a:prstDash val="solid"/>
            <a:tailEnd type="arrow"/>
          </a:ln>
        </p:spPr>
      </p:sp>
      <p:sp>
        <p:nvSpPr>
          <p:cNvPr id="15" name="Shape 13"/>
          <p:cNvSpPr/>
          <p:nvPr/>
        </p:nvSpPr>
        <p:spPr>
          <a:xfrm>
            <a:off x="2651760" y="1371600"/>
            <a:ext cx="1874520" cy="1371600"/>
          </a:xfrm>
          <a:prstGeom prst="roundRect">
            <a:avLst>
              <a:gd name="adj" fmla="val 5333"/>
            </a:avLst>
          </a:prstGeom>
          <a:solidFill>
            <a:srgbClr val="E1EEF0"/>
          </a:solidFill>
          <a:ln w="6350">
            <a:solidFill>
              <a:srgbClr val="9FCAD2"/>
            </a:solidFill>
            <a:prstDash val="solid"/>
          </a:ln>
        </p:spPr>
      </p:sp>
      <p:sp>
        <p:nvSpPr>
          <p:cNvPr id="16" name="Shape 14"/>
          <p:cNvSpPr/>
          <p:nvPr/>
        </p:nvSpPr>
        <p:spPr>
          <a:xfrm>
            <a:off x="3342132" y="1536192"/>
            <a:ext cx="493776" cy="493776"/>
          </a:xfrm>
          <a:prstGeom prst="ellipse">
            <a:avLst/>
          </a:prstGeom>
          <a:solidFill>
            <a:srgbClr val="2B7A8C"/>
          </a:solidFill>
          <a:ln w="12700">
            <a:solidFill>
              <a:srgbClr val="2B7A8C"/>
            </a:solidFill>
            <a:prstDash val="solid"/>
          </a:ln>
        </p:spPr>
      </p:sp>
      <p:sp>
        <p:nvSpPr>
          <p:cNvPr id="17" name="Text 15"/>
          <p:cNvSpPr/>
          <p:nvPr/>
        </p:nvSpPr>
        <p:spPr>
          <a:xfrm>
            <a:off x="3342132" y="153619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8" name="Text 16"/>
          <p:cNvSpPr/>
          <p:nvPr/>
        </p:nvSpPr>
        <p:spPr>
          <a:xfrm>
            <a:off x="2651760" y="2084832"/>
            <a:ext cx="1874520" cy="292608"/>
          </a:xfrm>
          <a:prstGeom prst="rect">
            <a:avLst/>
          </a:prstGeom>
          <a:noFill/>
          <a:ln/>
        </p:spPr>
        <p:txBody>
          <a:bodyPr wrap="square" lIns="0" tIns="0" rIns="0" bIns="0" rtlCol="0" anchor="ctr"/>
          <a:lstStyle/>
          <a:p>
            <a:pPr algn="ctr" indent="0" marL="0">
              <a:buNone/>
            </a:pPr>
            <a:r>
              <a:rPr lang="en-US" sz="1200" b="1" dirty="0">
                <a:solidFill>
                  <a:srgbClr val="1C5260"/>
                </a:solidFill>
                <a:latin typeface="Calibri" pitchFamily="34" charset="0"/>
                <a:ea typeface="Calibri" pitchFamily="34" charset="-122"/>
                <a:cs typeface="Calibri" pitchFamily="34" charset="-120"/>
              </a:rPr>
              <a:t>22kV bus stabilizes</a:t>
            </a:r>
            <a:endParaRPr lang="en-US" sz="1200" dirty="0"/>
          </a:p>
        </p:txBody>
      </p:sp>
      <p:sp>
        <p:nvSpPr>
          <p:cNvPr id="19" name="Text 17"/>
          <p:cNvSpPr/>
          <p:nvPr/>
        </p:nvSpPr>
        <p:spPr>
          <a:xfrm>
            <a:off x="2743200" y="2359152"/>
            <a:ext cx="1691640" cy="365760"/>
          </a:xfrm>
          <a:prstGeom prst="rect">
            <a:avLst/>
          </a:prstGeom>
          <a:noFill/>
          <a:ln/>
        </p:spPr>
        <p:txBody>
          <a:bodyPr wrap="square" lIns="0" tIns="0" rIns="0" bIns="0" rtlCol="0" anchor="t"/>
          <a:lstStyle/>
          <a:p>
            <a:pPr algn="ctr" indent="0" marL="0">
              <a:lnSpc>
                <a:spcPct val="100000"/>
              </a:lnSpc>
              <a:buNone/>
            </a:pPr>
            <a:r>
              <a:rPr lang="en-US" sz="930" dirty="0">
                <a:solidFill>
                  <a:srgbClr val="5F5E5A"/>
                </a:solidFill>
                <a:latin typeface="Calibri" pitchFamily="34" charset="0"/>
                <a:ea typeface="Calibri" pitchFamily="34" charset="-122"/>
                <a:cs typeface="Calibri" pitchFamily="34" charset="-120"/>
              </a:rPr>
              <a:t>Island reference</a:t>
            </a:r>
            <a:endParaRPr lang="en-US" sz="930" dirty="0"/>
          </a:p>
          <a:p>
            <a:pPr algn="ctr" indent="0" marL="0">
              <a:lnSpc>
                <a:spcPct val="100000"/>
              </a:lnSpc>
              <a:buNone/>
            </a:pPr>
            <a:r>
              <a:rPr lang="en-US" sz="930" dirty="0">
                <a:solidFill>
                  <a:srgbClr val="5F5E5A"/>
                </a:solidFill>
                <a:latin typeface="Calibri" pitchFamily="34" charset="0"/>
                <a:ea typeface="Calibri" pitchFamily="34" charset="-122"/>
                <a:cs typeface="Calibri" pitchFamily="34" charset="-120"/>
              </a:rPr>
              <a:t>established</a:t>
            </a:r>
            <a:endParaRPr lang="en-US" sz="930" dirty="0"/>
          </a:p>
        </p:txBody>
      </p:sp>
      <p:sp>
        <p:nvSpPr>
          <p:cNvPr id="20" name="Shape 18"/>
          <p:cNvSpPr/>
          <p:nvPr/>
        </p:nvSpPr>
        <p:spPr>
          <a:xfrm>
            <a:off x="4544568" y="2057400"/>
            <a:ext cx="283464" cy="0"/>
          </a:xfrm>
          <a:prstGeom prst="line">
            <a:avLst/>
          </a:prstGeom>
          <a:noFill/>
          <a:ln w="19050">
            <a:solidFill>
              <a:srgbClr val="2B7A8C"/>
            </a:solidFill>
            <a:prstDash val="solid"/>
            <a:tailEnd type="arrow"/>
          </a:ln>
        </p:spPr>
      </p:sp>
      <p:sp>
        <p:nvSpPr>
          <p:cNvPr id="21" name="Shape 19"/>
          <p:cNvSpPr/>
          <p:nvPr/>
        </p:nvSpPr>
        <p:spPr>
          <a:xfrm>
            <a:off x="4846320" y="1371600"/>
            <a:ext cx="1874520" cy="1371600"/>
          </a:xfrm>
          <a:prstGeom prst="roundRect">
            <a:avLst>
              <a:gd name="adj" fmla="val 5333"/>
            </a:avLst>
          </a:prstGeom>
          <a:solidFill>
            <a:srgbClr val="E1EEF0"/>
          </a:solidFill>
          <a:ln w="6350">
            <a:solidFill>
              <a:srgbClr val="9FCAD2"/>
            </a:solidFill>
            <a:prstDash val="solid"/>
          </a:ln>
        </p:spPr>
      </p:sp>
      <p:sp>
        <p:nvSpPr>
          <p:cNvPr id="22" name="Shape 20"/>
          <p:cNvSpPr/>
          <p:nvPr/>
        </p:nvSpPr>
        <p:spPr>
          <a:xfrm>
            <a:off x="5536692" y="1536192"/>
            <a:ext cx="493776" cy="493776"/>
          </a:xfrm>
          <a:prstGeom prst="ellipse">
            <a:avLst/>
          </a:prstGeom>
          <a:solidFill>
            <a:srgbClr val="2B7A8C"/>
          </a:solidFill>
          <a:ln w="12700">
            <a:solidFill>
              <a:srgbClr val="2B7A8C"/>
            </a:solidFill>
            <a:prstDash val="solid"/>
          </a:ln>
        </p:spPr>
      </p:sp>
      <p:sp>
        <p:nvSpPr>
          <p:cNvPr id="23" name="Text 21"/>
          <p:cNvSpPr/>
          <p:nvPr/>
        </p:nvSpPr>
        <p:spPr>
          <a:xfrm>
            <a:off x="5536692" y="153619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4" name="Text 22"/>
          <p:cNvSpPr/>
          <p:nvPr/>
        </p:nvSpPr>
        <p:spPr>
          <a:xfrm>
            <a:off x="4846320" y="2084832"/>
            <a:ext cx="1874520" cy="292608"/>
          </a:xfrm>
          <a:prstGeom prst="rect">
            <a:avLst/>
          </a:prstGeom>
          <a:noFill/>
          <a:ln/>
        </p:spPr>
        <p:txBody>
          <a:bodyPr wrap="square" lIns="0" tIns="0" rIns="0" bIns="0" rtlCol="0" anchor="ctr"/>
          <a:lstStyle/>
          <a:p>
            <a:pPr algn="ctr" indent="0" marL="0">
              <a:buNone/>
            </a:pPr>
            <a:r>
              <a:rPr lang="en-US" sz="1200" b="1" dirty="0">
                <a:solidFill>
                  <a:srgbClr val="1C5260"/>
                </a:solidFill>
                <a:latin typeface="Calibri" pitchFamily="34" charset="0"/>
                <a:ea typeface="Calibri" pitchFamily="34" charset="-122"/>
                <a:cs typeface="Calibri" pitchFamily="34" charset="-120"/>
              </a:rPr>
              <a:t>Solar reconnects</a:t>
            </a:r>
            <a:endParaRPr lang="en-US" sz="1200" dirty="0"/>
          </a:p>
        </p:txBody>
      </p:sp>
      <p:sp>
        <p:nvSpPr>
          <p:cNvPr id="25" name="Text 23"/>
          <p:cNvSpPr/>
          <p:nvPr/>
        </p:nvSpPr>
        <p:spPr>
          <a:xfrm>
            <a:off x="4937760" y="2359152"/>
            <a:ext cx="1691640" cy="365760"/>
          </a:xfrm>
          <a:prstGeom prst="rect">
            <a:avLst/>
          </a:prstGeom>
          <a:noFill/>
          <a:ln/>
        </p:spPr>
        <p:txBody>
          <a:bodyPr wrap="square" lIns="0" tIns="0" rIns="0" bIns="0" rtlCol="0" anchor="t"/>
          <a:lstStyle/>
          <a:p>
            <a:pPr algn="ctr" indent="0" marL="0">
              <a:lnSpc>
                <a:spcPct val="100000"/>
              </a:lnSpc>
              <a:buNone/>
            </a:pPr>
            <a:r>
              <a:rPr lang="en-US" sz="930" dirty="0">
                <a:solidFill>
                  <a:srgbClr val="5F5E5A"/>
                </a:solidFill>
                <a:latin typeface="Calibri" pitchFamily="34" charset="0"/>
                <a:ea typeface="Calibri" pitchFamily="34" charset="-122"/>
                <a:cs typeface="Calibri" pitchFamily="34" charset="-120"/>
              </a:rPr>
              <a:t>RTS synchronizes</a:t>
            </a:r>
            <a:endParaRPr lang="en-US" sz="930" dirty="0"/>
          </a:p>
          <a:p>
            <a:pPr algn="ctr" indent="0" marL="0">
              <a:lnSpc>
                <a:spcPct val="100000"/>
              </a:lnSpc>
              <a:buNone/>
            </a:pPr>
            <a:r>
              <a:rPr lang="en-US" sz="930" dirty="0">
                <a:solidFill>
                  <a:srgbClr val="5F5E5A"/>
                </a:solidFill>
                <a:latin typeface="Calibri" pitchFamily="34" charset="0"/>
                <a:ea typeface="Calibri" pitchFamily="34" charset="-122"/>
                <a:cs typeface="Calibri" pitchFamily="34" charset="-120"/>
              </a:rPr>
              <a:t>to the island</a:t>
            </a:r>
            <a:endParaRPr lang="en-US" sz="930" dirty="0"/>
          </a:p>
        </p:txBody>
      </p:sp>
      <p:sp>
        <p:nvSpPr>
          <p:cNvPr id="26" name="Shape 24"/>
          <p:cNvSpPr/>
          <p:nvPr/>
        </p:nvSpPr>
        <p:spPr>
          <a:xfrm>
            <a:off x="6739128" y="2057400"/>
            <a:ext cx="283464" cy="0"/>
          </a:xfrm>
          <a:prstGeom prst="line">
            <a:avLst/>
          </a:prstGeom>
          <a:noFill/>
          <a:ln w="19050">
            <a:solidFill>
              <a:srgbClr val="2B7A8C"/>
            </a:solidFill>
            <a:prstDash val="solid"/>
            <a:tailEnd type="arrow"/>
          </a:ln>
        </p:spPr>
      </p:sp>
      <p:sp>
        <p:nvSpPr>
          <p:cNvPr id="27" name="Shape 25"/>
          <p:cNvSpPr/>
          <p:nvPr/>
        </p:nvSpPr>
        <p:spPr>
          <a:xfrm>
            <a:off x="7040880" y="1371600"/>
            <a:ext cx="1874520" cy="1371600"/>
          </a:xfrm>
          <a:prstGeom prst="roundRect">
            <a:avLst>
              <a:gd name="adj" fmla="val 5333"/>
            </a:avLst>
          </a:prstGeom>
          <a:solidFill>
            <a:srgbClr val="E1EEF0"/>
          </a:solidFill>
          <a:ln w="6350">
            <a:solidFill>
              <a:srgbClr val="9FCAD2"/>
            </a:solidFill>
            <a:prstDash val="solid"/>
          </a:ln>
        </p:spPr>
      </p:sp>
      <p:sp>
        <p:nvSpPr>
          <p:cNvPr id="28" name="Shape 26"/>
          <p:cNvSpPr/>
          <p:nvPr/>
        </p:nvSpPr>
        <p:spPr>
          <a:xfrm>
            <a:off x="7731252" y="1536192"/>
            <a:ext cx="493776" cy="493776"/>
          </a:xfrm>
          <a:prstGeom prst="ellipse">
            <a:avLst/>
          </a:prstGeom>
          <a:solidFill>
            <a:srgbClr val="2B7A8C"/>
          </a:solidFill>
          <a:ln w="12700">
            <a:solidFill>
              <a:srgbClr val="2B7A8C"/>
            </a:solidFill>
            <a:prstDash val="solid"/>
          </a:ln>
        </p:spPr>
      </p:sp>
      <p:sp>
        <p:nvSpPr>
          <p:cNvPr id="29" name="Text 27"/>
          <p:cNvSpPr/>
          <p:nvPr/>
        </p:nvSpPr>
        <p:spPr>
          <a:xfrm>
            <a:off x="7731252" y="153619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0" name="Text 28"/>
          <p:cNvSpPr/>
          <p:nvPr/>
        </p:nvSpPr>
        <p:spPr>
          <a:xfrm>
            <a:off x="7040880" y="2084832"/>
            <a:ext cx="1874520" cy="292608"/>
          </a:xfrm>
          <a:prstGeom prst="rect">
            <a:avLst/>
          </a:prstGeom>
          <a:noFill/>
          <a:ln/>
        </p:spPr>
        <p:txBody>
          <a:bodyPr wrap="square" lIns="0" tIns="0" rIns="0" bIns="0" rtlCol="0" anchor="ctr"/>
          <a:lstStyle/>
          <a:p>
            <a:pPr algn="ctr" indent="0" marL="0">
              <a:buNone/>
            </a:pPr>
            <a:r>
              <a:rPr lang="en-US" sz="1200" b="1" dirty="0">
                <a:solidFill>
                  <a:srgbClr val="1C5260"/>
                </a:solidFill>
                <a:latin typeface="Calibri" pitchFamily="34" charset="0"/>
                <a:ea typeface="Calibri" pitchFamily="34" charset="-122"/>
                <a:cs typeface="Calibri" pitchFamily="34" charset="-120"/>
              </a:rPr>
              <a:t>Loads restored</a:t>
            </a:r>
            <a:endParaRPr lang="en-US" sz="1200" dirty="0"/>
          </a:p>
        </p:txBody>
      </p:sp>
      <p:sp>
        <p:nvSpPr>
          <p:cNvPr id="31" name="Text 29"/>
          <p:cNvSpPr/>
          <p:nvPr/>
        </p:nvSpPr>
        <p:spPr>
          <a:xfrm>
            <a:off x="7132320" y="2359152"/>
            <a:ext cx="1691640" cy="365760"/>
          </a:xfrm>
          <a:prstGeom prst="rect">
            <a:avLst/>
          </a:prstGeom>
          <a:noFill/>
          <a:ln/>
        </p:spPr>
        <p:txBody>
          <a:bodyPr wrap="square" lIns="0" tIns="0" rIns="0" bIns="0" rtlCol="0" anchor="t"/>
          <a:lstStyle/>
          <a:p>
            <a:pPr algn="ctr" indent="0" marL="0">
              <a:lnSpc>
                <a:spcPct val="100000"/>
              </a:lnSpc>
              <a:buNone/>
            </a:pPr>
            <a:r>
              <a:rPr lang="en-US" sz="930" dirty="0">
                <a:solidFill>
                  <a:srgbClr val="5F5E5A"/>
                </a:solidFill>
                <a:latin typeface="Calibri" pitchFamily="34" charset="0"/>
                <a:ea typeface="Calibri" pitchFamily="34" charset="-122"/>
                <a:cs typeface="Calibri" pitchFamily="34" charset="-120"/>
              </a:rPr>
              <a:t>Priority order across</a:t>
            </a:r>
            <a:endParaRPr lang="en-US" sz="930" dirty="0"/>
          </a:p>
          <a:p>
            <a:pPr algn="ctr" indent="0" marL="0">
              <a:lnSpc>
                <a:spcPct val="100000"/>
              </a:lnSpc>
              <a:buNone/>
            </a:pPr>
            <a:r>
              <a:rPr lang="en-US" sz="930" dirty="0">
                <a:solidFill>
                  <a:srgbClr val="5F5E5A"/>
                </a:solidFill>
                <a:latin typeface="Calibri" pitchFamily="34" charset="0"/>
                <a:ea typeface="Calibri" pitchFamily="34" charset="-122"/>
                <a:cs typeface="Calibri" pitchFamily="34" charset="-120"/>
              </a:rPr>
              <a:t>tenant factories</a:t>
            </a:r>
            <a:endParaRPr lang="en-US" sz="930" dirty="0"/>
          </a:p>
        </p:txBody>
      </p:sp>
      <p:sp>
        <p:nvSpPr>
          <p:cNvPr id="32" name="Text 30"/>
          <p:cNvSpPr/>
          <p:nvPr/>
        </p:nvSpPr>
        <p:spPr>
          <a:xfrm>
            <a:off x="457200" y="2926080"/>
            <a:ext cx="8229600" cy="274320"/>
          </a:xfrm>
          <a:prstGeom prst="rect">
            <a:avLst/>
          </a:prstGeom>
          <a:noFill/>
          <a:ln/>
        </p:spPr>
        <p:txBody>
          <a:bodyPr wrap="square" lIns="0" tIns="0" rIns="0" bIns="0"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What it requires</a:t>
            </a:r>
            <a:endParaRPr lang="en-US" sz="1200" dirty="0"/>
          </a:p>
        </p:txBody>
      </p:sp>
      <p:sp>
        <p:nvSpPr>
          <p:cNvPr id="33" name="Shape 31"/>
          <p:cNvSpPr/>
          <p:nvPr/>
        </p:nvSpPr>
        <p:spPr>
          <a:xfrm>
            <a:off x="457200" y="3255264"/>
            <a:ext cx="2624328" cy="713232"/>
          </a:xfrm>
          <a:prstGeom prst="roundRect">
            <a:avLst>
              <a:gd name="adj" fmla="val 10256"/>
            </a:avLst>
          </a:prstGeom>
          <a:solidFill>
            <a:srgbClr val="FFFFFF"/>
          </a:solidFill>
          <a:ln w="6350">
            <a:solidFill>
              <a:srgbClr val="CCCCCC"/>
            </a:solidFill>
            <a:prstDash val="solid"/>
          </a:ln>
        </p:spPr>
      </p:sp>
      <p:sp>
        <p:nvSpPr>
          <p:cNvPr id="34" name="Shape 32"/>
          <p:cNvSpPr/>
          <p:nvPr/>
        </p:nvSpPr>
        <p:spPr>
          <a:xfrm>
            <a:off x="603504" y="3401568"/>
            <a:ext cx="420624" cy="420624"/>
          </a:xfrm>
          <a:prstGeom prst="ellipse">
            <a:avLst/>
          </a:prstGeom>
          <a:solidFill>
            <a:srgbClr val="E1EEF0"/>
          </a:solidFill>
          <a:ln w="12700">
            <a:solidFill>
              <a:srgbClr val="E1EEF0"/>
            </a:solidFill>
            <a:prstDash val="solid"/>
          </a:ln>
        </p:spPr>
      </p:sp>
      <p:pic>
        <p:nvPicPr>
          <p:cNvPr id="35" name="Image 0" descr="preencoded.png">    </p:cNvPr>
          <p:cNvPicPr>
            <a:picLocks noChangeAspect="1"/>
          </p:cNvPicPr>
          <p:nvPr/>
        </p:nvPicPr>
        <p:blipFill>
          <a:blip r:embed="rId1"/>
          <a:stretch>
            <a:fillRect/>
          </a:stretch>
        </p:blipFill>
        <p:spPr>
          <a:xfrm>
            <a:off x="696041" y="3494105"/>
            <a:ext cx="235549" cy="235549"/>
          </a:xfrm>
          <a:prstGeom prst="rect">
            <a:avLst/>
          </a:prstGeom>
        </p:spPr>
      </p:pic>
      <p:sp>
        <p:nvSpPr>
          <p:cNvPr id="36" name="Text 33"/>
          <p:cNvSpPr/>
          <p:nvPr/>
        </p:nvSpPr>
        <p:spPr>
          <a:xfrm>
            <a:off x="1097280" y="3346704"/>
            <a:ext cx="1892808" cy="274320"/>
          </a:xfrm>
          <a:prstGeom prst="rect">
            <a:avLst/>
          </a:prstGeom>
          <a:noFill/>
          <a:ln/>
        </p:spPr>
        <p:txBody>
          <a:bodyPr wrap="square" lIns="0" tIns="0" rIns="0" bIns="0" rtlCol="0" anchor="ctr"/>
          <a:lstStyle/>
          <a:p>
            <a:pPr indent="0" marL="0">
              <a:buNone/>
            </a:pPr>
            <a:r>
              <a:rPr lang="en-US" sz="1080" b="1" dirty="0">
                <a:solidFill>
                  <a:srgbClr val="1A1A1A"/>
                </a:solidFill>
                <a:latin typeface="Calibri" pitchFamily="34" charset="0"/>
                <a:ea typeface="Calibri" pitchFamily="34" charset="-122"/>
                <a:cs typeface="Calibri" pitchFamily="34" charset="-120"/>
              </a:rPr>
              <a:t>Grid-forming inverters</a:t>
            </a:r>
            <a:endParaRPr lang="en-US" sz="1080" dirty="0"/>
          </a:p>
        </p:txBody>
      </p:sp>
      <p:sp>
        <p:nvSpPr>
          <p:cNvPr id="37" name="Text 34"/>
          <p:cNvSpPr/>
          <p:nvPr/>
        </p:nvSpPr>
        <p:spPr>
          <a:xfrm>
            <a:off x="1097280" y="3602736"/>
            <a:ext cx="1892808" cy="329184"/>
          </a:xfrm>
          <a:prstGeom prst="rect">
            <a:avLst/>
          </a:prstGeom>
          <a:noFill/>
          <a:ln/>
        </p:spPr>
        <p:txBody>
          <a:bodyPr wrap="square" lIns="0" tIns="0" rIns="0" bIns="0" rtlCol="0" anchor="t"/>
          <a:lstStyle/>
          <a:p>
            <a:pPr indent="0" marL="0">
              <a:lnSpc>
                <a:spcPct val="100000"/>
              </a:lnSpc>
              <a:buNone/>
            </a:pPr>
            <a:r>
              <a:rPr lang="en-US" sz="880" dirty="0">
                <a:solidFill>
                  <a:srgbClr val="5F5E5A"/>
                </a:solidFill>
                <a:latin typeface="Calibri" pitchFamily="34" charset="0"/>
                <a:ea typeface="Calibri" pitchFamily="34" charset="-122"/>
                <a:cs typeface="Calibri" pitchFamily="34" charset="-120"/>
              </a:rPr>
              <a:t>BESS and inverters able to set the island reference</a:t>
            </a:r>
            <a:endParaRPr lang="en-US" sz="880" dirty="0"/>
          </a:p>
        </p:txBody>
      </p:sp>
      <p:sp>
        <p:nvSpPr>
          <p:cNvPr id="38" name="Shape 35"/>
          <p:cNvSpPr/>
          <p:nvPr/>
        </p:nvSpPr>
        <p:spPr>
          <a:xfrm>
            <a:off x="3264408" y="3255264"/>
            <a:ext cx="2624328" cy="713232"/>
          </a:xfrm>
          <a:prstGeom prst="roundRect">
            <a:avLst>
              <a:gd name="adj" fmla="val 10256"/>
            </a:avLst>
          </a:prstGeom>
          <a:solidFill>
            <a:srgbClr val="FFFFFF"/>
          </a:solidFill>
          <a:ln w="6350">
            <a:solidFill>
              <a:srgbClr val="CCCCCC"/>
            </a:solidFill>
            <a:prstDash val="solid"/>
          </a:ln>
        </p:spPr>
      </p:sp>
      <p:sp>
        <p:nvSpPr>
          <p:cNvPr id="39" name="Shape 36"/>
          <p:cNvSpPr/>
          <p:nvPr/>
        </p:nvSpPr>
        <p:spPr>
          <a:xfrm>
            <a:off x="3410712" y="3401568"/>
            <a:ext cx="420624" cy="420624"/>
          </a:xfrm>
          <a:prstGeom prst="ellipse">
            <a:avLst/>
          </a:prstGeom>
          <a:solidFill>
            <a:srgbClr val="E1EEF0"/>
          </a:solidFill>
          <a:ln w="12700">
            <a:solidFill>
              <a:srgbClr val="E1EEF0"/>
            </a:solidFill>
            <a:prstDash val="solid"/>
          </a:ln>
        </p:spPr>
      </p:sp>
      <p:pic>
        <p:nvPicPr>
          <p:cNvPr id="40" name="Image 1" descr="preencoded.png">    </p:cNvPr>
          <p:cNvPicPr>
            <a:picLocks noChangeAspect="1"/>
          </p:cNvPicPr>
          <p:nvPr/>
        </p:nvPicPr>
        <p:blipFill>
          <a:blip r:embed="rId2"/>
          <a:stretch>
            <a:fillRect/>
          </a:stretch>
        </p:blipFill>
        <p:spPr>
          <a:xfrm>
            <a:off x="3503249" y="3494105"/>
            <a:ext cx="235549" cy="235549"/>
          </a:xfrm>
          <a:prstGeom prst="rect">
            <a:avLst/>
          </a:prstGeom>
        </p:spPr>
      </p:pic>
      <p:sp>
        <p:nvSpPr>
          <p:cNvPr id="41" name="Text 37"/>
          <p:cNvSpPr/>
          <p:nvPr/>
        </p:nvSpPr>
        <p:spPr>
          <a:xfrm>
            <a:off x="3904488" y="3346704"/>
            <a:ext cx="1892808" cy="274320"/>
          </a:xfrm>
          <a:prstGeom prst="rect">
            <a:avLst/>
          </a:prstGeom>
          <a:noFill/>
          <a:ln/>
        </p:spPr>
        <p:txBody>
          <a:bodyPr wrap="square" lIns="0" tIns="0" rIns="0" bIns="0" rtlCol="0" anchor="ctr"/>
          <a:lstStyle/>
          <a:p>
            <a:pPr indent="0" marL="0">
              <a:buNone/>
            </a:pPr>
            <a:r>
              <a:rPr lang="en-US" sz="1080" b="1" dirty="0">
                <a:solidFill>
                  <a:srgbClr val="1A1A1A"/>
                </a:solidFill>
                <a:latin typeface="Calibri" pitchFamily="34" charset="0"/>
                <a:ea typeface="Calibri" pitchFamily="34" charset="-122"/>
                <a:cs typeface="Calibri" pitchFamily="34" charset="-120"/>
              </a:rPr>
              <a:t>Protection coordination</a:t>
            </a:r>
            <a:endParaRPr lang="en-US" sz="1080" dirty="0"/>
          </a:p>
        </p:txBody>
      </p:sp>
      <p:sp>
        <p:nvSpPr>
          <p:cNvPr id="42" name="Text 38"/>
          <p:cNvSpPr/>
          <p:nvPr/>
        </p:nvSpPr>
        <p:spPr>
          <a:xfrm>
            <a:off x="3904488" y="3602736"/>
            <a:ext cx="1892808" cy="329184"/>
          </a:xfrm>
          <a:prstGeom prst="rect">
            <a:avLst/>
          </a:prstGeom>
          <a:noFill/>
          <a:ln/>
        </p:spPr>
        <p:txBody>
          <a:bodyPr wrap="square" lIns="0" tIns="0" rIns="0" bIns="0" rtlCol="0" anchor="t"/>
          <a:lstStyle/>
          <a:p>
            <a:pPr indent="0" marL="0">
              <a:lnSpc>
                <a:spcPct val="100000"/>
              </a:lnSpc>
              <a:buNone/>
            </a:pPr>
            <a:r>
              <a:rPr lang="en-US" sz="880" dirty="0">
                <a:solidFill>
                  <a:srgbClr val="5F5E5A"/>
                </a:solidFill>
                <a:latin typeface="Calibri" pitchFamily="34" charset="0"/>
                <a:ea typeface="Calibri" pitchFamily="34" charset="-122"/>
                <a:cs typeface="Calibri" pitchFamily="34" charset="-120"/>
              </a:rPr>
              <a:t>Relay schemes engineered for grid-connected and islanded modes</a:t>
            </a:r>
            <a:endParaRPr lang="en-US" sz="880" dirty="0"/>
          </a:p>
        </p:txBody>
      </p:sp>
      <p:sp>
        <p:nvSpPr>
          <p:cNvPr id="43" name="Shape 39"/>
          <p:cNvSpPr/>
          <p:nvPr/>
        </p:nvSpPr>
        <p:spPr>
          <a:xfrm>
            <a:off x="6071616" y="3255264"/>
            <a:ext cx="2624328" cy="713232"/>
          </a:xfrm>
          <a:prstGeom prst="roundRect">
            <a:avLst>
              <a:gd name="adj" fmla="val 10256"/>
            </a:avLst>
          </a:prstGeom>
          <a:solidFill>
            <a:srgbClr val="FFFFFF"/>
          </a:solidFill>
          <a:ln w="6350">
            <a:solidFill>
              <a:srgbClr val="CCCCCC"/>
            </a:solidFill>
            <a:prstDash val="solid"/>
          </a:ln>
        </p:spPr>
      </p:sp>
      <p:sp>
        <p:nvSpPr>
          <p:cNvPr id="44" name="Shape 40"/>
          <p:cNvSpPr/>
          <p:nvPr/>
        </p:nvSpPr>
        <p:spPr>
          <a:xfrm>
            <a:off x="6217920" y="3401568"/>
            <a:ext cx="420624" cy="420624"/>
          </a:xfrm>
          <a:prstGeom prst="ellipse">
            <a:avLst/>
          </a:prstGeom>
          <a:solidFill>
            <a:srgbClr val="E1EEF0"/>
          </a:solidFill>
          <a:ln w="12700">
            <a:solidFill>
              <a:srgbClr val="E1EEF0"/>
            </a:solidFill>
            <a:prstDash val="solid"/>
          </a:ln>
        </p:spPr>
      </p:sp>
      <p:pic>
        <p:nvPicPr>
          <p:cNvPr id="45" name="Image 2" descr="preencoded.png">    </p:cNvPr>
          <p:cNvPicPr>
            <a:picLocks noChangeAspect="1"/>
          </p:cNvPicPr>
          <p:nvPr/>
        </p:nvPicPr>
        <p:blipFill>
          <a:blip r:embed="rId3"/>
          <a:stretch>
            <a:fillRect/>
          </a:stretch>
        </p:blipFill>
        <p:spPr>
          <a:xfrm>
            <a:off x="6310457" y="3494105"/>
            <a:ext cx="235549" cy="235549"/>
          </a:xfrm>
          <a:prstGeom prst="rect">
            <a:avLst/>
          </a:prstGeom>
        </p:spPr>
      </p:pic>
      <p:sp>
        <p:nvSpPr>
          <p:cNvPr id="46" name="Text 41"/>
          <p:cNvSpPr/>
          <p:nvPr/>
        </p:nvSpPr>
        <p:spPr>
          <a:xfrm>
            <a:off x="6711696" y="3346704"/>
            <a:ext cx="1892808" cy="274320"/>
          </a:xfrm>
          <a:prstGeom prst="rect">
            <a:avLst/>
          </a:prstGeom>
          <a:noFill/>
          <a:ln/>
        </p:spPr>
        <p:txBody>
          <a:bodyPr wrap="square" lIns="0" tIns="0" rIns="0" bIns="0" rtlCol="0" anchor="ctr"/>
          <a:lstStyle/>
          <a:p>
            <a:pPr indent="0" marL="0">
              <a:buNone/>
            </a:pPr>
            <a:r>
              <a:rPr lang="en-US" sz="1080" b="1" dirty="0">
                <a:solidFill>
                  <a:srgbClr val="1A1A1A"/>
                </a:solidFill>
                <a:latin typeface="Calibri" pitchFamily="34" charset="0"/>
                <a:ea typeface="Calibri" pitchFamily="34" charset="-122"/>
                <a:cs typeface="Calibri" pitchFamily="34" charset="-120"/>
              </a:rPr>
              <a:t>Defined island boundary</a:t>
            </a:r>
            <a:endParaRPr lang="en-US" sz="1080" dirty="0"/>
          </a:p>
        </p:txBody>
      </p:sp>
      <p:sp>
        <p:nvSpPr>
          <p:cNvPr id="47" name="Text 42"/>
          <p:cNvSpPr/>
          <p:nvPr/>
        </p:nvSpPr>
        <p:spPr>
          <a:xfrm>
            <a:off x="6711696" y="3602736"/>
            <a:ext cx="1892808" cy="329184"/>
          </a:xfrm>
          <a:prstGeom prst="rect">
            <a:avLst/>
          </a:prstGeom>
          <a:noFill/>
          <a:ln/>
        </p:spPr>
        <p:txBody>
          <a:bodyPr wrap="square" lIns="0" tIns="0" rIns="0" bIns="0" rtlCol="0" anchor="t"/>
          <a:lstStyle/>
          <a:p>
            <a:pPr indent="0" marL="0">
              <a:lnSpc>
                <a:spcPct val="100000"/>
              </a:lnSpc>
              <a:buNone/>
            </a:pPr>
            <a:r>
              <a:rPr lang="en-US" sz="880" dirty="0">
                <a:solidFill>
                  <a:srgbClr val="5F5E5A"/>
                </a:solidFill>
                <a:latin typeface="Calibri" pitchFamily="34" charset="0"/>
                <a:ea typeface="Calibri" pitchFamily="34" charset="-122"/>
                <a:cs typeface="Calibri" pitchFamily="34" charset="-120"/>
              </a:rPr>
              <a:t>Clear switching scheme and a planned island topology</a:t>
            </a:r>
            <a:endParaRPr lang="en-US" sz="880" dirty="0"/>
          </a:p>
        </p:txBody>
      </p:sp>
      <p:sp>
        <p:nvSpPr>
          <p:cNvPr id="48" name="Shape 43"/>
          <p:cNvSpPr/>
          <p:nvPr/>
        </p:nvSpPr>
        <p:spPr>
          <a:xfrm>
            <a:off x="457200" y="4096512"/>
            <a:ext cx="8229600" cy="329184"/>
          </a:xfrm>
          <a:prstGeom prst="roundRect">
            <a:avLst>
              <a:gd name="adj" fmla="val 13889"/>
            </a:avLst>
          </a:prstGeom>
          <a:solidFill>
            <a:srgbClr val="123139"/>
          </a:solidFill>
          <a:ln w="12700">
            <a:solidFill>
              <a:srgbClr val="123139"/>
            </a:solidFill>
            <a:prstDash val="solid"/>
          </a:ln>
        </p:spPr>
      </p:sp>
      <p:sp>
        <p:nvSpPr>
          <p:cNvPr id="49" name="Text 44"/>
          <p:cNvSpPr/>
          <p:nvPr/>
        </p:nvSpPr>
        <p:spPr>
          <a:xfrm>
            <a:off x="457200" y="4096512"/>
            <a:ext cx="8229600" cy="329184"/>
          </a:xfrm>
          <a:prstGeom prst="rect">
            <a:avLst/>
          </a:prstGeom>
          <a:noFill/>
          <a:ln/>
        </p:spPr>
        <p:txBody>
          <a:bodyPr wrap="square" lIns="0" tIns="0" rIns="0" bIns="0" rtlCol="0" anchor="ctr"/>
          <a:lstStyle/>
          <a:p>
            <a:pPr algn="ctr" indent="0" marL="0">
              <a:buNone/>
            </a:pPr>
            <a:r>
              <a:rPr lang="en-US" sz="1100" b="1" i="1" dirty="0">
                <a:solidFill>
                  <a:srgbClr val="FFFFFF"/>
                </a:solidFill>
                <a:latin typeface="Calibri" pitchFamily="34" charset="0"/>
                <a:ea typeface="Calibri" pitchFamily="34" charset="-122"/>
                <a:cs typeface="Calibri" pitchFamily="34" charset="-120"/>
              </a:rPr>
              <a:t>Islanding capability is what lets VSIP tell premium tenants: you will never lose power.</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23139"/>
        </a:solidFill>
      </p:bgPr>
    </p:bg>
    <p:spTree>
      <p:nvGrpSpPr>
        <p:cNvPr id="1" name=""/>
        <p:cNvGrpSpPr/>
        <p:nvPr/>
      </p:nvGrpSpPr>
      <p:grpSpPr>
        <a:xfrm>
          <a:off x="0" y="0"/>
          <a:ext cx="0" cy="0"/>
          <a:chOff x="0" y="0"/>
          <a:chExt cx="0" cy="0"/>
        </a:xfrm>
      </p:grpSpPr>
      <p:sp>
        <p:nvSpPr>
          <p:cNvPr id="2" name="Shape 0"/>
          <p:cNvSpPr/>
          <p:nvPr/>
        </p:nvSpPr>
        <p:spPr>
          <a:xfrm>
            <a:off x="6949440" y="-1280160"/>
            <a:ext cx="4206240" cy="4206240"/>
          </a:xfrm>
          <a:prstGeom prst="ellipse">
            <a:avLst/>
          </a:prstGeom>
          <a:solidFill>
            <a:srgbClr val="1C5260">
              <a:alpha val="65000"/>
            </a:srgbClr>
          </a:solidFill>
          <a:ln/>
        </p:spPr>
      </p:sp>
      <p:sp>
        <p:nvSpPr>
          <p:cNvPr id="3" name="Shape 1"/>
          <p:cNvSpPr/>
          <p:nvPr/>
        </p:nvSpPr>
        <p:spPr>
          <a:xfrm>
            <a:off x="8138160" y="2377440"/>
            <a:ext cx="2194560" cy="2194560"/>
          </a:xfrm>
          <a:prstGeom prst="ellipse">
            <a:avLst/>
          </a:prstGeom>
          <a:solidFill>
            <a:srgbClr val="2B7A8C">
              <a:alpha val="30000"/>
            </a:srgbClr>
          </a:solidFill>
          <a:ln/>
        </p:spPr>
      </p:sp>
      <p:sp>
        <p:nvSpPr>
          <p:cNvPr id="4" name="Shape 2"/>
          <p:cNvSpPr/>
          <p:nvPr/>
        </p:nvSpPr>
        <p:spPr>
          <a:xfrm>
            <a:off x="640080" y="1874520"/>
            <a:ext cx="457200" cy="64008"/>
          </a:xfrm>
          <a:prstGeom prst="rect">
            <a:avLst/>
          </a:prstGeom>
          <a:solidFill>
            <a:srgbClr val="D94F1E"/>
          </a:solidFill>
          <a:ln w="12700">
            <a:solidFill>
              <a:srgbClr val="D94F1E"/>
            </a:solidFill>
            <a:prstDash val="solid"/>
          </a:ln>
        </p:spPr>
      </p:sp>
      <p:sp>
        <p:nvSpPr>
          <p:cNvPr id="5" name="Text 3"/>
          <p:cNvSpPr/>
          <p:nvPr/>
        </p:nvSpPr>
        <p:spPr>
          <a:xfrm>
            <a:off x="640080" y="1325880"/>
            <a:ext cx="2743200" cy="457200"/>
          </a:xfrm>
          <a:prstGeom prst="rect">
            <a:avLst/>
          </a:prstGeom>
          <a:noFill/>
          <a:ln/>
        </p:spPr>
        <p:txBody>
          <a:bodyPr wrap="square" lIns="0" tIns="0" rIns="0" bIns="0" rtlCol="0" anchor="ctr"/>
          <a:lstStyle/>
          <a:p>
            <a:pPr indent="0" marL="0">
              <a:buNone/>
            </a:pPr>
            <a:r>
              <a:rPr lang="en-US" sz="1400" spc="300" kern="0" dirty="0">
                <a:solidFill>
                  <a:srgbClr val="BFE0DE"/>
                </a:solidFill>
                <a:latin typeface="Calibri" pitchFamily="34" charset="0"/>
                <a:ea typeface="Calibri" pitchFamily="34" charset="-122"/>
                <a:cs typeface="Calibri" pitchFamily="34" charset="-120"/>
              </a:rPr>
              <a:t>Section 05</a:t>
            </a:r>
            <a:endParaRPr lang="en-US" sz="1400" dirty="0"/>
          </a:p>
        </p:txBody>
      </p:sp>
      <p:sp>
        <p:nvSpPr>
          <p:cNvPr id="6" name="Text 4"/>
          <p:cNvSpPr/>
          <p:nvPr/>
        </p:nvSpPr>
        <p:spPr>
          <a:xfrm>
            <a:off x="640080" y="2011680"/>
            <a:ext cx="7680960" cy="109728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Your Investment Roadmap</a:t>
            </a:r>
            <a:endParaRPr lang="en-US" sz="4200" dirty="0"/>
          </a:p>
        </p:txBody>
      </p:sp>
      <p:sp>
        <p:nvSpPr>
          <p:cNvPr id="7" name="Text 5"/>
          <p:cNvSpPr/>
          <p:nvPr/>
        </p:nvSpPr>
        <p:spPr>
          <a:xfrm>
            <a:off x="658368" y="3063240"/>
            <a:ext cx="6949440" cy="457200"/>
          </a:xfrm>
          <a:prstGeom prst="rect">
            <a:avLst/>
          </a:prstGeom>
          <a:noFill/>
          <a:ln/>
        </p:spPr>
        <p:txBody>
          <a:bodyPr wrap="square" lIns="0" tIns="0" rIns="0" bIns="0" rtlCol="0" anchor="ctr"/>
          <a:lstStyle/>
          <a:p>
            <a:pPr indent="0" marL="0">
              <a:buNone/>
            </a:pPr>
            <a:r>
              <a:rPr lang="en-US" sz="1500" i="1" dirty="0">
                <a:solidFill>
                  <a:srgbClr val="BFE0DE"/>
                </a:solidFill>
                <a:latin typeface="Calibri" pitchFamily="34" charset="0"/>
                <a:ea typeface="Calibri" pitchFamily="34" charset="-122"/>
                <a:cs typeface="Calibri" pitchFamily="34" charset="-120"/>
              </a:rPr>
              <a:t>A phased path from foundation to a fully smart, zero-carbon energy ecosystem</a:t>
            </a:r>
            <a:endParaRPr lang="en-US" sz="1500" dirty="0"/>
          </a:p>
        </p:txBody>
      </p:sp>
      <p:sp>
        <p:nvSpPr>
          <p:cNvPr id="8" name="Text 6"/>
          <p:cNvSpPr/>
          <p:nvPr/>
        </p:nvSpPr>
        <p:spPr>
          <a:xfrm>
            <a:off x="640080" y="4572000"/>
            <a:ext cx="20116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Survalent</a:t>
            </a:r>
            <a:pPr indent="0" marL="0">
              <a:buNone/>
            </a:pPr>
            <a:r>
              <a:rPr lang="en-US" sz="1300" b="1" dirty="0">
                <a:solidFill>
                  <a:srgbClr val="D94F1E"/>
                </a:solidFill>
                <a:latin typeface="Calibri" pitchFamily="34" charset="0"/>
                <a:ea typeface="Calibri" pitchFamily="34" charset="-122"/>
                <a:cs typeface="Calibri" pitchFamily="34" charset="-120"/>
              </a:rPr>
              <a: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 cy="384048"/>
          </a:xfrm>
          <a:prstGeom prst="rect">
            <a:avLst/>
          </a:prstGeom>
          <a:solidFill>
            <a:srgbClr val="D94F1E"/>
          </a:solidFill>
          <a:ln w="12700">
            <a:solidFill>
              <a:srgbClr val="D94F1E"/>
            </a:solidFill>
            <a:prstDash val="solid"/>
          </a:ln>
        </p:spPr>
      </p:sp>
      <p:sp>
        <p:nvSpPr>
          <p:cNvPr id="3" name="Text 1"/>
          <p:cNvSpPr/>
          <p:nvPr/>
        </p:nvSpPr>
        <p:spPr>
          <a:xfrm>
            <a:off x="502920" y="146304"/>
            <a:ext cx="8229600" cy="658368"/>
          </a:xfrm>
          <a:prstGeom prst="rect">
            <a:avLst/>
          </a:prstGeom>
          <a:noFill/>
          <a:ln/>
        </p:spPr>
        <p:txBody>
          <a:bodyPr wrap="square" lIns="0" tIns="0" rIns="0" bIns="0" rtlCol="0" anchor="ctr"/>
          <a:lstStyle/>
          <a:p>
            <a:pPr indent="0" marL="0">
              <a:buNone/>
            </a:pPr>
            <a:r>
              <a:rPr lang="en-US" sz="3000" b="1" dirty="0">
                <a:solidFill>
                  <a:srgbClr val="2B7A8C"/>
                </a:solidFill>
                <a:latin typeface="Calibri" pitchFamily="34" charset="0"/>
                <a:ea typeface="Calibri" pitchFamily="34" charset="-122"/>
                <a:cs typeface="Calibri" pitchFamily="34" charset="-120"/>
              </a:rPr>
              <a:t>5-Phase Investment Roadmap</a:t>
            </a:r>
            <a:endParaRPr lang="en-US" sz="3000" dirty="0"/>
          </a:p>
        </p:txBody>
      </p:sp>
      <p:sp>
        <p:nvSpPr>
          <p:cNvPr id="4" name="Shape 2"/>
          <p:cNvSpPr/>
          <p:nvPr/>
        </p:nvSpPr>
        <p:spPr>
          <a:xfrm>
            <a:off x="365760" y="4736592"/>
            <a:ext cx="8412480" cy="0"/>
          </a:xfrm>
          <a:prstGeom prst="line">
            <a:avLst/>
          </a:prstGeom>
          <a:noFill/>
          <a:ln w="12700">
            <a:solidFill>
              <a:srgbClr val="E2E2E0"/>
            </a:solidFill>
            <a:prstDash val="solid"/>
          </a:ln>
        </p:spPr>
      </p:sp>
      <p:sp>
        <p:nvSpPr>
          <p:cNvPr id="5" name="Text 3"/>
          <p:cNvSpPr/>
          <p:nvPr/>
        </p:nvSpPr>
        <p:spPr>
          <a:xfrm>
            <a:off x="365760" y="4773168"/>
            <a:ext cx="2011680" cy="27432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Survalent</a:t>
            </a:r>
            <a:pPr indent="0" marL="0">
              <a:buNone/>
            </a:pPr>
            <a:r>
              <a:rPr lang="en-US" sz="1300" b="1" dirty="0">
                <a:solidFill>
                  <a:srgbClr val="D94F1E"/>
                </a:solidFill>
                <a:latin typeface="Calibri" pitchFamily="34" charset="0"/>
                <a:ea typeface="Calibri" pitchFamily="34" charset="-122"/>
                <a:cs typeface="Calibri" pitchFamily="34" charset="-120"/>
              </a:rPr>
              <a:t>.</a:t>
            </a:r>
            <a:endParaRPr lang="en-US" sz="1300" dirty="0"/>
          </a:p>
        </p:txBody>
      </p:sp>
      <p:sp>
        <p:nvSpPr>
          <p:cNvPr id="6" name="Text 4"/>
          <p:cNvSpPr/>
          <p:nvPr/>
        </p:nvSpPr>
        <p:spPr>
          <a:xfrm>
            <a:off x="2926080" y="4809744"/>
            <a:ext cx="3291840" cy="237744"/>
          </a:xfrm>
          <a:prstGeom prst="rect">
            <a:avLst/>
          </a:prstGeom>
          <a:noFill/>
          <a:ln/>
        </p:spPr>
        <p:txBody>
          <a:bodyPr wrap="square" lIns="0" tIns="0" rIns="0" bIns="0" rtlCol="0" anchor="ctr"/>
          <a:lstStyle/>
          <a:p>
            <a:pPr algn="ctr" indent="0" marL="0">
              <a:buNone/>
            </a:pPr>
            <a:r>
              <a:rPr lang="en-US" sz="800" spc="200" kern="0" dirty="0">
                <a:solidFill>
                  <a:srgbClr val="8A8A85"/>
                </a:solidFill>
              </a:rPr>
              <a:t>Confidential &amp; Proprietary</a:t>
            </a:r>
            <a:endParaRPr lang="en-US" sz="800" dirty="0"/>
          </a:p>
        </p:txBody>
      </p:sp>
      <p:sp>
        <p:nvSpPr>
          <p:cNvPr id="7" name="Text 5"/>
          <p:cNvSpPr/>
          <p:nvPr/>
        </p:nvSpPr>
        <p:spPr>
          <a:xfrm>
            <a:off x="8229600" y="4809744"/>
            <a:ext cx="548640" cy="237744"/>
          </a:xfrm>
          <a:prstGeom prst="rect">
            <a:avLst/>
          </a:prstGeom>
          <a:noFill/>
          <a:ln/>
        </p:spPr>
        <p:txBody>
          <a:bodyPr wrap="square" lIns="0" tIns="0" rIns="0" bIns="0" rtlCol="0" anchor="ctr"/>
          <a:lstStyle/>
          <a:p>
            <a:pPr algn="r" indent="0" marL="0">
              <a:buNone/>
            </a:pPr>
            <a:r>
              <a:rPr lang="en-US" sz="900" dirty="0">
                <a:solidFill>
                  <a:srgbClr val="8A8A85"/>
                </a:solidFill>
              </a:rPr>
              <a:t>16</a:t>
            </a:r>
            <a:endParaRPr lang="en-US" sz="900" dirty="0"/>
          </a:p>
        </p:txBody>
      </p:sp>
      <p:sp>
        <p:nvSpPr>
          <p:cNvPr id="8" name="Shape 6"/>
          <p:cNvSpPr/>
          <p:nvPr/>
        </p:nvSpPr>
        <p:spPr>
          <a:xfrm>
            <a:off x="457200" y="1024128"/>
            <a:ext cx="1627632" cy="3063240"/>
          </a:xfrm>
          <a:prstGeom prst="roundRect">
            <a:avLst>
              <a:gd name="adj" fmla="val 4494"/>
            </a:avLst>
          </a:prstGeom>
          <a:solidFill>
            <a:srgbClr val="E1EEF0"/>
          </a:solidFill>
          <a:ln w="9525">
            <a:solidFill>
              <a:srgbClr val="8FC0CA"/>
            </a:solidFill>
            <a:prstDash val="solid"/>
          </a:ln>
          <a:effectLst>
            <a:outerShdw sx="100000" sy="100000" kx="0" ky="0" algn="bl" rotWithShape="0" blurRad="76200" dist="25400" dir="2700000">
              <a:srgbClr val="000000">
                <a:alpha val="10000"/>
              </a:srgbClr>
            </a:outerShdw>
          </a:effectLst>
        </p:spPr>
      </p:sp>
      <p:sp>
        <p:nvSpPr>
          <p:cNvPr id="9" name="Shape 7"/>
          <p:cNvSpPr/>
          <p:nvPr/>
        </p:nvSpPr>
        <p:spPr>
          <a:xfrm>
            <a:off x="1033272" y="1170432"/>
            <a:ext cx="475488" cy="475488"/>
          </a:xfrm>
          <a:prstGeom prst="ellipse">
            <a:avLst/>
          </a:prstGeom>
          <a:solidFill>
            <a:srgbClr val="2B7A8C"/>
          </a:solidFill>
          <a:ln w="12700">
            <a:solidFill>
              <a:srgbClr val="2B7A8C"/>
            </a:solidFill>
            <a:prstDash val="solid"/>
          </a:ln>
        </p:spPr>
      </p:sp>
      <p:sp>
        <p:nvSpPr>
          <p:cNvPr id="10" name="Text 8"/>
          <p:cNvSpPr/>
          <p:nvPr/>
        </p:nvSpPr>
        <p:spPr>
          <a:xfrm>
            <a:off x="1033272" y="1170432"/>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11" name="Text 9"/>
          <p:cNvSpPr/>
          <p:nvPr/>
        </p:nvSpPr>
        <p:spPr>
          <a:xfrm>
            <a:off x="530352" y="1700784"/>
            <a:ext cx="1481328" cy="457200"/>
          </a:xfrm>
          <a:prstGeom prst="rect">
            <a:avLst/>
          </a:prstGeom>
          <a:noFill/>
          <a:ln/>
        </p:spPr>
        <p:txBody>
          <a:bodyPr wrap="square" lIns="0" tIns="0" rIns="0" bIns="0" rtlCol="0" anchor="ctr"/>
          <a:lstStyle/>
          <a:p>
            <a:pPr algn="ctr" indent="0" marL="0">
              <a:buNone/>
            </a:pPr>
            <a:r>
              <a:rPr lang="en-US" sz="1150" b="1" dirty="0">
                <a:solidFill>
                  <a:srgbClr val="1A1A1A"/>
                </a:solidFill>
                <a:latin typeface="Calibri" pitchFamily="34" charset="0"/>
                <a:ea typeface="Calibri" pitchFamily="34" charset="-122"/>
                <a:cs typeface="Calibri" pitchFamily="34" charset="-120"/>
              </a:rPr>
              <a:t>Foundation</a:t>
            </a:r>
            <a:endParaRPr lang="en-US" sz="1150" dirty="0"/>
          </a:p>
        </p:txBody>
      </p:sp>
      <p:sp>
        <p:nvSpPr>
          <p:cNvPr id="12" name="Text 10"/>
          <p:cNvSpPr/>
          <p:nvPr/>
        </p:nvSpPr>
        <p:spPr>
          <a:xfrm>
            <a:off x="530352" y="2139696"/>
            <a:ext cx="1481328" cy="256032"/>
          </a:xfrm>
          <a:prstGeom prst="rect">
            <a:avLst/>
          </a:prstGeom>
          <a:noFill/>
          <a:ln/>
        </p:spPr>
        <p:txBody>
          <a:bodyPr wrap="square" lIns="0" tIns="0" rIns="0" bIns="0" rtlCol="0" anchor="ctr"/>
          <a:lstStyle/>
          <a:p>
            <a:pPr algn="ctr" indent="0" marL="0">
              <a:buNone/>
            </a:pPr>
            <a:r>
              <a:rPr lang="en-US" sz="850" i="1" dirty="0">
                <a:solidFill>
                  <a:srgbClr val="5F5E5A"/>
                </a:solidFill>
                <a:latin typeface="Calibri" pitchFamily="34" charset="0"/>
                <a:ea typeface="Calibri" pitchFamily="34" charset="-122"/>
                <a:cs typeface="Calibri" pitchFamily="34" charset="-120"/>
              </a:rPr>
              <a:t>Construction → energization</a:t>
            </a:r>
            <a:endParaRPr lang="en-US" sz="850" dirty="0"/>
          </a:p>
        </p:txBody>
      </p:sp>
      <p:sp>
        <p:nvSpPr>
          <p:cNvPr id="13" name="Shape 11"/>
          <p:cNvSpPr/>
          <p:nvPr/>
        </p:nvSpPr>
        <p:spPr>
          <a:xfrm>
            <a:off x="548640" y="2450592"/>
            <a:ext cx="1444752" cy="228600"/>
          </a:xfrm>
          <a:prstGeom prst="roundRect">
            <a:avLst>
              <a:gd name="adj" fmla="val 20000"/>
            </a:avLst>
          </a:prstGeom>
          <a:solidFill>
            <a:srgbClr val="FFFFFF"/>
          </a:solidFill>
          <a:ln w="6350">
            <a:solidFill>
              <a:srgbClr val="8FC0CA"/>
            </a:solidFill>
            <a:prstDash val="solid"/>
          </a:ln>
        </p:spPr>
      </p:sp>
      <p:sp>
        <p:nvSpPr>
          <p:cNvPr id="14" name="Text 12"/>
          <p:cNvSpPr/>
          <p:nvPr/>
        </p:nvSpPr>
        <p:spPr>
          <a:xfrm>
            <a:off x="548640" y="2450592"/>
            <a:ext cx="1444752" cy="228600"/>
          </a:xfrm>
          <a:prstGeom prst="rect">
            <a:avLst/>
          </a:prstGeom>
          <a:noFill/>
          <a:ln/>
        </p:spPr>
        <p:txBody>
          <a:bodyPr wrap="square" lIns="0" tIns="0" rIns="0" bIns="0" rtlCol="0" anchor="ctr"/>
          <a:lstStyle/>
          <a:p>
            <a:pPr algn="ctr" indent="0" marL="0">
              <a:buNone/>
            </a:pPr>
            <a:r>
              <a:rPr lang="en-US" sz="830" dirty="0">
                <a:solidFill>
                  <a:srgbClr val="1C5260"/>
                </a:solidFill>
                <a:latin typeface="Calibri" pitchFamily="34" charset="0"/>
                <a:ea typeface="Calibri" pitchFamily="34" charset="-122"/>
                <a:cs typeface="Calibri" pitchFamily="34" charset="-120"/>
              </a:rPr>
              <a:t>SCADA</a:t>
            </a:r>
            <a:endParaRPr lang="en-US" sz="830" dirty="0"/>
          </a:p>
        </p:txBody>
      </p:sp>
      <p:sp>
        <p:nvSpPr>
          <p:cNvPr id="15" name="Shape 13"/>
          <p:cNvSpPr/>
          <p:nvPr/>
        </p:nvSpPr>
        <p:spPr>
          <a:xfrm>
            <a:off x="548640" y="2724912"/>
            <a:ext cx="1444752" cy="228600"/>
          </a:xfrm>
          <a:prstGeom prst="roundRect">
            <a:avLst>
              <a:gd name="adj" fmla="val 20000"/>
            </a:avLst>
          </a:prstGeom>
          <a:solidFill>
            <a:srgbClr val="FFFFFF"/>
          </a:solidFill>
          <a:ln w="6350">
            <a:solidFill>
              <a:srgbClr val="8FC0CA"/>
            </a:solidFill>
            <a:prstDash val="solid"/>
          </a:ln>
        </p:spPr>
      </p:sp>
      <p:sp>
        <p:nvSpPr>
          <p:cNvPr id="16" name="Text 14"/>
          <p:cNvSpPr/>
          <p:nvPr/>
        </p:nvSpPr>
        <p:spPr>
          <a:xfrm>
            <a:off x="548640" y="2724912"/>
            <a:ext cx="1444752" cy="228600"/>
          </a:xfrm>
          <a:prstGeom prst="rect">
            <a:avLst/>
          </a:prstGeom>
          <a:noFill/>
          <a:ln/>
        </p:spPr>
        <p:txBody>
          <a:bodyPr wrap="square" lIns="0" tIns="0" rIns="0" bIns="0" rtlCol="0" anchor="ctr"/>
          <a:lstStyle/>
          <a:p>
            <a:pPr algn="ctr" indent="0" marL="0">
              <a:buNone/>
            </a:pPr>
            <a:r>
              <a:rPr lang="en-US" sz="830" dirty="0">
                <a:solidFill>
                  <a:srgbClr val="1C5260"/>
                </a:solidFill>
                <a:latin typeface="Calibri" pitchFamily="34" charset="0"/>
                <a:ea typeface="Calibri" pitchFamily="34" charset="-122"/>
                <a:cs typeface="Calibri" pitchFamily="34" charset="-120"/>
              </a:rPr>
              <a:t>Substations</a:t>
            </a:r>
            <a:endParaRPr lang="en-US" sz="830" dirty="0"/>
          </a:p>
        </p:txBody>
      </p:sp>
      <p:sp>
        <p:nvSpPr>
          <p:cNvPr id="17" name="Shape 15"/>
          <p:cNvSpPr/>
          <p:nvPr/>
        </p:nvSpPr>
        <p:spPr>
          <a:xfrm>
            <a:off x="548640" y="2999232"/>
            <a:ext cx="1444752" cy="228600"/>
          </a:xfrm>
          <a:prstGeom prst="roundRect">
            <a:avLst>
              <a:gd name="adj" fmla="val 20000"/>
            </a:avLst>
          </a:prstGeom>
          <a:solidFill>
            <a:srgbClr val="FFFFFF"/>
          </a:solidFill>
          <a:ln w="6350">
            <a:solidFill>
              <a:srgbClr val="8FC0CA"/>
            </a:solidFill>
            <a:prstDash val="solid"/>
          </a:ln>
        </p:spPr>
      </p:sp>
      <p:sp>
        <p:nvSpPr>
          <p:cNvPr id="18" name="Text 16"/>
          <p:cNvSpPr/>
          <p:nvPr/>
        </p:nvSpPr>
        <p:spPr>
          <a:xfrm>
            <a:off x="548640" y="2999232"/>
            <a:ext cx="1444752" cy="228600"/>
          </a:xfrm>
          <a:prstGeom prst="rect">
            <a:avLst/>
          </a:prstGeom>
          <a:noFill/>
          <a:ln/>
        </p:spPr>
        <p:txBody>
          <a:bodyPr wrap="square" lIns="0" tIns="0" rIns="0" bIns="0" rtlCol="0" anchor="ctr"/>
          <a:lstStyle/>
          <a:p>
            <a:pPr algn="ctr" indent="0" marL="0">
              <a:buNone/>
            </a:pPr>
            <a:r>
              <a:rPr lang="en-US" sz="830" dirty="0">
                <a:solidFill>
                  <a:srgbClr val="1C5260"/>
                </a:solidFill>
                <a:latin typeface="Calibri" pitchFamily="34" charset="0"/>
                <a:ea typeface="Calibri" pitchFamily="34" charset="-122"/>
                <a:cs typeface="Calibri" pitchFamily="34" charset="-120"/>
              </a:rPr>
              <a:t>Reclosers/LBS/RMU</a:t>
            </a:r>
            <a:endParaRPr lang="en-US" sz="830" dirty="0"/>
          </a:p>
        </p:txBody>
      </p:sp>
      <p:sp>
        <p:nvSpPr>
          <p:cNvPr id="19" name="Shape 17"/>
          <p:cNvSpPr/>
          <p:nvPr/>
        </p:nvSpPr>
        <p:spPr>
          <a:xfrm>
            <a:off x="548640" y="3273552"/>
            <a:ext cx="1444752" cy="228600"/>
          </a:xfrm>
          <a:prstGeom prst="roundRect">
            <a:avLst>
              <a:gd name="adj" fmla="val 20000"/>
            </a:avLst>
          </a:prstGeom>
          <a:solidFill>
            <a:srgbClr val="FFFFFF"/>
          </a:solidFill>
          <a:ln w="6350">
            <a:solidFill>
              <a:srgbClr val="8FC0CA"/>
            </a:solidFill>
            <a:prstDash val="solid"/>
          </a:ln>
        </p:spPr>
      </p:sp>
      <p:sp>
        <p:nvSpPr>
          <p:cNvPr id="20" name="Text 18"/>
          <p:cNvSpPr/>
          <p:nvPr/>
        </p:nvSpPr>
        <p:spPr>
          <a:xfrm>
            <a:off x="548640" y="3273552"/>
            <a:ext cx="1444752" cy="228600"/>
          </a:xfrm>
          <a:prstGeom prst="rect">
            <a:avLst/>
          </a:prstGeom>
          <a:noFill/>
          <a:ln/>
        </p:spPr>
        <p:txBody>
          <a:bodyPr wrap="square" lIns="0" tIns="0" rIns="0" bIns="0" rtlCol="0" anchor="ctr"/>
          <a:lstStyle/>
          <a:p>
            <a:pPr algn="ctr" indent="0" marL="0">
              <a:buNone/>
            </a:pPr>
            <a:r>
              <a:rPr lang="en-US" sz="830" dirty="0">
                <a:solidFill>
                  <a:srgbClr val="1C5260"/>
                </a:solidFill>
                <a:latin typeface="Calibri" pitchFamily="34" charset="0"/>
                <a:ea typeface="Calibri" pitchFamily="34" charset="-122"/>
                <a:cs typeface="Calibri" pitchFamily="34" charset="-120"/>
              </a:rPr>
              <a:t>Power quality</a:t>
            </a:r>
            <a:endParaRPr lang="en-US" sz="830" dirty="0"/>
          </a:p>
        </p:txBody>
      </p:sp>
      <p:sp>
        <p:nvSpPr>
          <p:cNvPr id="21" name="Shape 19"/>
          <p:cNvSpPr/>
          <p:nvPr/>
        </p:nvSpPr>
        <p:spPr>
          <a:xfrm>
            <a:off x="548640" y="3547872"/>
            <a:ext cx="1444752" cy="228600"/>
          </a:xfrm>
          <a:prstGeom prst="roundRect">
            <a:avLst>
              <a:gd name="adj" fmla="val 20000"/>
            </a:avLst>
          </a:prstGeom>
          <a:solidFill>
            <a:srgbClr val="FFFFFF"/>
          </a:solidFill>
          <a:ln w="6350">
            <a:solidFill>
              <a:srgbClr val="8FC0CA"/>
            </a:solidFill>
            <a:prstDash val="solid"/>
          </a:ln>
        </p:spPr>
      </p:sp>
      <p:sp>
        <p:nvSpPr>
          <p:cNvPr id="22" name="Text 20"/>
          <p:cNvSpPr/>
          <p:nvPr/>
        </p:nvSpPr>
        <p:spPr>
          <a:xfrm>
            <a:off x="548640" y="3547872"/>
            <a:ext cx="1444752" cy="228600"/>
          </a:xfrm>
          <a:prstGeom prst="rect">
            <a:avLst/>
          </a:prstGeom>
          <a:noFill/>
          <a:ln/>
        </p:spPr>
        <p:txBody>
          <a:bodyPr wrap="square" lIns="0" tIns="0" rIns="0" bIns="0" rtlCol="0" anchor="ctr"/>
          <a:lstStyle/>
          <a:p>
            <a:pPr algn="ctr" indent="0" marL="0">
              <a:buNone/>
            </a:pPr>
            <a:r>
              <a:rPr lang="en-US" sz="830" dirty="0">
                <a:solidFill>
                  <a:srgbClr val="1C5260"/>
                </a:solidFill>
                <a:latin typeface="Calibri" pitchFamily="34" charset="0"/>
                <a:ea typeface="Calibri" pitchFamily="34" charset="-122"/>
                <a:cs typeface="Calibri" pitchFamily="34" charset="-120"/>
              </a:rPr>
              <a:t>OT cybersecurity</a:t>
            </a:r>
            <a:endParaRPr lang="en-US" sz="830" dirty="0"/>
          </a:p>
        </p:txBody>
      </p:sp>
      <p:sp>
        <p:nvSpPr>
          <p:cNvPr id="23" name="Shape 21"/>
          <p:cNvSpPr/>
          <p:nvPr/>
        </p:nvSpPr>
        <p:spPr>
          <a:xfrm>
            <a:off x="548640" y="3822192"/>
            <a:ext cx="1444752" cy="228600"/>
          </a:xfrm>
          <a:prstGeom prst="roundRect">
            <a:avLst>
              <a:gd name="adj" fmla="val 20000"/>
            </a:avLst>
          </a:prstGeom>
          <a:solidFill>
            <a:srgbClr val="FFFFFF"/>
          </a:solidFill>
          <a:ln w="6350">
            <a:solidFill>
              <a:srgbClr val="8FC0CA"/>
            </a:solidFill>
            <a:prstDash val="solid"/>
          </a:ln>
        </p:spPr>
      </p:sp>
      <p:sp>
        <p:nvSpPr>
          <p:cNvPr id="24" name="Text 22"/>
          <p:cNvSpPr/>
          <p:nvPr/>
        </p:nvSpPr>
        <p:spPr>
          <a:xfrm>
            <a:off x="548640" y="3822192"/>
            <a:ext cx="1444752" cy="228600"/>
          </a:xfrm>
          <a:prstGeom prst="rect">
            <a:avLst/>
          </a:prstGeom>
          <a:noFill/>
          <a:ln/>
        </p:spPr>
        <p:txBody>
          <a:bodyPr wrap="square" lIns="0" tIns="0" rIns="0" bIns="0" rtlCol="0" anchor="ctr"/>
          <a:lstStyle/>
          <a:p>
            <a:pPr algn="ctr" indent="0" marL="0">
              <a:buNone/>
            </a:pPr>
            <a:r>
              <a:rPr lang="en-US" sz="830" dirty="0">
                <a:solidFill>
                  <a:srgbClr val="1C5260"/>
                </a:solidFill>
                <a:latin typeface="Calibri" pitchFamily="34" charset="0"/>
                <a:ea typeface="Calibri" pitchFamily="34" charset="-122"/>
                <a:cs typeface="Calibri" pitchFamily="34" charset="-120"/>
              </a:rPr>
              <a:t>Fiber backbone</a:t>
            </a:r>
            <a:endParaRPr lang="en-US" sz="830" dirty="0"/>
          </a:p>
        </p:txBody>
      </p:sp>
      <p:sp>
        <p:nvSpPr>
          <p:cNvPr id="25" name="Text 23"/>
          <p:cNvSpPr/>
          <p:nvPr/>
        </p:nvSpPr>
        <p:spPr>
          <a:xfrm>
            <a:off x="493776" y="4142232"/>
            <a:ext cx="1554480" cy="457200"/>
          </a:xfrm>
          <a:prstGeom prst="rect">
            <a:avLst/>
          </a:prstGeom>
          <a:noFill/>
          <a:ln/>
        </p:spPr>
        <p:txBody>
          <a:bodyPr wrap="square" lIns="0" tIns="0" rIns="0" bIns="0" rtlCol="0" anchor="t"/>
          <a:lstStyle/>
          <a:p>
            <a:pPr algn="ctr" indent="0" marL="0">
              <a:lnSpc>
                <a:spcPct val="100000"/>
              </a:lnSpc>
              <a:buNone/>
            </a:pPr>
            <a:r>
              <a:rPr lang="en-US" sz="850" i="1" dirty="0">
                <a:solidFill>
                  <a:srgbClr val="1C5260"/>
                </a:solidFill>
                <a:latin typeface="Calibri" pitchFamily="34" charset="0"/>
                <a:ea typeface="Calibri" pitchFamily="34" charset="-122"/>
                <a:cs typeface="Calibri" pitchFamily="34" charset="-120"/>
              </a:rPr>
              <a:t>Full visibility, secure base</a:t>
            </a:r>
            <a:endParaRPr lang="en-US" sz="850" dirty="0"/>
          </a:p>
        </p:txBody>
      </p:sp>
      <p:sp>
        <p:nvSpPr>
          <p:cNvPr id="26" name="Shape 24"/>
          <p:cNvSpPr/>
          <p:nvPr/>
        </p:nvSpPr>
        <p:spPr>
          <a:xfrm>
            <a:off x="2148840" y="1024128"/>
            <a:ext cx="1627632" cy="3063240"/>
          </a:xfrm>
          <a:prstGeom prst="roundRect">
            <a:avLst>
              <a:gd name="adj" fmla="val 4494"/>
            </a:avLst>
          </a:prstGeom>
          <a:solidFill>
            <a:srgbClr val="E6F0FA"/>
          </a:solidFill>
          <a:ln w="9525">
            <a:solidFill>
              <a:srgbClr val="9CC2E8"/>
            </a:solidFill>
            <a:prstDash val="solid"/>
          </a:ln>
          <a:effectLst>
            <a:outerShdw sx="100000" sy="100000" kx="0" ky="0" algn="bl" rotWithShape="0" blurRad="76200" dist="25400" dir="2700000">
              <a:srgbClr val="000000">
                <a:alpha val="10000"/>
              </a:srgbClr>
            </a:outerShdw>
          </a:effectLst>
        </p:spPr>
      </p:sp>
      <p:sp>
        <p:nvSpPr>
          <p:cNvPr id="27" name="Shape 25"/>
          <p:cNvSpPr/>
          <p:nvPr/>
        </p:nvSpPr>
        <p:spPr>
          <a:xfrm>
            <a:off x="2724912" y="1170432"/>
            <a:ext cx="475488" cy="475488"/>
          </a:xfrm>
          <a:prstGeom prst="ellipse">
            <a:avLst/>
          </a:prstGeom>
          <a:solidFill>
            <a:srgbClr val="2F6FB0"/>
          </a:solidFill>
          <a:ln w="12700">
            <a:solidFill>
              <a:srgbClr val="2F6FB0"/>
            </a:solidFill>
            <a:prstDash val="solid"/>
          </a:ln>
        </p:spPr>
      </p:sp>
      <p:sp>
        <p:nvSpPr>
          <p:cNvPr id="28" name="Text 26"/>
          <p:cNvSpPr/>
          <p:nvPr/>
        </p:nvSpPr>
        <p:spPr>
          <a:xfrm>
            <a:off x="2724912" y="1170432"/>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29" name="Text 27"/>
          <p:cNvSpPr/>
          <p:nvPr/>
        </p:nvSpPr>
        <p:spPr>
          <a:xfrm>
            <a:off x="2221992" y="1700784"/>
            <a:ext cx="1481328" cy="457200"/>
          </a:xfrm>
          <a:prstGeom prst="rect">
            <a:avLst/>
          </a:prstGeom>
          <a:noFill/>
          <a:ln/>
        </p:spPr>
        <p:txBody>
          <a:bodyPr wrap="square" lIns="0" tIns="0" rIns="0" bIns="0" rtlCol="0" anchor="ctr"/>
          <a:lstStyle/>
          <a:p>
            <a:pPr algn="ctr" indent="0" marL="0">
              <a:buNone/>
            </a:pPr>
            <a:r>
              <a:rPr lang="en-US" sz="1150" b="1" dirty="0">
                <a:solidFill>
                  <a:srgbClr val="1A1A1A"/>
                </a:solidFill>
                <a:latin typeface="Calibri" pitchFamily="34" charset="0"/>
                <a:ea typeface="Calibri" pitchFamily="34" charset="-122"/>
                <a:cs typeface="Calibri" pitchFamily="34" charset="-120"/>
              </a:rPr>
              <a:t>Grid intelligence</a:t>
            </a:r>
            <a:endParaRPr lang="en-US" sz="1150" dirty="0"/>
          </a:p>
        </p:txBody>
      </p:sp>
      <p:sp>
        <p:nvSpPr>
          <p:cNvPr id="30" name="Text 28"/>
          <p:cNvSpPr/>
          <p:nvPr/>
        </p:nvSpPr>
        <p:spPr>
          <a:xfrm>
            <a:off x="2221992" y="2139696"/>
            <a:ext cx="1481328" cy="256032"/>
          </a:xfrm>
          <a:prstGeom prst="rect">
            <a:avLst/>
          </a:prstGeom>
          <a:noFill/>
          <a:ln/>
        </p:spPr>
        <p:txBody>
          <a:bodyPr wrap="square" lIns="0" tIns="0" rIns="0" bIns="0" rtlCol="0" anchor="ctr"/>
          <a:lstStyle/>
          <a:p>
            <a:pPr algn="ctr" indent="0" marL="0">
              <a:buNone/>
            </a:pPr>
            <a:r>
              <a:rPr lang="en-US" sz="850" i="1" dirty="0">
                <a:solidFill>
                  <a:srgbClr val="5F5E5A"/>
                </a:solidFill>
                <a:latin typeface="Calibri" pitchFamily="34" charset="0"/>
                <a:ea typeface="Calibri" pitchFamily="34" charset="-122"/>
                <a:cs typeface="Calibri" pitchFamily="34" charset="-120"/>
              </a:rPr>
              <a:t>Early operations</a:t>
            </a:r>
            <a:endParaRPr lang="en-US" sz="850" dirty="0"/>
          </a:p>
        </p:txBody>
      </p:sp>
      <p:sp>
        <p:nvSpPr>
          <p:cNvPr id="31" name="Shape 29"/>
          <p:cNvSpPr/>
          <p:nvPr/>
        </p:nvSpPr>
        <p:spPr>
          <a:xfrm>
            <a:off x="2240280" y="2450592"/>
            <a:ext cx="1444752" cy="228600"/>
          </a:xfrm>
          <a:prstGeom prst="roundRect">
            <a:avLst>
              <a:gd name="adj" fmla="val 20000"/>
            </a:avLst>
          </a:prstGeom>
          <a:solidFill>
            <a:srgbClr val="FFFFFF"/>
          </a:solidFill>
          <a:ln w="6350">
            <a:solidFill>
              <a:srgbClr val="9CC2E8"/>
            </a:solidFill>
            <a:prstDash val="solid"/>
          </a:ln>
        </p:spPr>
      </p:sp>
      <p:sp>
        <p:nvSpPr>
          <p:cNvPr id="32" name="Text 30"/>
          <p:cNvSpPr/>
          <p:nvPr/>
        </p:nvSpPr>
        <p:spPr>
          <a:xfrm>
            <a:off x="2240280" y="2450592"/>
            <a:ext cx="1444752" cy="228600"/>
          </a:xfrm>
          <a:prstGeom prst="rect">
            <a:avLst/>
          </a:prstGeom>
          <a:noFill/>
          <a:ln/>
        </p:spPr>
        <p:txBody>
          <a:bodyPr wrap="square" lIns="0" tIns="0" rIns="0" bIns="0" rtlCol="0" anchor="ctr"/>
          <a:lstStyle/>
          <a:p>
            <a:pPr algn="ctr" indent="0" marL="0">
              <a:buNone/>
            </a:pPr>
            <a:r>
              <a:rPr lang="en-US" sz="830" dirty="0">
                <a:solidFill>
                  <a:srgbClr val="1C4878"/>
                </a:solidFill>
                <a:latin typeface="Calibri" pitchFamily="34" charset="0"/>
                <a:ea typeface="Calibri" pitchFamily="34" charset="-122"/>
                <a:cs typeface="Calibri" pitchFamily="34" charset="-120"/>
              </a:rPr>
              <a:t>ADMS</a:t>
            </a:r>
            <a:endParaRPr lang="en-US" sz="830" dirty="0"/>
          </a:p>
        </p:txBody>
      </p:sp>
      <p:sp>
        <p:nvSpPr>
          <p:cNvPr id="33" name="Shape 31"/>
          <p:cNvSpPr/>
          <p:nvPr/>
        </p:nvSpPr>
        <p:spPr>
          <a:xfrm>
            <a:off x="2240280" y="2724912"/>
            <a:ext cx="1444752" cy="228600"/>
          </a:xfrm>
          <a:prstGeom prst="roundRect">
            <a:avLst>
              <a:gd name="adj" fmla="val 20000"/>
            </a:avLst>
          </a:prstGeom>
          <a:solidFill>
            <a:srgbClr val="FFFFFF"/>
          </a:solidFill>
          <a:ln w="6350">
            <a:solidFill>
              <a:srgbClr val="9CC2E8"/>
            </a:solidFill>
            <a:prstDash val="solid"/>
          </a:ln>
        </p:spPr>
      </p:sp>
      <p:sp>
        <p:nvSpPr>
          <p:cNvPr id="34" name="Text 32"/>
          <p:cNvSpPr/>
          <p:nvPr/>
        </p:nvSpPr>
        <p:spPr>
          <a:xfrm>
            <a:off x="2240280" y="2724912"/>
            <a:ext cx="1444752" cy="228600"/>
          </a:xfrm>
          <a:prstGeom prst="rect">
            <a:avLst/>
          </a:prstGeom>
          <a:noFill/>
          <a:ln/>
        </p:spPr>
        <p:txBody>
          <a:bodyPr wrap="square" lIns="0" tIns="0" rIns="0" bIns="0" rtlCol="0" anchor="ctr"/>
          <a:lstStyle/>
          <a:p>
            <a:pPr algn="ctr" indent="0" marL="0">
              <a:buNone/>
            </a:pPr>
            <a:r>
              <a:rPr lang="en-US" sz="830" dirty="0">
                <a:solidFill>
                  <a:srgbClr val="1C4878"/>
                </a:solidFill>
                <a:latin typeface="Calibri" pitchFamily="34" charset="0"/>
                <a:ea typeface="Calibri" pitchFamily="34" charset="-122"/>
                <a:cs typeface="Calibri" pitchFamily="34" charset="-120"/>
              </a:rPr>
              <a:t>Topology</a:t>
            </a:r>
            <a:endParaRPr lang="en-US" sz="830" dirty="0"/>
          </a:p>
        </p:txBody>
      </p:sp>
      <p:sp>
        <p:nvSpPr>
          <p:cNvPr id="35" name="Shape 33"/>
          <p:cNvSpPr/>
          <p:nvPr/>
        </p:nvSpPr>
        <p:spPr>
          <a:xfrm>
            <a:off x="2240280" y="2999232"/>
            <a:ext cx="1444752" cy="228600"/>
          </a:xfrm>
          <a:prstGeom prst="roundRect">
            <a:avLst>
              <a:gd name="adj" fmla="val 20000"/>
            </a:avLst>
          </a:prstGeom>
          <a:solidFill>
            <a:srgbClr val="FFFFFF"/>
          </a:solidFill>
          <a:ln w="6350">
            <a:solidFill>
              <a:srgbClr val="9CC2E8"/>
            </a:solidFill>
            <a:prstDash val="solid"/>
          </a:ln>
        </p:spPr>
      </p:sp>
      <p:sp>
        <p:nvSpPr>
          <p:cNvPr id="36" name="Text 34"/>
          <p:cNvSpPr/>
          <p:nvPr/>
        </p:nvSpPr>
        <p:spPr>
          <a:xfrm>
            <a:off x="2240280" y="2999232"/>
            <a:ext cx="1444752" cy="228600"/>
          </a:xfrm>
          <a:prstGeom prst="rect">
            <a:avLst/>
          </a:prstGeom>
          <a:noFill/>
          <a:ln/>
        </p:spPr>
        <p:txBody>
          <a:bodyPr wrap="square" lIns="0" tIns="0" rIns="0" bIns="0" rtlCol="0" anchor="ctr"/>
          <a:lstStyle/>
          <a:p>
            <a:pPr algn="ctr" indent="0" marL="0">
              <a:buNone/>
            </a:pPr>
            <a:r>
              <a:rPr lang="en-US" sz="830" dirty="0">
                <a:solidFill>
                  <a:srgbClr val="1C4878"/>
                </a:solidFill>
                <a:latin typeface="Calibri" pitchFamily="34" charset="0"/>
                <a:ea typeface="Calibri" pitchFamily="34" charset="-122"/>
                <a:cs typeface="Calibri" pitchFamily="34" charset="-120"/>
              </a:rPr>
              <a:t>FLISR</a:t>
            </a:r>
            <a:endParaRPr lang="en-US" sz="830" dirty="0"/>
          </a:p>
        </p:txBody>
      </p:sp>
      <p:sp>
        <p:nvSpPr>
          <p:cNvPr id="37" name="Shape 35"/>
          <p:cNvSpPr/>
          <p:nvPr/>
        </p:nvSpPr>
        <p:spPr>
          <a:xfrm>
            <a:off x="2240280" y="3273552"/>
            <a:ext cx="1444752" cy="228600"/>
          </a:xfrm>
          <a:prstGeom prst="roundRect">
            <a:avLst>
              <a:gd name="adj" fmla="val 20000"/>
            </a:avLst>
          </a:prstGeom>
          <a:solidFill>
            <a:srgbClr val="FFFFFF"/>
          </a:solidFill>
          <a:ln w="6350">
            <a:solidFill>
              <a:srgbClr val="9CC2E8"/>
            </a:solidFill>
            <a:prstDash val="solid"/>
          </a:ln>
        </p:spPr>
      </p:sp>
      <p:sp>
        <p:nvSpPr>
          <p:cNvPr id="38" name="Text 36"/>
          <p:cNvSpPr/>
          <p:nvPr/>
        </p:nvSpPr>
        <p:spPr>
          <a:xfrm>
            <a:off x="2240280" y="3273552"/>
            <a:ext cx="1444752" cy="228600"/>
          </a:xfrm>
          <a:prstGeom prst="rect">
            <a:avLst/>
          </a:prstGeom>
          <a:noFill/>
          <a:ln/>
        </p:spPr>
        <p:txBody>
          <a:bodyPr wrap="square" lIns="0" tIns="0" rIns="0" bIns="0" rtlCol="0" anchor="ctr"/>
          <a:lstStyle/>
          <a:p>
            <a:pPr algn="ctr" indent="0" marL="0">
              <a:buNone/>
            </a:pPr>
            <a:r>
              <a:rPr lang="en-US" sz="830" dirty="0">
                <a:solidFill>
                  <a:srgbClr val="1C4878"/>
                </a:solidFill>
                <a:latin typeface="Calibri" pitchFamily="34" charset="0"/>
                <a:ea typeface="Calibri" pitchFamily="34" charset="-122"/>
                <a:cs typeface="Calibri" pitchFamily="34" charset="-120"/>
              </a:rPr>
              <a:t>Volt/VAR</a:t>
            </a:r>
            <a:endParaRPr lang="en-US" sz="830" dirty="0"/>
          </a:p>
        </p:txBody>
      </p:sp>
      <p:sp>
        <p:nvSpPr>
          <p:cNvPr id="39" name="Shape 37"/>
          <p:cNvSpPr/>
          <p:nvPr/>
        </p:nvSpPr>
        <p:spPr>
          <a:xfrm>
            <a:off x="2240280" y="3547872"/>
            <a:ext cx="1444752" cy="228600"/>
          </a:xfrm>
          <a:prstGeom prst="roundRect">
            <a:avLst>
              <a:gd name="adj" fmla="val 20000"/>
            </a:avLst>
          </a:prstGeom>
          <a:solidFill>
            <a:srgbClr val="FFFFFF"/>
          </a:solidFill>
          <a:ln w="6350">
            <a:solidFill>
              <a:srgbClr val="9CC2E8"/>
            </a:solidFill>
            <a:prstDash val="solid"/>
          </a:ln>
        </p:spPr>
      </p:sp>
      <p:sp>
        <p:nvSpPr>
          <p:cNvPr id="40" name="Text 38"/>
          <p:cNvSpPr/>
          <p:nvPr/>
        </p:nvSpPr>
        <p:spPr>
          <a:xfrm>
            <a:off x="2240280" y="3547872"/>
            <a:ext cx="1444752" cy="228600"/>
          </a:xfrm>
          <a:prstGeom prst="rect">
            <a:avLst/>
          </a:prstGeom>
          <a:noFill/>
          <a:ln/>
        </p:spPr>
        <p:txBody>
          <a:bodyPr wrap="square" lIns="0" tIns="0" rIns="0" bIns="0" rtlCol="0" anchor="ctr"/>
          <a:lstStyle/>
          <a:p>
            <a:pPr algn="ctr" indent="0" marL="0">
              <a:buNone/>
            </a:pPr>
            <a:r>
              <a:rPr lang="en-US" sz="830" dirty="0">
                <a:solidFill>
                  <a:srgbClr val="1C4878"/>
                </a:solidFill>
                <a:latin typeface="Calibri" pitchFamily="34" charset="0"/>
                <a:ea typeface="Calibri" pitchFamily="34" charset="-122"/>
                <a:cs typeface="Calibri" pitchFamily="34" charset="-120"/>
              </a:rPr>
              <a:t>Zero-export alarms</a:t>
            </a:r>
            <a:endParaRPr lang="en-US" sz="830" dirty="0"/>
          </a:p>
        </p:txBody>
      </p:sp>
      <p:sp>
        <p:nvSpPr>
          <p:cNvPr id="41" name="Shape 39"/>
          <p:cNvSpPr/>
          <p:nvPr/>
        </p:nvSpPr>
        <p:spPr>
          <a:xfrm>
            <a:off x="2240280" y="3822192"/>
            <a:ext cx="1444752" cy="228600"/>
          </a:xfrm>
          <a:prstGeom prst="roundRect">
            <a:avLst>
              <a:gd name="adj" fmla="val 20000"/>
            </a:avLst>
          </a:prstGeom>
          <a:solidFill>
            <a:srgbClr val="FFFFFF"/>
          </a:solidFill>
          <a:ln w="6350">
            <a:solidFill>
              <a:srgbClr val="9CC2E8"/>
            </a:solidFill>
            <a:prstDash val="solid"/>
          </a:ln>
        </p:spPr>
      </p:sp>
      <p:sp>
        <p:nvSpPr>
          <p:cNvPr id="42" name="Text 40"/>
          <p:cNvSpPr/>
          <p:nvPr/>
        </p:nvSpPr>
        <p:spPr>
          <a:xfrm>
            <a:off x="2240280" y="3822192"/>
            <a:ext cx="1444752" cy="228600"/>
          </a:xfrm>
          <a:prstGeom prst="rect">
            <a:avLst/>
          </a:prstGeom>
          <a:noFill/>
          <a:ln/>
        </p:spPr>
        <p:txBody>
          <a:bodyPr wrap="square" lIns="0" tIns="0" rIns="0" bIns="0" rtlCol="0" anchor="ctr"/>
          <a:lstStyle/>
          <a:p>
            <a:pPr algn="ctr" indent="0" marL="0">
              <a:buNone/>
            </a:pPr>
            <a:r>
              <a:rPr lang="en-US" sz="830" dirty="0">
                <a:solidFill>
                  <a:srgbClr val="1C4878"/>
                </a:solidFill>
                <a:latin typeface="Calibri" pitchFamily="34" charset="0"/>
                <a:ea typeface="Calibri" pitchFamily="34" charset="-122"/>
                <a:cs typeface="Calibri" pitchFamily="34" charset="-120"/>
              </a:rPr>
              <a:t>Basic BESS</a:t>
            </a:r>
            <a:endParaRPr lang="en-US" sz="830" dirty="0"/>
          </a:p>
        </p:txBody>
      </p:sp>
      <p:sp>
        <p:nvSpPr>
          <p:cNvPr id="43" name="Text 41"/>
          <p:cNvSpPr/>
          <p:nvPr/>
        </p:nvSpPr>
        <p:spPr>
          <a:xfrm>
            <a:off x="2185416" y="4142232"/>
            <a:ext cx="1554480" cy="457200"/>
          </a:xfrm>
          <a:prstGeom prst="rect">
            <a:avLst/>
          </a:prstGeom>
          <a:noFill/>
          <a:ln/>
        </p:spPr>
        <p:txBody>
          <a:bodyPr wrap="square" lIns="0" tIns="0" rIns="0" bIns="0" rtlCol="0" anchor="t"/>
          <a:lstStyle/>
          <a:p>
            <a:pPr algn="ctr" indent="0" marL="0">
              <a:lnSpc>
                <a:spcPct val="100000"/>
              </a:lnSpc>
              <a:buNone/>
            </a:pPr>
            <a:r>
              <a:rPr lang="en-US" sz="850" i="1" dirty="0">
                <a:solidFill>
                  <a:srgbClr val="1C4878"/>
                </a:solidFill>
                <a:latin typeface="Calibri" pitchFamily="34" charset="0"/>
                <a:ea typeface="Calibri" pitchFamily="34" charset="-122"/>
                <a:cs typeface="Calibri" pitchFamily="34" charset="-120"/>
              </a:rPr>
              <a:t>Operational efficiency</a:t>
            </a:r>
            <a:endParaRPr lang="en-US" sz="850" dirty="0"/>
          </a:p>
        </p:txBody>
      </p:sp>
      <p:sp>
        <p:nvSpPr>
          <p:cNvPr id="44" name="Shape 42"/>
          <p:cNvSpPr/>
          <p:nvPr/>
        </p:nvSpPr>
        <p:spPr>
          <a:xfrm>
            <a:off x="3840480" y="1024128"/>
            <a:ext cx="1627632" cy="3063240"/>
          </a:xfrm>
          <a:prstGeom prst="roundRect">
            <a:avLst>
              <a:gd name="adj" fmla="val 4494"/>
            </a:avLst>
          </a:prstGeom>
          <a:solidFill>
            <a:srgbClr val="EAF3DE"/>
          </a:solidFill>
          <a:ln w="9525">
            <a:solidFill>
              <a:srgbClr val="B5D38A"/>
            </a:solidFill>
            <a:prstDash val="solid"/>
          </a:ln>
          <a:effectLst>
            <a:outerShdw sx="100000" sy="100000" kx="0" ky="0" algn="bl" rotWithShape="0" blurRad="76200" dist="25400" dir="2700000">
              <a:srgbClr val="000000">
                <a:alpha val="10000"/>
              </a:srgbClr>
            </a:outerShdw>
          </a:effectLst>
        </p:spPr>
      </p:sp>
      <p:sp>
        <p:nvSpPr>
          <p:cNvPr id="45" name="Shape 43"/>
          <p:cNvSpPr/>
          <p:nvPr/>
        </p:nvSpPr>
        <p:spPr>
          <a:xfrm>
            <a:off x="4416552" y="1170432"/>
            <a:ext cx="475488" cy="475488"/>
          </a:xfrm>
          <a:prstGeom prst="ellipse">
            <a:avLst/>
          </a:prstGeom>
          <a:solidFill>
            <a:srgbClr val="5E9022"/>
          </a:solidFill>
          <a:ln w="12700">
            <a:solidFill>
              <a:srgbClr val="5E9022"/>
            </a:solidFill>
            <a:prstDash val="solid"/>
          </a:ln>
        </p:spPr>
      </p:sp>
      <p:sp>
        <p:nvSpPr>
          <p:cNvPr id="46" name="Text 44"/>
          <p:cNvSpPr/>
          <p:nvPr/>
        </p:nvSpPr>
        <p:spPr>
          <a:xfrm>
            <a:off x="4416552" y="1170432"/>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47" name="Text 45"/>
          <p:cNvSpPr/>
          <p:nvPr/>
        </p:nvSpPr>
        <p:spPr>
          <a:xfrm>
            <a:off x="3913632" y="1700784"/>
            <a:ext cx="1481328" cy="457200"/>
          </a:xfrm>
          <a:prstGeom prst="rect">
            <a:avLst/>
          </a:prstGeom>
          <a:noFill/>
          <a:ln/>
        </p:spPr>
        <p:txBody>
          <a:bodyPr wrap="square" lIns="0" tIns="0" rIns="0" bIns="0" rtlCol="0" anchor="ctr"/>
          <a:lstStyle/>
          <a:p>
            <a:pPr algn="ctr" indent="0" marL="0">
              <a:buNone/>
            </a:pPr>
            <a:r>
              <a:rPr lang="en-US" sz="1150" b="1" dirty="0">
                <a:solidFill>
                  <a:srgbClr val="1A1A1A"/>
                </a:solidFill>
                <a:latin typeface="Calibri" pitchFamily="34" charset="0"/>
                <a:ea typeface="Calibri" pitchFamily="34" charset="-122"/>
                <a:cs typeface="Calibri" pitchFamily="34" charset="-120"/>
              </a:rPr>
              <a:t>Renewable integration</a:t>
            </a:r>
            <a:endParaRPr lang="en-US" sz="1150" dirty="0"/>
          </a:p>
        </p:txBody>
      </p:sp>
      <p:sp>
        <p:nvSpPr>
          <p:cNvPr id="48" name="Text 46"/>
          <p:cNvSpPr/>
          <p:nvPr/>
        </p:nvSpPr>
        <p:spPr>
          <a:xfrm>
            <a:off x="3913632" y="2139696"/>
            <a:ext cx="1481328" cy="256032"/>
          </a:xfrm>
          <a:prstGeom prst="rect">
            <a:avLst/>
          </a:prstGeom>
          <a:noFill/>
          <a:ln/>
        </p:spPr>
        <p:txBody>
          <a:bodyPr wrap="square" lIns="0" tIns="0" rIns="0" bIns="0" rtlCol="0" anchor="ctr"/>
          <a:lstStyle/>
          <a:p>
            <a:pPr algn="ctr" indent="0" marL="0">
              <a:buNone/>
            </a:pPr>
            <a:r>
              <a:rPr lang="en-US" sz="850" i="1" dirty="0">
                <a:solidFill>
                  <a:srgbClr val="5F5E5A"/>
                </a:solidFill>
                <a:latin typeface="Calibri" pitchFamily="34" charset="0"/>
                <a:ea typeface="Calibri" pitchFamily="34" charset="-122"/>
                <a:cs typeface="Calibri" pitchFamily="34" charset="-120"/>
              </a:rPr>
              <a:t>As RTS scales</a:t>
            </a:r>
            <a:endParaRPr lang="en-US" sz="850" dirty="0"/>
          </a:p>
        </p:txBody>
      </p:sp>
      <p:sp>
        <p:nvSpPr>
          <p:cNvPr id="49" name="Shape 47"/>
          <p:cNvSpPr/>
          <p:nvPr/>
        </p:nvSpPr>
        <p:spPr>
          <a:xfrm>
            <a:off x="3931920" y="2450592"/>
            <a:ext cx="1444752" cy="228600"/>
          </a:xfrm>
          <a:prstGeom prst="roundRect">
            <a:avLst>
              <a:gd name="adj" fmla="val 20000"/>
            </a:avLst>
          </a:prstGeom>
          <a:solidFill>
            <a:srgbClr val="FFFFFF"/>
          </a:solidFill>
          <a:ln w="6350">
            <a:solidFill>
              <a:srgbClr val="B5D38A"/>
            </a:solidFill>
            <a:prstDash val="solid"/>
          </a:ln>
        </p:spPr>
      </p:sp>
      <p:sp>
        <p:nvSpPr>
          <p:cNvPr id="50" name="Text 48"/>
          <p:cNvSpPr/>
          <p:nvPr/>
        </p:nvSpPr>
        <p:spPr>
          <a:xfrm>
            <a:off x="3931920" y="2450592"/>
            <a:ext cx="1444752" cy="228600"/>
          </a:xfrm>
          <a:prstGeom prst="rect">
            <a:avLst/>
          </a:prstGeom>
          <a:noFill/>
          <a:ln/>
        </p:spPr>
        <p:txBody>
          <a:bodyPr wrap="square" lIns="0" tIns="0" rIns="0" bIns="0" rtlCol="0" anchor="ctr"/>
          <a:lstStyle/>
          <a:p>
            <a:pPr algn="ctr" indent="0" marL="0">
              <a:buNone/>
            </a:pPr>
            <a:r>
              <a:rPr lang="en-US" sz="830" dirty="0">
                <a:solidFill>
                  <a:srgbClr val="3C5E12"/>
                </a:solidFill>
                <a:latin typeface="Calibri" pitchFamily="34" charset="0"/>
                <a:ea typeface="Calibri" pitchFamily="34" charset="-122"/>
                <a:cs typeface="Calibri" pitchFamily="34" charset="-120"/>
              </a:rPr>
              <a:t>DERMS</a:t>
            </a:r>
            <a:endParaRPr lang="en-US" sz="830" dirty="0"/>
          </a:p>
        </p:txBody>
      </p:sp>
      <p:sp>
        <p:nvSpPr>
          <p:cNvPr id="51" name="Shape 49"/>
          <p:cNvSpPr/>
          <p:nvPr/>
        </p:nvSpPr>
        <p:spPr>
          <a:xfrm>
            <a:off x="3931920" y="2724912"/>
            <a:ext cx="1444752" cy="228600"/>
          </a:xfrm>
          <a:prstGeom prst="roundRect">
            <a:avLst>
              <a:gd name="adj" fmla="val 20000"/>
            </a:avLst>
          </a:prstGeom>
          <a:solidFill>
            <a:srgbClr val="FFFFFF"/>
          </a:solidFill>
          <a:ln w="6350">
            <a:solidFill>
              <a:srgbClr val="B5D38A"/>
            </a:solidFill>
            <a:prstDash val="solid"/>
          </a:ln>
        </p:spPr>
      </p:sp>
      <p:sp>
        <p:nvSpPr>
          <p:cNvPr id="52" name="Text 50"/>
          <p:cNvSpPr/>
          <p:nvPr/>
        </p:nvSpPr>
        <p:spPr>
          <a:xfrm>
            <a:off x="3931920" y="2724912"/>
            <a:ext cx="1444752" cy="228600"/>
          </a:xfrm>
          <a:prstGeom prst="rect">
            <a:avLst/>
          </a:prstGeom>
          <a:noFill/>
          <a:ln/>
        </p:spPr>
        <p:txBody>
          <a:bodyPr wrap="square" lIns="0" tIns="0" rIns="0" bIns="0" rtlCol="0" anchor="ctr"/>
          <a:lstStyle/>
          <a:p>
            <a:pPr algn="ctr" indent="0" marL="0">
              <a:buNone/>
            </a:pPr>
            <a:r>
              <a:rPr lang="en-US" sz="830" dirty="0">
                <a:solidFill>
                  <a:srgbClr val="3C5E12"/>
                </a:solidFill>
                <a:latin typeface="Calibri" pitchFamily="34" charset="0"/>
                <a:ea typeface="Calibri" pitchFamily="34" charset="-122"/>
                <a:cs typeface="Calibri" pitchFamily="34" charset="-120"/>
              </a:rPr>
              <a:t>RTS monitoring</a:t>
            </a:r>
            <a:endParaRPr lang="en-US" sz="830" dirty="0"/>
          </a:p>
        </p:txBody>
      </p:sp>
      <p:sp>
        <p:nvSpPr>
          <p:cNvPr id="53" name="Shape 51"/>
          <p:cNvSpPr/>
          <p:nvPr/>
        </p:nvSpPr>
        <p:spPr>
          <a:xfrm>
            <a:off x="3931920" y="2999232"/>
            <a:ext cx="1444752" cy="228600"/>
          </a:xfrm>
          <a:prstGeom prst="roundRect">
            <a:avLst>
              <a:gd name="adj" fmla="val 20000"/>
            </a:avLst>
          </a:prstGeom>
          <a:solidFill>
            <a:srgbClr val="FFFFFF"/>
          </a:solidFill>
          <a:ln w="6350">
            <a:solidFill>
              <a:srgbClr val="B5D38A"/>
            </a:solidFill>
            <a:prstDash val="solid"/>
          </a:ln>
        </p:spPr>
      </p:sp>
      <p:sp>
        <p:nvSpPr>
          <p:cNvPr id="54" name="Text 52"/>
          <p:cNvSpPr/>
          <p:nvPr/>
        </p:nvSpPr>
        <p:spPr>
          <a:xfrm>
            <a:off x="3931920" y="2999232"/>
            <a:ext cx="1444752" cy="228600"/>
          </a:xfrm>
          <a:prstGeom prst="rect">
            <a:avLst/>
          </a:prstGeom>
          <a:noFill/>
          <a:ln/>
        </p:spPr>
        <p:txBody>
          <a:bodyPr wrap="square" lIns="0" tIns="0" rIns="0" bIns="0" rtlCol="0" anchor="ctr"/>
          <a:lstStyle/>
          <a:p>
            <a:pPr algn="ctr" indent="0" marL="0">
              <a:buNone/>
            </a:pPr>
            <a:r>
              <a:rPr lang="en-US" sz="830" dirty="0">
                <a:solidFill>
                  <a:srgbClr val="3C5E12"/>
                </a:solidFill>
                <a:latin typeface="Calibri" pitchFamily="34" charset="0"/>
                <a:ea typeface="Calibri" pitchFamily="34" charset="-122"/>
                <a:cs typeface="Calibri" pitchFamily="34" charset="-120"/>
              </a:rPr>
              <a:t>Curtailment</a:t>
            </a:r>
            <a:endParaRPr lang="en-US" sz="830" dirty="0"/>
          </a:p>
        </p:txBody>
      </p:sp>
      <p:sp>
        <p:nvSpPr>
          <p:cNvPr id="55" name="Shape 53"/>
          <p:cNvSpPr/>
          <p:nvPr/>
        </p:nvSpPr>
        <p:spPr>
          <a:xfrm>
            <a:off x="3931920" y="3273552"/>
            <a:ext cx="1444752" cy="228600"/>
          </a:xfrm>
          <a:prstGeom prst="roundRect">
            <a:avLst>
              <a:gd name="adj" fmla="val 20000"/>
            </a:avLst>
          </a:prstGeom>
          <a:solidFill>
            <a:srgbClr val="FFFFFF"/>
          </a:solidFill>
          <a:ln w="6350">
            <a:solidFill>
              <a:srgbClr val="B5D38A"/>
            </a:solidFill>
            <a:prstDash val="solid"/>
          </a:ln>
        </p:spPr>
      </p:sp>
      <p:sp>
        <p:nvSpPr>
          <p:cNvPr id="56" name="Text 54"/>
          <p:cNvSpPr/>
          <p:nvPr/>
        </p:nvSpPr>
        <p:spPr>
          <a:xfrm>
            <a:off x="3931920" y="3273552"/>
            <a:ext cx="1444752" cy="228600"/>
          </a:xfrm>
          <a:prstGeom prst="rect">
            <a:avLst/>
          </a:prstGeom>
          <a:noFill/>
          <a:ln/>
        </p:spPr>
        <p:txBody>
          <a:bodyPr wrap="square" lIns="0" tIns="0" rIns="0" bIns="0" rtlCol="0" anchor="ctr"/>
          <a:lstStyle/>
          <a:p>
            <a:pPr algn="ctr" indent="0" marL="0">
              <a:buNone/>
            </a:pPr>
            <a:r>
              <a:rPr lang="en-US" sz="830" dirty="0">
                <a:solidFill>
                  <a:srgbClr val="3C5E12"/>
                </a:solidFill>
                <a:latin typeface="Calibri" pitchFamily="34" charset="0"/>
                <a:ea typeface="Calibri" pitchFamily="34" charset="-122"/>
                <a:cs typeface="Calibri" pitchFamily="34" charset="-120"/>
              </a:rPr>
              <a:t>Zero-export loop</a:t>
            </a:r>
            <a:endParaRPr lang="en-US" sz="830" dirty="0"/>
          </a:p>
        </p:txBody>
      </p:sp>
      <p:sp>
        <p:nvSpPr>
          <p:cNvPr id="57" name="Shape 55"/>
          <p:cNvSpPr/>
          <p:nvPr/>
        </p:nvSpPr>
        <p:spPr>
          <a:xfrm>
            <a:off x="3931920" y="3547872"/>
            <a:ext cx="1444752" cy="228600"/>
          </a:xfrm>
          <a:prstGeom prst="roundRect">
            <a:avLst>
              <a:gd name="adj" fmla="val 20000"/>
            </a:avLst>
          </a:prstGeom>
          <a:solidFill>
            <a:srgbClr val="FFFFFF"/>
          </a:solidFill>
          <a:ln w="6350">
            <a:solidFill>
              <a:srgbClr val="B5D38A"/>
            </a:solidFill>
            <a:prstDash val="solid"/>
          </a:ln>
        </p:spPr>
      </p:sp>
      <p:sp>
        <p:nvSpPr>
          <p:cNvPr id="58" name="Text 56"/>
          <p:cNvSpPr/>
          <p:nvPr/>
        </p:nvSpPr>
        <p:spPr>
          <a:xfrm>
            <a:off x="3931920" y="3547872"/>
            <a:ext cx="1444752" cy="228600"/>
          </a:xfrm>
          <a:prstGeom prst="rect">
            <a:avLst/>
          </a:prstGeom>
          <a:noFill/>
          <a:ln/>
        </p:spPr>
        <p:txBody>
          <a:bodyPr wrap="square" lIns="0" tIns="0" rIns="0" bIns="0" rtlCol="0" anchor="ctr"/>
          <a:lstStyle/>
          <a:p>
            <a:pPr algn="ctr" indent="0" marL="0">
              <a:buNone/>
            </a:pPr>
            <a:r>
              <a:rPr lang="en-US" sz="830" dirty="0">
                <a:solidFill>
                  <a:srgbClr val="3C5E12"/>
                </a:solidFill>
                <a:latin typeface="Calibri" pitchFamily="34" charset="0"/>
                <a:ea typeface="Calibri" pitchFamily="34" charset="-122"/>
                <a:cs typeface="Calibri" pitchFamily="34" charset="-120"/>
              </a:rPr>
              <a:t>Forecasting</a:t>
            </a:r>
            <a:endParaRPr lang="en-US" sz="830" dirty="0"/>
          </a:p>
        </p:txBody>
      </p:sp>
      <p:sp>
        <p:nvSpPr>
          <p:cNvPr id="59" name="Shape 57"/>
          <p:cNvSpPr/>
          <p:nvPr/>
        </p:nvSpPr>
        <p:spPr>
          <a:xfrm>
            <a:off x="3931920" y="3822192"/>
            <a:ext cx="1444752" cy="228600"/>
          </a:xfrm>
          <a:prstGeom prst="roundRect">
            <a:avLst>
              <a:gd name="adj" fmla="val 20000"/>
            </a:avLst>
          </a:prstGeom>
          <a:solidFill>
            <a:srgbClr val="FFFFFF"/>
          </a:solidFill>
          <a:ln w="6350">
            <a:solidFill>
              <a:srgbClr val="B5D38A"/>
            </a:solidFill>
            <a:prstDash val="solid"/>
          </a:ln>
        </p:spPr>
      </p:sp>
      <p:sp>
        <p:nvSpPr>
          <p:cNvPr id="60" name="Text 58"/>
          <p:cNvSpPr/>
          <p:nvPr/>
        </p:nvSpPr>
        <p:spPr>
          <a:xfrm>
            <a:off x="3931920" y="3822192"/>
            <a:ext cx="1444752" cy="228600"/>
          </a:xfrm>
          <a:prstGeom prst="rect">
            <a:avLst/>
          </a:prstGeom>
          <a:noFill/>
          <a:ln/>
        </p:spPr>
        <p:txBody>
          <a:bodyPr wrap="square" lIns="0" tIns="0" rIns="0" bIns="0" rtlCol="0" anchor="ctr"/>
          <a:lstStyle/>
          <a:p>
            <a:pPr algn="ctr" indent="0" marL="0">
              <a:buNone/>
            </a:pPr>
            <a:r>
              <a:rPr lang="en-US" sz="830" dirty="0">
                <a:solidFill>
                  <a:srgbClr val="3C5E12"/>
                </a:solidFill>
                <a:latin typeface="Calibri" pitchFamily="34" charset="0"/>
                <a:ea typeface="Calibri" pitchFamily="34" charset="-122"/>
                <a:cs typeface="Calibri" pitchFamily="34" charset="-120"/>
              </a:rPr>
              <a:t>BESS optimization</a:t>
            </a:r>
            <a:endParaRPr lang="en-US" sz="830" dirty="0"/>
          </a:p>
        </p:txBody>
      </p:sp>
      <p:sp>
        <p:nvSpPr>
          <p:cNvPr id="61" name="Text 59"/>
          <p:cNvSpPr/>
          <p:nvPr/>
        </p:nvSpPr>
        <p:spPr>
          <a:xfrm>
            <a:off x="3877056" y="4142232"/>
            <a:ext cx="1554480" cy="457200"/>
          </a:xfrm>
          <a:prstGeom prst="rect">
            <a:avLst/>
          </a:prstGeom>
          <a:noFill/>
          <a:ln/>
        </p:spPr>
        <p:txBody>
          <a:bodyPr wrap="square" lIns="0" tIns="0" rIns="0" bIns="0" rtlCol="0" anchor="t"/>
          <a:lstStyle/>
          <a:p>
            <a:pPr algn="ctr" indent="0" marL="0">
              <a:lnSpc>
                <a:spcPct val="100000"/>
              </a:lnSpc>
              <a:buNone/>
            </a:pPr>
            <a:r>
              <a:rPr lang="en-US" sz="850" i="1" dirty="0">
                <a:solidFill>
                  <a:srgbClr val="3C5E12"/>
                </a:solidFill>
                <a:latin typeface="Calibri" pitchFamily="34" charset="0"/>
                <a:ea typeface="Calibri" pitchFamily="34" charset="-122"/>
                <a:cs typeface="Calibri" pitchFamily="34" charset="-120"/>
              </a:rPr>
              <a:t>Renewables under control</a:t>
            </a:r>
            <a:endParaRPr lang="en-US" sz="850" dirty="0"/>
          </a:p>
        </p:txBody>
      </p:sp>
      <p:sp>
        <p:nvSpPr>
          <p:cNvPr id="62" name="Shape 60"/>
          <p:cNvSpPr/>
          <p:nvPr/>
        </p:nvSpPr>
        <p:spPr>
          <a:xfrm>
            <a:off x="5532120" y="1024128"/>
            <a:ext cx="1627632" cy="3063240"/>
          </a:xfrm>
          <a:prstGeom prst="roundRect">
            <a:avLst>
              <a:gd name="adj" fmla="val 4494"/>
            </a:avLst>
          </a:prstGeom>
          <a:solidFill>
            <a:srgbClr val="FBEEDA"/>
          </a:solidFill>
          <a:ln w="9525">
            <a:solidFill>
              <a:srgbClr val="EFC174"/>
            </a:solidFill>
            <a:prstDash val="solid"/>
          </a:ln>
          <a:effectLst>
            <a:outerShdw sx="100000" sy="100000" kx="0" ky="0" algn="bl" rotWithShape="0" blurRad="76200" dist="25400" dir="2700000">
              <a:srgbClr val="000000">
                <a:alpha val="10000"/>
              </a:srgbClr>
            </a:outerShdw>
          </a:effectLst>
        </p:spPr>
      </p:sp>
      <p:sp>
        <p:nvSpPr>
          <p:cNvPr id="63" name="Shape 61"/>
          <p:cNvSpPr/>
          <p:nvPr/>
        </p:nvSpPr>
        <p:spPr>
          <a:xfrm>
            <a:off x="6108192" y="1170432"/>
            <a:ext cx="475488" cy="475488"/>
          </a:xfrm>
          <a:prstGeom prst="ellipse">
            <a:avLst/>
          </a:prstGeom>
          <a:solidFill>
            <a:srgbClr val="B5760F"/>
          </a:solidFill>
          <a:ln w="12700">
            <a:solidFill>
              <a:srgbClr val="B5760F"/>
            </a:solidFill>
            <a:prstDash val="solid"/>
          </a:ln>
        </p:spPr>
      </p:sp>
      <p:sp>
        <p:nvSpPr>
          <p:cNvPr id="64" name="Text 62"/>
          <p:cNvSpPr/>
          <p:nvPr/>
        </p:nvSpPr>
        <p:spPr>
          <a:xfrm>
            <a:off x="6108192" y="1170432"/>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65" name="Text 63"/>
          <p:cNvSpPr/>
          <p:nvPr/>
        </p:nvSpPr>
        <p:spPr>
          <a:xfrm>
            <a:off x="5605272" y="1700784"/>
            <a:ext cx="1481328" cy="457200"/>
          </a:xfrm>
          <a:prstGeom prst="rect">
            <a:avLst/>
          </a:prstGeom>
          <a:noFill/>
          <a:ln/>
        </p:spPr>
        <p:txBody>
          <a:bodyPr wrap="square" lIns="0" tIns="0" rIns="0" bIns="0" rtlCol="0" anchor="ctr"/>
          <a:lstStyle/>
          <a:p>
            <a:pPr algn="ctr" indent="0" marL="0">
              <a:buNone/>
            </a:pPr>
            <a:r>
              <a:rPr lang="en-US" sz="1150" b="1" dirty="0">
                <a:solidFill>
                  <a:srgbClr val="1A1A1A"/>
                </a:solidFill>
                <a:latin typeface="Calibri" pitchFamily="34" charset="0"/>
                <a:ea typeface="Calibri" pitchFamily="34" charset="-122"/>
                <a:cs typeface="Calibri" pitchFamily="34" charset="-120"/>
              </a:rPr>
              <a:t>Microgrid &amp; resilience</a:t>
            </a:r>
            <a:endParaRPr lang="en-US" sz="1150" dirty="0"/>
          </a:p>
        </p:txBody>
      </p:sp>
      <p:sp>
        <p:nvSpPr>
          <p:cNvPr id="66" name="Text 64"/>
          <p:cNvSpPr/>
          <p:nvPr/>
        </p:nvSpPr>
        <p:spPr>
          <a:xfrm>
            <a:off x="5605272" y="2139696"/>
            <a:ext cx="1481328" cy="256032"/>
          </a:xfrm>
          <a:prstGeom prst="rect">
            <a:avLst/>
          </a:prstGeom>
          <a:noFill/>
          <a:ln/>
        </p:spPr>
        <p:txBody>
          <a:bodyPr wrap="square" lIns="0" tIns="0" rIns="0" bIns="0" rtlCol="0" anchor="ctr"/>
          <a:lstStyle/>
          <a:p>
            <a:pPr algn="ctr" indent="0" marL="0">
              <a:buNone/>
            </a:pPr>
            <a:r>
              <a:rPr lang="en-US" sz="850" i="1" dirty="0">
                <a:solidFill>
                  <a:srgbClr val="5F5E5A"/>
                </a:solidFill>
                <a:latin typeface="Calibri" pitchFamily="34" charset="0"/>
                <a:ea typeface="Calibri" pitchFamily="34" charset="-122"/>
                <a:cs typeface="Calibri" pitchFamily="34" charset="-120"/>
              </a:rPr>
              <a:t>Full build-out</a:t>
            </a:r>
            <a:endParaRPr lang="en-US" sz="850" dirty="0"/>
          </a:p>
        </p:txBody>
      </p:sp>
      <p:sp>
        <p:nvSpPr>
          <p:cNvPr id="67" name="Shape 65"/>
          <p:cNvSpPr/>
          <p:nvPr/>
        </p:nvSpPr>
        <p:spPr>
          <a:xfrm>
            <a:off x="5623560" y="2450592"/>
            <a:ext cx="1444752" cy="228600"/>
          </a:xfrm>
          <a:prstGeom prst="roundRect">
            <a:avLst>
              <a:gd name="adj" fmla="val 20000"/>
            </a:avLst>
          </a:prstGeom>
          <a:solidFill>
            <a:srgbClr val="FFFFFF"/>
          </a:solidFill>
          <a:ln w="6350">
            <a:solidFill>
              <a:srgbClr val="EFC174"/>
            </a:solidFill>
            <a:prstDash val="solid"/>
          </a:ln>
        </p:spPr>
      </p:sp>
      <p:sp>
        <p:nvSpPr>
          <p:cNvPr id="68" name="Text 66"/>
          <p:cNvSpPr/>
          <p:nvPr/>
        </p:nvSpPr>
        <p:spPr>
          <a:xfrm>
            <a:off x="5623560" y="2450592"/>
            <a:ext cx="1444752" cy="228600"/>
          </a:xfrm>
          <a:prstGeom prst="rect">
            <a:avLst/>
          </a:prstGeom>
          <a:noFill/>
          <a:ln/>
        </p:spPr>
        <p:txBody>
          <a:bodyPr wrap="square" lIns="0" tIns="0" rIns="0" bIns="0" rtlCol="0" anchor="ctr"/>
          <a:lstStyle/>
          <a:p>
            <a:pPr algn="ctr" indent="0" marL="0">
              <a:buNone/>
            </a:pPr>
            <a:r>
              <a:rPr lang="en-US" sz="830" dirty="0">
                <a:solidFill>
                  <a:srgbClr val="7A4E08"/>
                </a:solidFill>
                <a:latin typeface="Calibri" pitchFamily="34" charset="0"/>
                <a:ea typeface="Calibri" pitchFamily="34" charset="-122"/>
                <a:cs typeface="Calibri" pitchFamily="34" charset="-120"/>
              </a:rPr>
              <a:t>Microgrid controller</a:t>
            </a:r>
            <a:endParaRPr lang="en-US" sz="830" dirty="0"/>
          </a:p>
        </p:txBody>
      </p:sp>
      <p:sp>
        <p:nvSpPr>
          <p:cNvPr id="69" name="Shape 67"/>
          <p:cNvSpPr/>
          <p:nvPr/>
        </p:nvSpPr>
        <p:spPr>
          <a:xfrm>
            <a:off x="5623560" y="2724912"/>
            <a:ext cx="1444752" cy="228600"/>
          </a:xfrm>
          <a:prstGeom prst="roundRect">
            <a:avLst>
              <a:gd name="adj" fmla="val 20000"/>
            </a:avLst>
          </a:prstGeom>
          <a:solidFill>
            <a:srgbClr val="FFFFFF"/>
          </a:solidFill>
          <a:ln w="6350">
            <a:solidFill>
              <a:srgbClr val="EFC174"/>
            </a:solidFill>
            <a:prstDash val="solid"/>
          </a:ln>
        </p:spPr>
      </p:sp>
      <p:sp>
        <p:nvSpPr>
          <p:cNvPr id="70" name="Text 68"/>
          <p:cNvSpPr/>
          <p:nvPr/>
        </p:nvSpPr>
        <p:spPr>
          <a:xfrm>
            <a:off x="5623560" y="2724912"/>
            <a:ext cx="1444752" cy="228600"/>
          </a:xfrm>
          <a:prstGeom prst="rect">
            <a:avLst/>
          </a:prstGeom>
          <a:noFill/>
          <a:ln/>
        </p:spPr>
        <p:txBody>
          <a:bodyPr wrap="square" lIns="0" tIns="0" rIns="0" bIns="0" rtlCol="0" anchor="ctr"/>
          <a:lstStyle/>
          <a:p>
            <a:pPr algn="ctr" indent="0" marL="0">
              <a:buNone/>
            </a:pPr>
            <a:r>
              <a:rPr lang="en-US" sz="830" dirty="0">
                <a:solidFill>
                  <a:srgbClr val="7A4E08"/>
                </a:solidFill>
                <a:latin typeface="Calibri" pitchFamily="34" charset="0"/>
                <a:ea typeface="Calibri" pitchFamily="34" charset="-122"/>
                <a:cs typeface="Calibri" pitchFamily="34" charset="-120"/>
              </a:rPr>
              <a:t>Islanding</a:t>
            </a:r>
            <a:endParaRPr lang="en-US" sz="830" dirty="0"/>
          </a:p>
        </p:txBody>
      </p:sp>
      <p:sp>
        <p:nvSpPr>
          <p:cNvPr id="71" name="Shape 69"/>
          <p:cNvSpPr/>
          <p:nvPr/>
        </p:nvSpPr>
        <p:spPr>
          <a:xfrm>
            <a:off x="5623560" y="2999232"/>
            <a:ext cx="1444752" cy="228600"/>
          </a:xfrm>
          <a:prstGeom prst="roundRect">
            <a:avLst>
              <a:gd name="adj" fmla="val 20000"/>
            </a:avLst>
          </a:prstGeom>
          <a:solidFill>
            <a:srgbClr val="FFFFFF"/>
          </a:solidFill>
          <a:ln w="6350">
            <a:solidFill>
              <a:srgbClr val="EFC174"/>
            </a:solidFill>
            <a:prstDash val="solid"/>
          </a:ln>
        </p:spPr>
      </p:sp>
      <p:sp>
        <p:nvSpPr>
          <p:cNvPr id="72" name="Text 70"/>
          <p:cNvSpPr/>
          <p:nvPr/>
        </p:nvSpPr>
        <p:spPr>
          <a:xfrm>
            <a:off x="5623560" y="2999232"/>
            <a:ext cx="1444752" cy="228600"/>
          </a:xfrm>
          <a:prstGeom prst="rect">
            <a:avLst/>
          </a:prstGeom>
          <a:noFill/>
          <a:ln/>
        </p:spPr>
        <p:txBody>
          <a:bodyPr wrap="square" lIns="0" tIns="0" rIns="0" bIns="0" rtlCol="0" anchor="ctr"/>
          <a:lstStyle/>
          <a:p>
            <a:pPr algn="ctr" indent="0" marL="0">
              <a:buNone/>
            </a:pPr>
            <a:r>
              <a:rPr lang="en-US" sz="830" dirty="0">
                <a:solidFill>
                  <a:srgbClr val="7A4E08"/>
                </a:solidFill>
                <a:latin typeface="Calibri" pitchFamily="34" charset="0"/>
                <a:ea typeface="Calibri" pitchFamily="34" charset="-122"/>
                <a:cs typeface="Calibri" pitchFamily="34" charset="-120"/>
              </a:rPr>
              <a:t>Black start</a:t>
            </a:r>
            <a:endParaRPr lang="en-US" sz="830" dirty="0"/>
          </a:p>
        </p:txBody>
      </p:sp>
      <p:sp>
        <p:nvSpPr>
          <p:cNvPr id="73" name="Shape 71"/>
          <p:cNvSpPr/>
          <p:nvPr/>
        </p:nvSpPr>
        <p:spPr>
          <a:xfrm>
            <a:off x="5623560" y="3273552"/>
            <a:ext cx="1444752" cy="228600"/>
          </a:xfrm>
          <a:prstGeom prst="roundRect">
            <a:avLst>
              <a:gd name="adj" fmla="val 20000"/>
            </a:avLst>
          </a:prstGeom>
          <a:solidFill>
            <a:srgbClr val="FFFFFF"/>
          </a:solidFill>
          <a:ln w="6350">
            <a:solidFill>
              <a:srgbClr val="EFC174"/>
            </a:solidFill>
            <a:prstDash val="solid"/>
          </a:ln>
        </p:spPr>
      </p:sp>
      <p:sp>
        <p:nvSpPr>
          <p:cNvPr id="74" name="Text 72"/>
          <p:cNvSpPr/>
          <p:nvPr/>
        </p:nvSpPr>
        <p:spPr>
          <a:xfrm>
            <a:off x="5623560" y="3273552"/>
            <a:ext cx="1444752" cy="228600"/>
          </a:xfrm>
          <a:prstGeom prst="rect">
            <a:avLst/>
          </a:prstGeom>
          <a:noFill/>
          <a:ln/>
        </p:spPr>
        <p:txBody>
          <a:bodyPr wrap="square" lIns="0" tIns="0" rIns="0" bIns="0" rtlCol="0" anchor="ctr"/>
          <a:lstStyle/>
          <a:p>
            <a:pPr algn="ctr" indent="0" marL="0">
              <a:buNone/>
            </a:pPr>
            <a:r>
              <a:rPr lang="en-US" sz="830" dirty="0">
                <a:solidFill>
                  <a:srgbClr val="7A4E08"/>
                </a:solidFill>
                <a:latin typeface="Calibri" pitchFamily="34" charset="0"/>
                <a:ea typeface="Calibri" pitchFamily="34" charset="-122"/>
                <a:cs typeface="Calibri" pitchFamily="34" charset="-120"/>
              </a:rPr>
              <a:t>Grid-forming</a:t>
            </a:r>
            <a:endParaRPr lang="en-US" sz="830" dirty="0"/>
          </a:p>
        </p:txBody>
      </p:sp>
      <p:sp>
        <p:nvSpPr>
          <p:cNvPr id="75" name="Shape 73"/>
          <p:cNvSpPr/>
          <p:nvPr/>
        </p:nvSpPr>
        <p:spPr>
          <a:xfrm>
            <a:off x="5623560" y="3547872"/>
            <a:ext cx="1444752" cy="228600"/>
          </a:xfrm>
          <a:prstGeom prst="roundRect">
            <a:avLst>
              <a:gd name="adj" fmla="val 20000"/>
            </a:avLst>
          </a:prstGeom>
          <a:solidFill>
            <a:srgbClr val="FFFFFF"/>
          </a:solidFill>
          <a:ln w="6350">
            <a:solidFill>
              <a:srgbClr val="EFC174"/>
            </a:solidFill>
            <a:prstDash val="solid"/>
          </a:ln>
        </p:spPr>
      </p:sp>
      <p:sp>
        <p:nvSpPr>
          <p:cNvPr id="76" name="Text 74"/>
          <p:cNvSpPr/>
          <p:nvPr/>
        </p:nvSpPr>
        <p:spPr>
          <a:xfrm>
            <a:off x="5623560" y="3547872"/>
            <a:ext cx="1444752" cy="228600"/>
          </a:xfrm>
          <a:prstGeom prst="rect">
            <a:avLst/>
          </a:prstGeom>
          <a:noFill/>
          <a:ln/>
        </p:spPr>
        <p:txBody>
          <a:bodyPr wrap="square" lIns="0" tIns="0" rIns="0" bIns="0" rtlCol="0" anchor="ctr"/>
          <a:lstStyle/>
          <a:p>
            <a:pPr algn="ctr" indent="0" marL="0">
              <a:buNone/>
            </a:pPr>
            <a:r>
              <a:rPr lang="en-US" sz="830" dirty="0">
                <a:solidFill>
                  <a:srgbClr val="7A4E08"/>
                </a:solidFill>
                <a:latin typeface="Calibri" pitchFamily="34" charset="0"/>
                <a:ea typeface="Calibri" pitchFamily="34" charset="-122"/>
                <a:cs typeface="Calibri" pitchFamily="34" charset="-120"/>
              </a:rPr>
              <a:t>Protection coord.</a:t>
            </a:r>
            <a:endParaRPr lang="en-US" sz="830" dirty="0"/>
          </a:p>
        </p:txBody>
      </p:sp>
      <p:sp>
        <p:nvSpPr>
          <p:cNvPr id="77" name="Text 75"/>
          <p:cNvSpPr/>
          <p:nvPr/>
        </p:nvSpPr>
        <p:spPr>
          <a:xfrm>
            <a:off x="5568696" y="4142232"/>
            <a:ext cx="1554480" cy="457200"/>
          </a:xfrm>
          <a:prstGeom prst="rect">
            <a:avLst/>
          </a:prstGeom>
          <a:noFill/>
          <a:ln/>
        </p:spPr>
        <p:txBody>
          <a:bodyPr wrap="square" lIns="0" tIns="0" rIns="0" bIns="0" rtlCol="0" anchor="t"/>
          <a:lstStyle/>
          <a:p>
            <a:pPr algn="ctr" indent="0" marL="0">
              <a:lnSpc>
                <a:spcPct val="100000"/>
              </a:lnSpc>
              <a:buNone/>
            </a:pPr>
            <a:r>
              <a:rPr lang="en-US" sz="850" i="1" dirty="0">
                <a:solidFill>
                  <a:srgbClr val="7A4E08"/>
                </a:solidFill>
                <a:latin typeface="Calibri" pitchFamily="34" charset="0"/>
                <a:ea typeface="Calibri" pitchFamily="34" charset="-122"/>
                <a:cs typeface="Calibri" pitchFamily="34" charset="-120"/>
              </a:rPr>
              <a:t>Energy independence</a:t>
            </a:r>
            <a:endParaRPr lang="en-US" sz="850" dirty="0"/>
          </a:p>
        </p:txBody>
      </p:sp>
      <p:sp>
        <p:nvSpPr>
          <p:cNvPr id="78" name="Shape 76"/>
          <p:cNvSpPr/>
          <p:nvPr/>
        </p:nvSpPr>
        <p:spPr>
          <a:xfrm>
            <a:off x="7223760" y="1024128"/>
            <a:ext cx="1627632" cy="3063240"/>
          </a:xfrm>
          <a:prstGeom prst="roundRect">
            <a:avLst>
              <a:gd name="adj" fmla="val 4494"/>
            </a:avLst>
          </a:prstGeom>
          <a:solidFill>
            <a:srgbClr val="EEEAF7"/>
          </a:solidFill>
          <a:ln w="9525">
            <a:solidFill>
              <a:srgbClr val="BCA9E0"/>
            </a:solidFill>
            <a:prstDash val="solid"/>
          </a:ln>
          <a:effectLst>
            <a:outerShdw sx="100000" sy="100000" kx="0" ky="0" algn="bl" rotWithShape="0" blurRad="76200" dist="25400" dir="2700000">
              <a:srgbClr val="000000">
                <a:alpha val="10000"/>
              </a:srgbClr>
            </a:outerShdw>
          </a:effectLst>
        </p:spPr>
      </p:sp>
      <p:sp>
        <p:nvSpPr>
          <p:cNvPr id="79" name="Shape 77"/>
          <p:cNvSpPr/>
          <p:nvPr/>
        </p:nvSpPr>
        <p:spPr>
          <a:xfrm>
            <a:off x="7799832" y="1170432"/>
            <a:ext cx="475488" cy="475488"/>
          </a:xfrm>
          <a:prstGeom prst="ellipse">
            <a:avLst/>
          </a:prstGeom>
          <a:solidFill>
            <a:srgbClr val="6A4FB0"/>
          </a:solidFill>
          <a:ln w="12700">
            <a:solidFill>
              <a:srgbClr val="6A4FB0"/>
            </a:solidFill>
            <a:prstDash val="solid"/>
          </a:ln>
        </p:spPr>
      </p:sp>
      <p:sp>
        <p:nvSpPr>
          <p:cNvPr id="80" name="Text 78"/>
          <p:cNvSpPr/>
          <p:nvPr/>
        </p:nvSpPr>
        <p:spPr>
          <a:xfrm>
            <a:off x="7799832" y="1170432"/>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5</a:t>
            </a:r>
            <a:endParaRPr lang="en-US" sz="1700" dirty="0"/>
          </a:p>
        </p:txBody>
      </p:sp>
      <p:sp>
        <p:nvSpPr>
          <p:cNvPr id="81" name="Text 79"/>
          <p:cNvSpPr/>
          <p:nvPr/>
        </p:nvSpPr>
        <p:spPr>
          <a:xfrm>
            <a:off x="7296912" y="1700784"/>
            <a:ext cx="1481328" cy="457200"/>
          </a:xfrm>
          <a:prstGeom prst="rect">
            <a:avLst/>
          </a:prstGeom>
          <a:noFill/>
          <a:ln/>
        </p:spPr>
        <p:txBody>
          <a:bodyPr wrap="square" lIns="0" tIns="0" rIns="0" bIns="0" rtlCol="0" anchor="ctr"/>
          <a:lstStyle/>
          <a:p>
            <a:pPr algn="ctr" indent="0" marL="0">
              <a:buNone/>
            </a:pPr>
            <a:r>
              <a:rPr lang="en-US" sz="1150" b="1" dirty="0">
                <a:solidFill>
                  <a:srgbClr val="1A1A1A"/>
                </a:solidFill>
                <a:latin typeface="Calibri" pitchFamily="34" charset="0"/>
                <a:ea typeface="Calibri" pitchFamily="34" charset="-122"/>
                <a:cs typeface="Calibri" pitchFamily="34" charset="-120"/>
              </a:rPr>
              <a:t>Smart energy</a:t>
            </a:r>
            <a:endParaRPr lang="en-US" sz="1150" dirty="0"/>
          </a:p>
        </p:txBody>
      </p:sp>
      <p:sp>
        <p:nvSpPr>
          <p:cNvPr id="82" name="Text 80"/>
          <p:cNvSpPr/>
          <p:nvPr/>
        </p:nvSpPr>
        <p:spPr>
          <a:xfrm>
            <a:off x="7296912" y="2139696"/>
            <a:ext cx="1481328" cy="256032"/>
          </a:xfrm>
          <a:prstGeom prst="rect">
            <a:avLst/>
          </a:prstGeom>
          <a:noFill/>
          <a:ln/>
        </p:spPr>
        <p:txBody>
          <a:bodyPr wrap="square" lIns="0" tIns="0" rIns="0" bIns="0" rtlCol="0" anchor="ctr"/>
          <a:lstStyle/>
          <a:p>
            <a:pPr algn="ctr" indent="0" marL="0">
              <a:buNone/>
            </a:pPr>
            <a:r>
              <a:rPr lang="en-US" sz="850" i="1" dirty="0">
                <a:solidFill>
                  <a:srgbClr val="5F5E5A"/>
                </a:solidFill>
                <a:latin typeface="Calibri" pitchFamily="34" charset="0"/>
                <a:ea typeface="Calibri" pitchFamily="34" charset="-122"/>
                <a:cs typeface="Calibri" pitchFamily="34" charset="-120"/>
              </a:rPr>
              <a:t>Long-term vision</a:t>
            </a:r>
            <a:endParaRPr lang="en-US" sz="850" dirty="0"/>
          </a:p>
        </p:txBody>
      </p:sp>
      <p:sp>
        <p:nvSpPr>
          <p:cNvPr id="83" name="Shape 81"/>
          <p:cNvSpPr/>
          <p:nvPr/>
        </p:nvSpPr>
        <p:spPr>
          <a:xfrm>
            <a:off x="7315200" y="2450592"/>
            <a:ext cx="1444752" cy="228600"/>
          </a:xfrm>
          <a:prstGeom prst="roundRect">
            <a:avLst>
              <a:gd name="adj" fmla="val 20000"/>
            </a:avLst>
          </a:prstGeom>
          <a:solidFill>
            <a:srgbClr val="FFFFFF"/>
          </a:solidFill>
          <a:ln w="6350">
            <a:solidFill>
              <a:srgbClr val="BCA9E0"/>
            </a:solidFill>
            <a:prstDash val="solid"/>
          </a:ln>
        </p:spPr>
      </p:sp>
      <p:sp>
        <p:nvSpPr>
          <p:cNvPr id="84" name="Text 82"/>
          <p:cNvSpPr/>
          <p:nvPr/>
        </p:nvSpPr>
        <p:spPr>
          <a:xfrm>
            <a:off x="7315200" y="2450592"/>
            <a:ext cx="1444752" cy="228600"/>
          </a:xfrm>
          <a:prstGeom prst="rect">
            <a:avLst/>
          </a:prstGeom>
          <a:noFill/>
          <a:ln/>
        </p:spPr>
        <p:txBody>
          <a:bodyPr wrap="square" lIns="0" tIns="0" rIns="0" bIns="0" rtlCol="0" anchor="ctr"/>
          <a:lstStyle/>
          <a:p>
            <a:pPr algn="ctr" indent="0" marL="0">
              <a:buNone/>
            </a:pPr>
            <a:r>
              <a:rPr lang="en-US" sz="830" dirty="0">
                <a:solidFill>
                  <a:srgbClr val="412C7A"/>
                </a:solidFill>
                <a:latin typeface="Calibri" pitchFamily="34" charset="0"/>
                <a:ea typeface="Calibri" pitchFamily="34" charset="-122"/>
                <a:cs typeface="Calibri" pitchFamily="34" charset="-120"/>
              </a:rPr>
              <a:t>Advanced DERMS/VPP</a:t>
            </a:r>
            <a:endParaRPr lang="en-US" sz="830" dirty="0"/>
          </a:p>
        </p:txBody>
      </p:sp>
      <p:sp>
        <p:nvSpPr>
          <p:cNvPr id="85" name="Shape 83"/>
          <p:cNvSpPr/>
          <p:nvPr/>
        </p:nvSpPr>
        <p:spPr>
          <a:xfrm>
            <a:off x="7315200" y="2724912"/>
            <a:ext cx="1444752" cy="228600"/>
          </a:xfrm>
          <a:prstGeom prst="roundRect">
            <a:avLst>
              <a:gd name="adj" fmla="val 20000"/>
            </a:avLst>
          </a:prstGeom>
          <a:solidFill>
            <a:srgbClr val="FFFFFF"/>
          </a:solidFill>
          <a:ln w="6350">
            <a:solidFill>
              <a:srgbClr val="BCA9E0"/>
            </a:solidFill>
            <a:prstDash val="solid"/>
          </a:ln>
        </p:spPr>
      </p:sp>
      <p:sp>
        <p:nvSpPr>
          <p:cNvPr id="86" name="Text 84"/>
          <p:cNvSpPr/>
          <p:nvPr/>
        </p:nvSpPr>
        <p:spPr>
          <a:xfrm>
            <a:off x="7315200" y="2724912"/>
            <a:ext cx="1444752" cy="228600"/>
          </a:xfrm>
          <a:prstGeom prst="rect">
            <a:avLst/>
          </a:prstGeom>
          <a:noFill/>
          <a:ln/>
        </p:spPr>
        <p:txBody>
          <a:bodyPr wrap="square" lIns="0" tIns="0" rIns="0" bIns="0" rtlCol="0" anchor="ctr"/>
          <a:lstStyle/>
          <a:p>
            <a:pPr algn="ctr" indent="0" marL="0">
              <a:buNone/>
            </a:pPr>
            <a:r>
              <a:rPr lang="en-US" sz="830" dirty="0">
                <a:solidFill>
                  <a:srgbClr val="412C7A"/>
                </a:solidFill>
                <a:latin typeface="Calibri" pitchFamily="34" charset="0"/>
                <a:ea typeface="Calibri" pitchFamily="34" charset="-122"/>
                <a:cs typeface="Calibri" pitchFamily="34" charset="-120"/>
              </a:rPr>
              <a:t>Demand response</a:t>
            </a:r>
            <a:endParaRPr lang="en-US" sz="830" dirty="0"/>
          </a:p>
        </p:txBody>
      </p:sp>
      <p:sp>
        <p:nvSpPr>
          <p:cNvPr id="87" name="Shape 85"/>
          <p:cNvSpPr/>
          <p:nvPr/>
        </p:nvSpPr>
        <p:spPr>
          <a:xfrm>
            <a:off x="7315200" y="2999232"/>
            <a:ext cx="1444752" cy="228600"/>
          </a:xfrm>
          <a:prstGeom prst="roundRect">
            <a:avLst>
              <a:gd name="adj" fmla="val 20000"/>
            </a:avLst>
          </a:prstGeom>
          <a:solidFill>
            <a:srgbClr val="FFFFFF"/>
          </a:solidFill>
          <a:ln w="6350">
            <a:solidFill>
              <a:srgbClr val="BCA9E0"/>
            </a:solidFill>
            <a:prstDash val="solid"/>
          </a:ln>
        </p:spPr>
      </p:sp>
      <p:sp>
        <p:nvSpPr>
          <p:cNvPr id="88" name="Text 86"/>
          <p:cNvSpPr/>
          <p:nvPr/>
        </p:nvSpPr>
        <p:spPr>
          <a:xfrm>
            <a:off x="7315200" y="2999232"/>
            <a:ext cx="1444752" cy="228600"/>
          </a:xfrm>
          <a:prstGeom prst="rect">
            <a:avLst/>
          </a:prstGeom>
          <a:noFill/>
          <a:ln/>
        </p:spPr>
        <p:txBody>
          <a:bodyPr wrap="square" lIns="0" tIns="0" rIns="0" bIns="0" rtlCol="0" anchor="ctr"/>
          <a:lstStyle/>
          <a:p>
            <a:pPr algn="ctr" indent="0" marL="0">
              <a:buNone/>
            </a:pPr>
            <a:r>
              <a:rPr lang="en-US" sz="830" dirty="0">
                <a:solidFill>
                  <a:srgbClr val="412C7A"/>
                </a:solidFill>
                <a:latin typeface="Calibri" pitchFamily="34" charset="0"/>
                <a:ea typeface="Calibri" pitchFamily="34" charset="-122"/>
                <a:cs typeface="Calibri" pitchFamily="34" charset="-120"/>
              </a:rPr>
              <a:t>Carbon accounting</a:t>
            </a:r>
            <a:endParaRPr lang="en-US" sz="830" dirty="0"/>
          </a:p>
        </p:txBody>
      </p:sp>
      <p:sp>
        <p:nvSpPr>
          <p:cNvPr id="89" name="Shape 87"/>
          <p:cNvSpPr/>
          <p:nvPr/>
        </p:nvSpPr>
        <p:spPr>
          <a:xfrm>
            <a:off x="7315200" y="3273552"/>
            <a:ext cx="1444752" cy="228600"/>
          </a:xfrm>
          <a:prstGeom prst="roundRect">
            <a:avLst>
              <a:gd name="adj" fmla="val 20000"/>
            </a:avLst>
          </a:prstGeom>
          <a:solidFill>
            <a:srgbClr val="FFFFFF"/>
          </a:solidFill>
          <a:ln w="6350">
            <a:solidFill>
              <a:srgbClr val="BCA9E0"/>
            </a:solidFill>
            <a:prstDash val="solid"/>
          </a:ln>
        </p:spPr>
      </p:sp>
      <p:sp>
        <p:nvSpPr>
          <p:cNvPr id="90" name="Text 88"/>
          <p:cNvSpPr/>
          <p:nvPr/>
        </p:nvSpPr>
        <p:spPr>
          <a:xfrm>
            <a:off x="7315200" y="3273552"/>
            <a:ext cx="1444752" cy="228600"/>
          </a:xfrm>
          <a:prstGeom prst="rect">
            <a:avLst/>
          </a:prstGeom>
          <a:noFill/>
          <a:ln/>
        </p:spPr>
        <p:txBody>
          <a:bodyPr wrap="square" lIns="0" tIns="0" rIns="0" bIns="0" rtlCol="0" anchor="ctr"/>
          <a:lstStyle/>
          <a:p>
            <a:pPr algn="ctr" indent="0" marL="0">
              <a:buNone/>
            </a:pPr>
            <a:r>
              <a:rPr lang="en-US" sz="830" dirty="0">
                <a:solidFill>
                  <a:srgbClr val="412C7A"/>
                </a:solidFill>
                <a:latin typeface="Calibri" pitchFamily="34" charset="0"/>
                <a:ea typeface="Calibri" pitchFamily="34" charset="-122"/>
                <a:cs typeface="Calibri" pitchFamily="34" charset="-120"/>
              </a:rPr>
              <a:t>ESG dashboard</a:t>
            </a:r>
            <a:endParaRPr lang="en-US" sz="830" dirty="0"/>
          </a:p>
        </p:txBody>
      </p:sp>
      <p:sp>
        <p:nvSpPr>
          <p:cNvPr id="91" name="Shape 89"/>
          <p:cNvSpPr/>
          <p:nvPr/>
        </p:nvSpPr>
        <p:spPr>
          <a:xfrm>
            <a:off x="7315200" y="3547872"/>
            <a:ext cx="1444752" cy="228600"/>
          </a:xfrm>
          <a:prstGeom prst="roundRect">
            <a:avLst>
              <a:gd name="adj" fmla="val 20000"/>
            </a:avLst>
          </a:prstGeom>
          <a:solidFill>
            <a:srgbClr val="FFFFFF"/>
          </a:solidFill>
          <a:ln w="6350">
            <a:solidFill>
              <a:srgbClr val="BCA9E0"/>
            </a:solidFill>
            <a:prstDash val="solid"/>
          </a:ln>
        </p:spPr>
      </p:sp>
      <p:sp>
        <p:nvSpPr>
          <p:cNvPr id="92" name="Text 90"/>
          <p:cNvSpPr/>
          <p:nvPr/>
        </p:nvSpPr>
        <p:spPr>
          <a:xfrm>
            <a:off x="7315200" y="3547872"/>
            <a:ext cx="1444752" cy="228600"/>
          </a:xfrm>
          <a:prstGeom prst="rect">
            <a:avLst/>
          </a:prstGeom>
          <a:noFill/>
          <a:ln/>
        </p:spPr>
        <p:txBody>
          <a:bodyPr wrap="square" lIns="0" tIns="0" rIns="0" bIns="0" rtlCol="0" anchor="ctr"/>
          <a:lstStyle/>
          <a:p>
            <a:pPr algn="ctr" indent="0" marL="0">
              <a:buNone/>
            </a:pPr>
            <a:r>
              <a:rPr lang="en-US" sz="830" dirty="0">
                <a:solidFill>
                  <a:srgbClr val="412C7A"/>
                </a:solidFill>
                <a:latin typeface="Calibri" pitchFamily="34" charset="0"/>
                <a:ea typeface="Calibri" pitchFamily="34" charset="-122"/>
                <a:cs typeface="Calibri" pitchFamily="34" charset="-120"/>
              </a:rPr>
              <a:t>Market-ready</a:t>
            </a:r>
            <a:endParaRPr lang="en-US" sz="830" dirty="0"/>
          </a:p>
        </p:txBody>
      </p:sp>
      <p:sp>
        <p:nvSpPr>
          <p:cNvPr id="93" name="Text 91"/>
          <p:cNvSpPr/>
          <p:nvPr/>
        </p:nvSpPr>
        <p:spPr>
          <a:xfrm>
            <a:off x="7260336" y="4142232"/>
            <a:ext cx="1554480" cy="457200"/>
          </a:xfrm>
          <a:prstGeom prst="rect">
            <a:avLst/>
          </a:prstGeom>
          <a:noFill/>
          <a:ln/>
        </p:spPr>
        <p:txBody>
          <a:bodyPr wrap="square" lIns="0" tIns="0" rIns="0" bIns="0" rtlCol="0" anchor="t"/>
          <a:lstStyle/>
          <a:p>
            <a:pPr algn="ctr" indent="0" marL="0">
              <a:lnSpc>
                <a:spcPct val="100000"/>
              </a:lnSpc>
              <a:buNone/>
            </a:pPr>
            <a:r>
              <a:rPr lang="en-US" sz="850" i="1" dirty="0">
                <a:solidFill>
                  <a:srgbClr val="412C7A"/>
                </a:solidFill>
                <a:latin typeface="Calibri" pitchFamily="34" charset="0"/>
                <a:ea typeface="Calibri" pitchFamily="34" charset="-122"/>
                <a:cs typeface="Calibri" pitchFamily="34" charset="-120"/>
              </a:rPr>
              <a:t>Flagship smart park</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 cy="384048"/>
          </a:xfrm>
          <a:prstGeom prst="rect">
            <a:avLst/>
          </a:prstGeom>
          <a:solidFill>
            <a:srgbClr val="D94F1E"/>
          </a:solidFill>
          <a:ln w="12700">
            <a:solidFill>
              <a:srgbClr val="D94F1E"/>
            </a:solidFill>
            <a:prstDash val="solid"/>
          </a:ln>
        </p:spPr>
      </p:sp>
      <p:sp>
        <p:nvSpPr>
          <p:cNvPr id="3" name="Text 1"/>
          <p:cNvSpPr/>
          <p:nvPr/>
        </p:nvSpPr>
        <p:spPr>
          <a:xfrm>
            <a:off x="502920" y="146304"/>
            <a:ext cx="8229600" cy="658368"/>
          </a:xfrm>
          <a:prstGeom prst="rect">
            <a:avLst/>
          </a:prstGeom>
          <a:noFill/>
          <a:ln/>
        </p:spPr>
        <p:txBody>
          <a:bodyPr wrap="square" lIns="0" tIns="0" rIns="0" bIns="0" rtlCol="0" anchor="ctr"/>
          <a:lstStyle/>
          <a:p>
            <a:pPr indent="0" marL="0">
              <a:buNone/>
            </a:pPr>
            <a:r>
              <a:rPr lang="en-US" sz="3000" b="1" dirty="0">
                <a:solidFill>
                  <a:srgbClr val="2B7A8C"/>
                </a:solidFill>
                <a:latin typeface="Calibri" pitchFamily="34" charset="0"/>
                <a:ea typeface="Calibri" pitchFamily="34" charset="-122"/>
                <a:cs typeface="Calibri" pitchFamily="34" charset="-120"/>
              </a:rPr>
              <a:t>Phase 1 — Foundation</a:t>
            </a:r>
            <a:endParaRPr lang="en-US" sz="3000" dirty="0"/>
          </a:p>
        </p:txBody>
      </p:sp>
      <p:sp>
        <p:nvSpPr>
          <p:cNvPr id="4" name="Shape 2"/>
          <p:cNvSpPr/>
          <p:nvPr/>
        </p:nvSpPr>
        <p:spPr>
          <a:xfrm>
            <a:off x="365760" y="4736592"/>
            <a:ext cx="8412480" cy="0"/>
          </a:xfrm>
          <a:prstGeom prst="line">
            <a:avLst/>
          </a:prstGeom>
          <a:noFill/>
          <a:ln w="12700">
            <a:solidFill>
              <a:srgbClr val="E2E2E0"/>
            </a:solidFill>
            <a:prstDash val="solid"/>
          </a:ln>
        </p:spPr>
      </p:sp>
      <p:sp>
        <p:nvSpPr>
          <p:cNvPr id="5" name="Text 3"/>
          <p:cNvSpPr/>
          <p:nvPr/>
        </p:nvSpPr>
        <p:spPr>
          <a:xfrm>
            <a:off x="365760" y="4773168"/>
            <a:ext cx="2011680" cy="27432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Survalent</a:t>
            </a:r>
            <a:pPr indent="0" marL="0">
              <a:buNone/>
            </a:pPr>
            <a:r>
              <a:rPr lang="en-US" sz="1300" b="1" dirty="0">
                <a:solidFill>
                  <a:srgbClr val="D94F1E"/>
                </a:solidFill>
                <a:latin typeface="Calibri" pitchFamily="34" charset="0"/>
                <a:ea typeface="Calibri" pitchFamily="34" charset="-122"/>
                <a:cs typeface="Calibri" pitchFamily="34" charset="-120"/>
              </a:rPr>
              <a:t>.</a:t>
            </a:r>
            <a:endParaRPr lang="en-US" sz="1300" dirty="0"/>
          </a:p>
        </p:txBody>
      </p:sp>
      <p:sp>
        <p:nvSpPr>
          <p:cNvPr id="6" name="Text 4"/>
          <p:cNvSpPr/>
          <p:nvPr/>
        </p:nvSpPr>
        <p:spPr>
          <a:xfrm>
            <a:off x="2926080" y="4809744"/>
            <a:ext cx="3291840" cy="237744"/>
          </a:xfrm>
          <a:prstGeom prst="rect">
            <a:avLst/>
          </a:prstGeom>
          <a:noFill/>
          <a:ln/>
        </p:spPr>
        <p:txBody>
          <a:bodyPr wrap="square" lIns="0" tIns="0" rIns="0" bIns="0" rtlCol="0" anchor="ctr"/>
          <a:lstStyle/>
          <a:p>
            <a:pPr algn="ctr" indent="0" marL="0">
              <a:buNone/>
            </a:pPr>
            <a:r>
              <a:rPr lang="en-US" sz="800" spc="200" kern="0" dirty="0">
                <a:solidFill>
                  <a:srgbClr val="8A8A85"/>
                </a:solidFill>
              </a:rPr>
              <a:t>Confidential &amp; Proprietary</a:t>
            </a:r>
            <a:endParaRPr lang="en-US" sz="800" dirty="0"/>
          </a:p>
        </p:txBody>
      </p:sp>
      <p:sp>
        <p:nvSpPr>
          <p:cNvPr id="7" name="Text 5"/>
          <p:cNvSpPr/>
          <p:nvPr/>
        </p:nvSpPr>
        <p:spPr>
          <a:xfrm>
            <a:off x="8229600" y="4809744"/>
            <a:ext cx="548640" cy="237744"/>
          </a:xfrm>
          <a:prstGeom prst="rect">
            <a:avLst/>
          </a:prstGeom>
          <a:noFill/>
          <a:ln/>
        </p:spPr>
        <p:txBody>
          <a:bodyPr wrap="square" lIns="0" tIns="0" rIns="0" bIns="0" rtlCol="0" anchor="ctr"/>
          <a:lstStyle/>
          <a:p>
            <a:pPr algn="r" indent="0" marL="0">
              <a:buNone/>
            </a:pPr>
            <a:r>
              <a:rPr lang="en-US" sz="900" dirty="0">
                <a:solidFill>
                  <a:srgbClr val="8A8A85"/>
                </a:solidFill>
              </a:rPr>
              <a:t>17</a:t>
            </a:r>
            <a:endParaRPr lang="en-US" sz="900" dirty="0"/>
          </a:p>
        </p:txBody>
      </p:sp>
      <p:sp>
        <p:nvSpPr>
          <p:cNvPr id="8" name="Shape 6"/>
          <p:cNvSpPr/>
          <p:nvPr/>
        </p:nvSpPr>
        <p:spPr>
          <a:xfrm>
            <a:off x="6903720" y="868680"/>
            <a:ext cx="1783080" cy="365760"/>
          </a:xfrm>
          <a:prstGeom prst="roundRect">
            <a:avLst>
              <a:gd name="adj" fmla="val 15000"/>
            </a:avLst>
          </a:prstGeom>
          <a:solidFill>
            <a:srgbClr val="E1EEF0"/>
          </a:solidFill>
          <a:ln w="6350">
            <a:solidFill>
              <a:srgbClr val="8FC0CA"/>
            </a:solidFill>
            <a:prstDash val="solid"/>
          </a:ln>
        </p:spPr>
      </p:sp>
      <p:sp>
        <p:nvSpPr>
          <p:cNvPr id="9" name="Text 7"/>
          <p:cNvSpPr/>
          <p:nvPr/>
        </p:nvSpPr>
        <p:spPr>
          <a:xfrm>
            <a:off x="6903720" y="868680"/>
            <a:ext cx="1783080" cy="365760"/>
          </a:xfrm>
          <a:prstGeom prst="rect">
            <a:avLst/>
          </a:prstGeom>
          <a:noFill/>
          <a:ln/>
        </p:spPr>
        <p:txBody>
          <a:bodyPr wrap="square" lIns="0" tIns="0" rIns="0" bIns="0" rtlCol="0" anchor="ctr"/>
          <a:lstStyle/>
          <a:p>
            <a:pPr algn="ctr" indent="0" marL="0">
              <a:buNone/>
            </a:pPr>
            <a:r>
              <a:rPr lang="en-US" sz="850" dirty="0">
                <a:solidFill>
                  <a:srgbClr val="1C5260"/>
                </a:solidFill>
                <a:latin typeface="Calibri" pitchFamily="34" charset="0"/>
                <a:ea typeface="Calibri" pitchFamily="34" charset="-122"/>
                <a:cs typeface="Calibri" pitchFamily="34" charset="-120"/>
              </a:rPr>
              <a:t>Construction → energization</a:t>
            </a:r>
            <a:endParaRPr lang="en-US" sz="850" dirty="0"/>
          </a:p>
        </p:txBody>
      </p:sp>
      <p:sp>
        <p:nvSpPr>
          <p:cNvPr id="10" name="Text 8"/>
          <p:cNvSpPr/>
          <p:nvPr/>
        </p:nvSpPr>
        <p:spPr>
          <a:xfrm>
            <a:off x="502920" y="841248"/>
            <a:ext cx="6217920" cy="329184"/>
          </a:xfrm>
          <a:prstGeom prst="rect">
            <a:avLst/>
          </a:prstGeom>
          <a:noFill/>
          <a:ln/>
        </p:spPr>
        <p:txBody>
          <a:bodyPr wrap="square" lIns="0" tIns="0" rIns="0" bIns="0" rtlCol="0" anchor="ctr"/>
          <a:lstStyle/>
          <a:p>
            <a:pPr indent="0" marL="0">
              <a:buNone/>
            </a:pPr>
            <a:r>
              <a:rPr lang="en-US" sz="1250" i="1" dirty="0">
                <a:solidFill>
                  <a:srgbClr val="5F5E5A"/>
                </a:solidFill>
                <a:latin typeface="Calibri" pitchFamily="34" charset="0"/>
                <a:ea typeface="Calibri" pitchFamily="34" charset="-122"/>
                <a:cs typeface="Calibri" pitchFamily="34" charset="-120"/>
              </a:rPr>
              <a:t>Build the smart grid into the infrastructure — not onto it later</a:t>
            </a:r>
            <a:endParaRPr lang="en-US" sz="1250" dirty="0"/>
          </a:p>
        </p:txBody>
      </p:sp>
      <p:sp>
        <p:nvSpPr>
          <p:cNvPr id="11" name="Text 9"/>
          <p:cNvSpPr/>
          <p:nvPr/>
        </p:nvSpPr>
        <p:spPr>
          <a:xfrm>
            <a:off x="457200" y="1371600"/>
            <a:ext cx="4023360" cy="274320"/>
          </a:xfrm>
          <a:prstGeom prst="rect">
            <a:avLst/>
          </a:prstGeom>
          <a:noFill/>
          <a:ln/>
        </p:spPr>
        <p:txBody>
          <a:bodyPr wrap="square" lIns="0" tIns="0" rIns="0" bIns="0" rtlCol="0" anchor="ctr"/>
          <a:lstStyle/>
          <a:p>
            <a:pPr indent="0" marL="0">
              <a:buNone/>
            </a:pPr>
            <a:r>
              <a:rPr lang="en-US" sz="1300" b="1" dirty="0">
                <a:solidFill>
                  <a:srgbClr val="2B7A8C"/>
                </a:solidFill>
                <a:latin typeface="Calibri" pitchFamily="34" charset="0"/>
                <a:ea typeface="Calibri" pitchFamily="34" charset="-122"/>
                <a:cs typeface="Calibri" pitchFamily="34" charset="-120"/>
              </a:rPr>
              <a:t>Key deliverables</a:t>
            </a:r>
            <a:endParaRPr lang="en-US" sz="1300" dirty="0"/>
          </a:p>
        </p:txBody>
      </p:sp>
      <p:sp>
        <p:nvSpPr>
          <p:cNvPr id="12" name="Shape 10"/>
          <p:cNvSpPr/>
          <p:nvPr/>
        </p:nvSpPr>
        <p:spPr>
          <a:xfrm>
            <a:off x="457200" y="1737360"/>
            <a:ext cx="4023360" cy="566928"/>
          </a:xfrm>
          <a:prstGeom prst="roundRect">
            <a:avLst>
              <a:gd name="adj" fmla="val 12903"/>
            </a:avLst>
          </a:prstGeom>
          <a:solidFill>
            <a:srgbClr val="F6F6F4"/>
          </a:solidFill>
          <a:ln w="6350">
            <a:solidFill>
              <a:srgbClr val="CCCCCC"/>
            </a:solidFill>
            <a:prstDash val="solid"/>
          </a:ln>
        </p:spPr>
      </p:sp>
      <p:sp>
        <p:nvSpPr>
          <p:cNvPr id="13" name="Shape 11"/>
          <p:cNvSpPr/>
          <p:nvPr/>
        </p:nvSpPr>
        <p:spPr>
          <a:xfrm>
            <a:off x="603504" y="1956816"/>
            <a:ext cx="128016" cy="128016"/>
          </a:xfrm>
          <a:prstGeom prst="ellipse">
            <a:avLst/>
          </a:prstGeom>
          <a:solidFill>
            <a:srgbClr val="2B7A8C"/>
          </a:solidFill>
          <a:ln w="12700">
            <a:solidFill>
              <a:srgbClr val="2B7A8C"/>
            </a:solidFill>
            <a:prstDash val="solid"/>
          </a:ln>
        </p:spPr>
      </p:sp>
      <p:sp>
        <p:nvSpPr>
          <p:cNvPr id="14" name="Text 12"/>
          <p:cNvSpPr/>
          <p:nvPr/>
        </p:nvSpPr>
        <p:spPr>
          <a:xfrm>
            <a:off x="841248" y="1810512"/>
            <a:ext cx="3520440" cy="274320"/>
          </a:xfrm>
          <a:prstGeom prst="rect">
            <a:avLst/>
          </a:prstGeom>
          <a:noFill/>
          <a:ln/>
        </p:spPr>
        <p:txBody>
          <a:bodyPr wrap="square" lIns="0" tIns="0" rIns="0" bIns="0" rtlCol="0" anchor="ctr"/>
          <a:lstStyle/>
          <a:p>
            <a:pPr indent="0" marL="0">
              <a:buNone/>
            </a:pPr>
            <a:r>
              <a:rPr lang="en-US" sz="1150" b="1" dirty="0">
                <a:solidFill>
                  <a:srgbClr val="1A1A1A"/>
                </a:solidFill>
                <a:latin typeface="Calibri" pitchFamily="34" charset="0"/>
                <a:ea typeface="Calibri" pitchFamily="34" charset="-122"/>
                <a:cs typeface="Calibri" pitchFamily="34" charset="-120"/>
              </a:rPr>
              <a:t>SCADA &amp; real-time monitoring</a:t>
            </a:r>
            <a:endParaRPr lang="en-US" sz="1150" dirty="0"/>
          </a:p>
        </p:txBody>
      </p:sp>
      <p:sp>
        <p:nvSpPr>
          <p:cNvPr id="15" name="Text 13"/>
          <p:cNvSpPr/>
          <p:nvPr/>
        </p:nvSpPr>
        <p:spPr>
          <a:xfrm>
            <a:off x="841248" y="2048256"/>
            <a:ext cx="3520440" cy="219456"/>
          </a:xfrm>
          <a:prstGeom prst="rect">
            <a:avLst/>
          </a:prstGeom>
          <a:noFill/>
          <a:ln/>
        </p:spPr>
        <p:txBody>
          <a:bodyPr wrap="square" lIns="0" tIns="0" rIns="0" bIns="0" rtlCol="0" anchor="ctr"/>
          <a:lstStyle/>
          <a:p>
            <a:pPr indent="0" marL="0">
              <a:buNone/>
            </a:pPr>
            <a:r>
              <a:rPr lang="en-US" sz="950" dirty="0">
                <a:solidFill>
                  <a:srgbClr val="5F5E5A"/>
                </a:solidFill>
                <a:latin typeface="Calibri" pitchFamily="34" charset="0"/>
                <a:ea typeface="Calibri" pitchFamily="34" charset="-122"/>
                <a:cs typeface="Calibri" pitchFamily="34" charset="-120"/>
              </a:rPr>
              <a:t>Substations, reclosers, LBS, RMUs</a:t>
            </a:r>
            <a:endParaRPr lang="en-US" sz="950" dirty="0"/>
          </a:p>
        </p:txBody>
      </p:sp>
      <p:sp>
        <p:nvSpPr>
          <p:cNvPr id="16" name="Shape 14"/>
          <p:cNvSpPr/>
          <p:nvPr/>
        </p:nvSpPr>
        <p:spPr>
          <a:xfrm>
            <a:off x="457200" y="2395728"/>
            <a:ext cx="4023360" cy="566928"/>
          </a:xfrm>
          <a:prstGeom prst="roundRect">
            <a:avLst>
              <a:gd name="adj" fmla="val 12903"/>
            </a:avLst>
          </a:prstGeom>
          <a:solidFill>
            <a:srgbClr val="F6F6F4"/>
          </a:solidFill>
          <a:ln w="6350">
            <a:solidFill>
              <a:srgbClr val="CCCCCC"/>
            </a:solidFill>
            <a:prstDash val="solid"/>
          </a:ln>
        </p:spPr>
      </p:sp>
      <p:sp>
        <p:nvSpPr>
          <p:cNvPr id="17" name="Shape 15"/>
          <p:cNvSpPr/>
          <p:nvPr/>
        </p:nvSpPr>
        <p:spPr>
          <a:xfrm>
            <a:off x="603504" y="2615184"/>
            <a:ext cx="128016" cy="128016"/>
          </a:xfrm>
          <a:prstGeom prst="ellipse">
            <a:avLst/>
          </a:prstGeom>
          <a:solidFill>
            <a:srgbClr val="2B7A8C"/>
          </a:solidFill>
          <a:ln w="12700">
            <a:solidFill>
              <a:srgbClr val="2B7A8C"/>
            </a:solidFill>
            <a:prstDash val="solid"/>
          </a:ln>
        </p:spPr>
      </p:sp>
      <p:sp>
        <p:nvSpPr>
          <p:cNvPr id="18" name="Text 16"/>
          <p:cNvSpPr/>
          <p:nvPr/>
        </p:nvSpPr>
        <p:spPr>
          <a:xfrm>
            <a:off x="841248" y="2468880"/>
            <a:ext cx="3520440" cy="274320"/>
          </a:xfrm>
          <a:prstGeom prst="rect">
            <a:avLst/>
          </a:prstGeom>
          <a:noFill/>
          <a:ln/>
        </p:spPr>
        <p:txBody>
          <a:bodyPr wrap="square" lIns="0" tIns="0" rIns="0" bIns="0" rtlCol="0" anchor="ctr"/>
          <a:lstStyle/>
          <a:p>
            <a:pPr indent="0" marL="0">
              <a:buNone/>
            </a:pPr>
            <a:r>
              <a:rPr lang="en-US" sz="1150" b="1" dirty="0">
                <a:solidFill>
                  <a:srgbClr val="1A1A1A"/>
                </a:solidFill>
                <a:latin typeface="Calibri" pitchFamily="34" charset="0"/>
                <a:ea typeface="Calibri" pitchFamily="34" charset="-122"/>
                <a:cs typeface="Calibri" pitchFamily="34" charset="-120"/>
              </a:rPr>
              <a:t>Power quality monitoring</a:t>
            </a:r>
            <a:endParaRPr lang="en-US" sz="1150" dirty="0"/>
          </a:p>
        </p:txBody>
      </p:sp>
      <p:sp>
        <p:nvSpPr>
          <p:cNvPr id="19" name="Text 17"/>
          <p:cNvSpPr/>
          <p:nvPr/>
        </p:nvSpPr>
        <p:spPr>
          <a:xfrm>
            <a:off x="841248" y="2706624"/>
            <a:ext cx="3520440" cy="219456"/>
          </a:xfrm>
          <a:prstGeom prst="rect">
            <a:avLst/>
          </a:prstGeom>
          <a:noFill/>
          <a:ln/>
        </p:spPr>
        <p:txBody>
          <a:bodyPr wrap="square" lIns="0" tIns="0" rIns="0" bIns="0" rtlCol="0" anchor="ctr"/>
          <a:lstStyle/>
          <a:p>
            <a:pPr indent="0" marL="0">
              <a:buNone/>
            </a:pPr>
            <a:r>
              <a:rPr lang="en-US" sz="950" dirty="0">
                <a:solidFill>
                  <a:srgbClr val="5F5E5A"/>
                </a:solidFill>
                <a:latin typeface="Calibri" pitchFamily="34" charset="0"/>
                <a:ea typeface="Calibri" pitchFamily="34" charset="-122"/>
                <a:cs typeface="Calibri" pitchFamily="34" charset="-120"/>
              </a:rPr>
              <a:t>Baseline across the 22kV network</a:t>
            </a:r>
            <a:endParaRPr lang="en-US" sz="950" dirty="0"/>
          </a:p>
        </p:txBody>
      </p:sp>
      <p:sp>
        <p:nvSpPr>
          <p:cNvPr id="20" name="Shape 18"/>
          <p:cNvSpPr/>
          <p:nvPr/>
        </p:nvSpPr>
        <p:spPr>
          <a:xfrm>
            <a:off x="457200" y="3054096"/>
            <a:ext cx="4023360" cy="566928"/>
          </a:xfrm>
          <a:prstGeom prst="roundRect">
            <a:avLst>
              <a:gd name="adj" fmla="val 12903"/>
            </a:avLst>
          </a:prstGeom>
          <a:solidFill>
            <a:srgbClr val="F6F6F4"/>
          </a:solidFill>
          <a:ln w="6350">
            <a:solidFill>
              <a:srgbClr val="CCCCCC"/>
            </a:solidFill>
            <a:prstDash val="solid"/>
          </a:ln>
        </p:spPr>
      </p:sp>
      <p:sp>
        <p:nvSpPr>
          <p:cNvPr id="21" name="Shape 19"/>
          <p:cNvSpPr/>
          <p:nvPr/>
        </p:nvSpPr>
        <p:spPr>
          <a:xfrm>
            <a:off x="603504" y="3273552"/>
            <a:ext cx="128016" cy="128016"/>
          </a:xfrm>
          <a:prstGeom prst="ellipse">
            <a:avLst/>
          </a:prstGeom>
          <a:solidFill>
            <a:srgbClr val="2B7A8C"/>
          </a:solidFill>
          <a:ln w="12700">
            <a:solidFill>
              <a:srgbClr val="2B7A8C"/>
            </a:solidFill>
            <a:prstDash val="solid"/>
          </a:ln>
        </p:spPr>
      </p:sp>
      <p:sp>
        <p:nvSpPr>
          <p:cNvPr id="22" name="Text 20"/>
          <p:cNvSpPr/>
          <p:nvPr/>
        </p:nvSpPr>
        <p:spPr>
          <a:xfrm>
            <a:off x="841248" y="3127248"/>
            <a:ext cx="3520440" cy="274320"/>
          </a:xfrm>
          <a:prstGeom prst="rect">
            <a:avLst/>
          </a:prstGeom>
          <a:noFill/>
          <a:ln/>
        </p:spPr>
        <p:txBody>
          <a:bodyPr wrap="square" lIns="0" tIns="0" rIns="0" bIns="0" rtlCol="0" anchor="ctr"/>
          <a:lstStyle/>
          <a:p>
            <a:pPr indent="0" marL="0">
              <a:buNone/>
            </a:pPr>
            <a:r>
              <a:rPr lang="en-US" sz="1150" b="1" dirty="0">
                <a:solidFill>
                  <a:srgbClr val="1A1A1A"/>
                </a:solidFill>
                <a:latin typeface="Calibri" pitchFamily="34" charset="0"/>
                <a:ea typeface="Calibri" pitchFamily="34" charset="-122"/>
                <a:cs typeface="Calibri" pitchFamily="34" charset="-120"/>
              </a:rPr>
              <a:t>Communication backbone</a:t>
            </a:r>
            <a:endParaRPr lang="en-US" sz="1150" dirty="0"/>
          </a:p>
        </p:txBody>
      </p:sp>
      <p:sp>
        <p:nvSpPr>
          <p:cNvPr id="23" name="Text 21"/>
          <p:cNvSpPr/>
          <p:nvPr/>
        </p:nvSpPr>
        <p:spPr>
          <a:xfrm>
            <a:off x="841248" y="3364992"/>
            <a:ext cx="3520440" cy="219456"/>
          </a:xfrm>
          <a:prstGeom prst="rect">
            <a:avLst/>
          </a:prstGeom>
          <a:noFill/>
          <a:ln/>
        </p:spPr>
        <p:txBody>
          <a:bodyPr wrap="square" lIns="0" tIns="0" rIns="0" bIns="0" rtlCol="0" anchor="ctr"/>
          <a:lstStyle/>
          <a:p>
            <a:pPr indent="0" marL="0">
              <a:buNone/>
            </a:pPr>
            <a:r>
              <a:rPr lang="en-US" sz="950" dirty="0">
                <a:solidFill>
                  <a:srgbClr val="5F5E5A"/>
                </a:solidFill>
                <a:latin typeface="Calibri" pitchFamily="34" charset="0"/>
                <a:ea typeface="Calibri" pitchFamily="34" charset="-122"/>
                <a:cs typeface="Calibri" pitchFamily="34" charset="-120"/>
              </a:rPr>
              <a:t>Fiber ring, IEC 61850 / IEC-104 ready</a:t>
            </a:r>
            <a:endParaRPr lang="en-US" sz="950" dirty="0"/>
          </a:p>
        </p:txBody>
      </p:sp>
      <p:sp>
        <p:nvSpPr>
          <p:cNvPr id="24" name="Shape 22"/>
          <p:cNvSpPr/>
          <p:nvPr/>
        </p:nvSpPr>
        <p:spPr>
          <a:xfrm>
            <a:off x="457200" y="3712464"/>
            <a:ext cx="4023360" cy="566928"/>
          </a:xfrm>
          <a:prstGeom prst="roundRect">
            <a:avLst>
              <a:gd name="adj" fmla="val 12903"/>
            </a:avLst>
          </a:prstGeom>
          <a:solidFill>
            <a:srgbClr val="F6F6F4"/>
          </a:solidFill>
          <a:ln w="6350">
            <a:solidFill>
              <a:srgbClr val="CCCCCC"/>
            </a:solidFill>
            <a:prstDash val="solid"/>
          </a:ln>
        </p:spPr>
      </p:sp>
      <p:sp>
        <p:nvSpPr>
          <p:cNvPr id="25" name="Shape 23"/>
          <p:cNvSpPr/>
          <p:nvPr/>
        </p:nvSpPr>
        <p:spPr>
          <a:xfrm>
            <a:off x="603504" y="3931920"/>
            <a:ext cx="128016" cy="128016"/>
          </a:xfrm>
          <a:prstGeom prst="ellipse">
            <a:avLst/>
          </a:prstGeom>
          <a:solidFill>
            <a:srgbClr val="2B7A8C"/>
          </a:solidFill>
          <a:ln w="12700">
            <a:solidFill>
              <a:srgbClr val="2B7A8C"/>
            </a:solidFill>
            <a:prstDash val="solid"/>
          </a:ln>
        </p:spPr>
      </p:sp>
      <p:sp>
        <p:nvSpPr>
          <p:cNvPr id="26" name="Text 24"/>
          <p:cNvSpPr/>
          <p:nvPr/>
        </p:nvSpPr>
        <p:spPr>
          <a:xfrm>
            <a:off x="841248" y="3785616"/>
            <a:ext cx="3520440" cy="274320"/>
          </a:xfrm>
          <a:prstGeom prst="rect">
            <a:avLst/>
          </a:prstGeom>
          <a:noFill/>
          <a:ln/>
        </p:spPr>
        <p:txBody>
          <a:bodyPr wrap="square" lIns="0" tIns="0" rIns="0" bIns="0" rtlCol="0" anchor="ctr"/>
          <a:lstStyle/>
          <a:p>
            <a:pPr indent="0" marL="0">
              <a:buNone/>
            </a:pPr>
            <a:r>
              <a:rPr lang="en-US" sz="1150" b="1" dirty="0">
                <a:solidFill>
                  <a:srgbClr val="1A1A1A"/>
                </a:solidFill>
                <a:latin typeface="Calibri" pitchFamily="34" charset="0"/>
                <a:ea typeface="Calibri" pitchFamily="34" charset="-122"/>
                <a:cs typeface="Calibri" pitchFamily="34" charset="-120"/>
              </a:rPr>
              <a:t>OT cybersecurity architecture</a:t>
            </a:r>
            <a:endParaRPr lang="en-US" sz="1150" dirty="0"/>
          </a:p>
        </p:txBody>
      </p:sp>
      <p:sp>
        <p:nvSpPr>
          <p:cNvPr id="27" name="Text 25"/>
          <p:cNvSpPr/>
          <p:nvPr/>
        </p:nvSpPr>
        <p:spPr>
          <a:xfrm>
            <a:off x="841248" y="4023360"/>
            <a:ext cx="3520440" cy="219456"/>
          </a:xfrm>
          <a:prstGeom prst="rect">
            <a:avLst/>
          </a:prstGeom>
          <a:noFill/>
          <a:ln/>
        </p:spPr>
        <p:txBody>
          <a:bodyPr wrap="square" lIns="0" tIns="0" rIns="0" bIns="0" rtlCol="0" anchor="ctr"/>
          <a:lstStyle/>
          <a:p>
            <a:pPr indent="0" marL="0">
              <a:buNone/>
            </a:pPr>
            <a:r>
              <a:rPr lang="en-US" sz="950" dirty="0">
                <a:solidFill>
                  <a:srgbClr val="5F5E5A"/>
                </a:solidFill>
                <a:latin typeface="Calibri" pitchFamily="34" charset="0"/>
                <a:ea typeface="Calibri" pitchFamily="34" charset="-122"/>
                <a:cs typeface="Calibri" pitchFamily="34" charset="-120"/>
              </a:rPr>
              <a:t>Segmentation and role-based access</a:t>
            </a:r>
            <a:endParaRPr lang="en-US" sz="950" dirty="0"/>
          </a:p>
        </p:txBody>
      </p:sp>
      <p:sp>
        <p:nvSpPr>
          <p:cNvPr id="28" name="Text 26"/>
          <p:cNvSpPr/>
          <p:nvPr/>
        </p:nvSpPr>
        <p:spPr>
          <a:xfrm>
            <a:off x="4709160" y="1371600"/>
            <a:ext cx="3977640" cy="274320"/>
          </a:xfrm>
          <a:prstGeom prst="rect">
            <a:avLst/>
          </a:prstGeom>
          <a:noFill/>
          <a:ln/>
        </p:spPr>
        <p:txBody>
          <a:bodyPr wrap="square" lIns="0" tIns="0" rIns="0" bIns="0" rtlCol="0" anchor="ctr"/>
          <a:lstStyle/>
          <a:p>
            <a:pPr indent="0" marL="0">
              <a:buNone/>
            </a:pPr>
            <a:r>
              <a:rPr lang="en-US" sz="1300" b="1" dirty="0">
                <a:solidFill>
                  <a:srgbClr val="2B7A8C"/>
                </a:solidFill>
                <a:latin typeface="Calibri" pitchFamily="34" charset="0"/>
                <a:ea typeface="Calibri" pitchFamily="34" charset="-122"/>
                <a:cs typeface="Calibri" pitchFamily="34" charset="-120"/>
              </a:rPr>
              <a:t>What it enables</a:t>
            </a:r>
            <a:endParaRPr lang="en-US" sz="1300" dirty="0"/>
          </a:p>
        </p:txBody>
      </p:sp>
      <p:sp>
        <p:nvSpPr>
          <p:cNvPr id="29" name="Text 27"/>
          <p:cNvSpPr/>
          <p:nvPr/>
        </p:nvSpPr>
        <p:spPr>
          <a:xfrm>
            <a:off x="4754880" y="1737360"/>
            <a:ext cx="274320" cy="365760"/>
          </a:xfrm>
          <a:prstGeom prst="rect">
            <a:avLst/>
          </a:prstGeom>
          <a:noFill/>
          <a:ln/>
        </p:spPr>
        <p:txBody>
          <a:bodyPr wrap="square" lIns="0" tIns="0" rIns="0" bIns="0" rtlCol="0" anchor="ctr"/>
          <a:lstStyle/>
          <a:p>
            <a:pPr indent="0" marL="0">
              <a:buNone/>
            </a:pPr>
            <a:r>
              <a:rPr lang="en-US" sz="1200" b="1" dirty="0">
                <a:solidFill>
                  <a:srgbClr val="2B7A8C"/>
                </a:solidFill>
                <a:latin typeface="Calibri" pitchFamily="34" charset="0"/>
                <a:ea typeface="Calibri" pitchFamily="34" charset="-122"/>
                <a:cs typeface="Calibri" pitchFamily="34" charset="-120"/>
              </a:rPr>
              <a:t>→</a:t>
            </a:r>
            <a:endParaRPr lang="en-US" sz="1200" dirty="0"/>
          </a:p>
        </p:txBody>
      </p:sp>
      <p:sp>
        <p:nvSpPr>
          <p:cNvPr id="30" name="Text 28"/>
          <p:cNvSpPr/>
          <p:nvPr/>
        </p:nvSpPr>
        <p:spPr>
          <a:xfrm>
            <a:off x="5074920" y="1737360"/>
            <a:ext cx="3611880" cy="36576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A data model every later phase reuses</a:t>
            </a:r>
            <a:endParaRPr lang="en-US" sz="1100" dirty="0"/>
          </a:p>
        </p:txBody>
      </p:sp>
      <p:sp>
        <p:nvSpPr>
          <p:cNvPr id="31" name="Text 29"/>
          <p:cNvSpPr/>
          <p:nvPr/>
        </p:nvSpPr>
        <p:spPr>
          <a:xfrm>
            <a:off x="4754880" y="2194560"/>
            <a:ext cx="274320" cy="365760"/>
          </a:xfrm>
          <a:prstGeom prst="rect">
            <a:avLst/>
          </a:prstGeom>
          <a:noFill/>
          <a:ln/>
        </p:spPr>
        <p:txBody>
          <a:bodyPr wrap="square" lIns="0" tIns="0" rIns="0" bIns="0" rtlCol="0" anchor="ctr"/>
          <a:lstStyle/>
          <a:p>
            <a:pPr indent="0" marL="0">
              <a:buNone/>
            </a:pPr>
            <a:r>
              <a:rPr lang="en-US" sz="1200" b="1" dirty="0">
                <a:solidFill>
                  <a:srgbClr val="2B7A8C"/>
                </a:solidFill>
                <a:latin typeface="Calibri" pitchFamily="34" charset="0"/>
                <a:ea typeface="Calibri" pitchFamily="34" charset="-122"/>
                <a:cs typeface="Calibri" pitchFamily="34" charset="-120"/>
              </a:rPr>
              <a:t>→</a:t>
            </a:r>
            <a:endParaRPr lang="en-US" sz="1200" dirty="0"/>
          </a:p>
        </p:txBody>
      </p:sp>
      <p:sp>
        <p:nvSpPr>
          <p:cNvPr id="32" name="Text 30"/>
          <p:cNvSpPr/>
          <p:nvPr/>
        </p:nvSpPr>
        <p:spPr>
          <a:xfrm>
            <a:off x="5074920" y="2194560"/>
            <a:ext cx="3611880" cy="36576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A network ready for ADMS intelligence</a:t>
            </a:r>
            <a:endParaRPr lang="en-US" sz="1100" dirty="0"/>
          </a:p>
        </p:txBody>
      </p:sp>
      <p:sp>
        <p:nvSpPr>
          <p:cNvPr id="33" name="Text 31"/>
          <p:cNvSpPr/>
          <p:nvPr/>
        </p:nvSpPr>
        <p:spPr>
          <a:xfrm>
            <a:off x="4754880" y="2651760"/>
            <a:ext cx="274320" cy="365760"/>
          </a:xfrm>
          <a:prstGeom prst="rect">
            <a:avLst/>
          </a:prstGeom>
          <a:noFill/>
          <a:ln/>
        </p:spPr>
        <p:txBody>
          <a:bodyPr wrap="square" lIns="0" tIns="0" rIns="0" bIns="0" rtlCol="0" anchor="ctr"/>
          <a:lstStyle/>
          <a:p>
            <a:pPr indent="0" marL="0">
              <a:buNone/>
            </a:pPr>
            <a:r>
              <a:rPr lang="en-US" sz="1200" b="1" dirty="0">
                <a:solidFill>
                  <a:srgbClr val="2B7A8C"/>
                </a:solidFill>
                <a:latin typeface="Calibri" pitchFamily="34" charset="0"/>
                <a:ea typeface="Calibri" pitchFamily="34" charset="-122"/>
                <a:cs typeface="Calibri" pitchFamily="34" charset="-120"/>
              </a:rPr>
              <a:t>→</a:t>
            </a:r>
            <a:endParaRPr lang="en-US" sz="1200" dirty="0"/>
          </a:p>
        </p:txBody>
      </p:sp>
      <p:sp>
        <p:nvSpPr>
          <p:cNvPr id="34" name="Text 32"/>
          <p:cNvSpPr/>
          <p:nvPr/>
        </p:nvSpPr>
        <p:spPr>
          <a:xfrm>
            <a:off x="5074920" y="2651760"/>
            <a:ext cx="3611880" cy="36576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Comms able to carry DERMS &amp; VPP traffic</a:t>
            </a:r>
            <a:endParaRPr lang="en-US" sz="1100" dirty="0"/>
          </a:p>
        </p:txBody>
      </p:sp>
      <p:sp>
        <p:nvSpPr>
          <p:cNvPr id="35" name="Text 33"/>
          <p:cNvSpPr/>
          <p:nvPr/>
        </p:nvSpPr>
        <p:spPr>
          <a:xfrm>
            <a:off x="4754880" y="3108960"/>
            <a:ext cx="274320" cy="365760"/>
          </a:xfrm>
          <a:prstGeom prst="rect">
            <a:avLst/>
          </a:prstGeom>
          <a:noFill/>
          <a:ln/>
        </p:spPr>
        <p:txBody>
          <a:bodyPr wrap="square" lIns="0" tIns="0" rIns="0" bIns="0" rtlCol="0" anchor="ctr"/>
          <a:lstStyle/>
          <a:p>
            <a:pPr indent="0" marL="0">
              <a:buNone/>
            </a:pPr>
            <a:r>
              <a:rPr lang="en-US" sz="1200" b="1" dirty="0">
                <a:solidFill>
                  <a:srgbClr val="2B7A8C"/>
                </a:solidFill>
                <a:latin typeface="Calibri" pitchFamily="34" charset="0"/>
                <a:ea typeface="Calibri" pitchFamily="34" charset="-122"/>
                <a:cs typeface="Calibri" pitchFamily="34" charset="-120"/>
              </a:rPr>
              <a:t>→</a:t>
            </a:r>
            <a:endParaRPr lang="en-US" sz="1200" dirty="0"/>
          </a:p>
        </p:txBody>
      </p:sp>
      <p:sp>
        <p:nvSpPr>
          <p:cNvPr id="36" name="Text 34"/>
          <p:cNvSpPr/>
          <p:nvPr/>
        </p:nvSpPr>
        <p:spPr>
          <a:xfrm>
            <a:off x="5074920" y="3108960"/>
            <a:ext cx="3611880" cy="36576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Security baked in before assets connect</a:t>
            </a:r>
            <a:endParaRPr lang="en-US" sz="1100" dirty="0"/>
          </a:p>
        </p:txBody>
      </p:sp>
      <p:sp>
        <p:nvSpPr>
          <p:cNvPr id="37" name="Shape 35"/>
          <p:cNvSpPr/>
          <p:nvPr/>
        </p:nvSpPr>
        <p:spPr>
          <a:xfrm>
            <a:off x="4709160" y="3657600"/>
            <a:ext cx="3977640" cy="768096"/>
          </a:xfrm>
          <a:prstGeom prst="roundRect">
            <a:avLst>
              <a:gd name="adj" fmla="val 9524"/>
            </a:avLst>
          </a:prstGeom>
          <a:solidFill>
            <a:srgbClr val="123139"/>
          </a:solidFill>
          <a:ln w="12700">
            <a:solidFill>
              <a:srgbClr val="123139"/>
            </a:solidFill>
            <a:prstDash val="solid"/>
          </a:ln>
        </p:spPr>
      </p:sp>
      <p:sp>
        <p:nvSpPr>
          <p:cNvPr id="38" name="Text 36"/>
          <p:cNvSpPr/>
          <p:nvPr/>
        </p:nvSpPr>
        <p:spPr>
          <a:xfrm>
            <a:off x="4892040" y="3657600"/>
            <a:ext cx="3611880" cy="768096"/>
          </a:xfrm>
          <a:prstGeom prst="rect">
            <a:avLst/>
          </a:prstGeom>
          <a:noFill/>
          <a:ln/>
        </p:spPr>
        <p:txBody>
          <a:bodyPr wrap="square" lIns="0" tIns="0" rIns="0" bIns="0" rtlCol="0" anchor="ctr"/>
          <a:lstStyle/>
          <a:p>
            <a:pPr indent="0" marL="0">
              <a:lnSpc>
                <a:spcPct val="100000"/>
              </a:lnSpc>
              <a:buNone/>
            </a:pPr>
            <a:r>
              <a:rPr lang="en-US" sz="1100" b="1" dirty="0">
                <a:solidFill>
                  <a:srgbClr val="FFFFFF"/>
                </a:solidFill>
                <a:latin typeface="Calibri" pitchFamily="34" charset="0"/>
                <a:ea typeface="Calibri" pitchFamily="34" charset="-122"/>
                <a:cs typeface="Calibri" pitchFamily="34" charset="-120"/>
              </a:rPr>
              <a:t>Design principle
</a:t>
            </a:r>
            <a:pPr indent="0" marL="0">
              <a:lnSpc>
                <a:spcPct val="100000"/>
              </a:lnSpc>
              <a:buNone/>
            </a:pPr>
            <a:r>
              <a:rPr lang="en-US" sz="980" dirty="0">
                <a:solidFill>
                  <a:srgbClr val="BFE0DE"/>
                </a:solidFill>
                <a:latin typeface="Calibri" pitchFamily="34" charset="0"/>
                <a:ea typeface="Calibri" pitchFamily="34" charset="-122"/>
                <a:cs typeface="Calibri" pitchFamily="34" charset="-120"/>
              </a:rPr>
              <a:t>The data model, comms backbone, and OT security you build now either unlock or constrain every later phase. Get this right first.</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 cy="384048"/>
          </a:xfrm>
          <a:prstGeom prst="rect">
            <a:avLst/>
          </a:prstGeom>
          <a:solidFill>
            <a:srgbClr val="D94F1E"/>
          </a:solidFill>
          <a:ln w="12700">
            <a:solidFill>
              <a:srgbClr val="D94F1E"/>
            </a:solidFill>
            <a:prstDash val="solid"/>
          </a:ln>
        </p:spPr>
      </p:sp>
      <p:sp>
        <p:nvSpPr>
          <p:cNvPr id="3" name="Text 1"/>
          <p:cNvSpPr/>
          <p:nvPr/>
        </p:nvSpPr>
        <p:spPr>
          <a:xfrm>
            <a:off x="502920" y="146304"/>
            <a:ext cx="8229600" cy="658368"/>
          </a:xfrm>
          <a:prstGeom prst="rect">
            <a:avLst/>
          </a:prstGeom>
          <a:noFill/>
          <a:ln/>
        </p:spPr>
        <p:txBody>
          <a:bodyPr wrap="square" lIns="0" tIns="0" rIns="0" bIns="0" rtlCol="0" anchor="ctr"/>
          <a:lstStyle/>
          <a:p>
            <a:pPr indent="0" marL="0">
              <a:buNone/>
            </a:pPr>
            <a:r>
              <a:rPr lang="en-US" sz="3000" b="1" dirty="0">
                <a:solidFill>
                  <a:srgbClr val="2B7A8C"/>
                </a:solidFill>
                <a:latin typeface="Calibri" pitchFamily="34" charset="0"/>
                <a:ea typeface="Calibri" pitchFamily="34" charset="-122"/>
                <a:cs typeface="Calibri" pitchFamily="34" charset="-120"/>
              </a:rPr>
              <a:t>Phase 2 — Grid Intelligence</a:t>
            </a:r>
            <a:endParaRPr lang="en-US" sz="3000" dirty="0"/>
          </a:p>
        </p:txBody>
      </p:sp>
      <p:sp>
        <p:nvSpPr>
          <p:cNvPr id="4" name="Shape 2"/>
          <p:cNvSpPr/>
          <p:nvPr/>
        </p:nvSpPr>
        <p:spPr>
          <a:xfrm>
            <a:off x="365760" y="4736592"/>
            <a:ext cx="8412480" cy="0"/>
          </a:xfrm>
          <a:prstGeom prst="line">
            <a:avLst/>
          </a:prstGeom>
          <a:noFill/>
          <a:ln w="12700">
            <a:solidFill>
              <a:srgbClr val="E2E2E0"/>
            </a:solidFill>
            <a:prstDash val="solid"/>
          </a:ln>
        </p:spPr>
      </p:sp>
      <p:sp>
        <p:nvSpPr>
          <p:cNvPr id="5" name="Text 3"/>
          <p:cNvSpPr/>
          <p:nvPr/>
        </p:nvSpPr>
        <p:spPr>
          <a:xfrm>
            <a:off x="365760" y="4773168"/>
            <a:ext cx="2011680" cy="27432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Survalent</a:t>
            </a:r>
            <a:pPr indent="0" marL="0">
              <a:buNone/>
            </a:pPr>
            <a:r>
              <a:rPr lang="en-US" sz="1300" b="1" dirty="0">
                <a:solidFill>
                  <a:srgbClr val="D94F1E"/>
                </a:solidFill>
                <a:latin typeface="Calibri" pitchFamily="34" charset="0"/>
                <a:ea typeface="Calibri" pitchFamily="34" charset="-122"/>
                <a:cs typeface="Calibri" pitchFamily="34" charset="-120"/>
              </a:rPr>
              <a:t>.</a:t>
            </a:r>
            <a:endParaRPr lang="en-US" sz="1300" dirty="0"/>
          </a:p>
        </p:txBody>
      </p:sp>
      <p:sp>
        <p:nvSpPr>
          <p:cNvPr id="6" name="Text 4"/>
          <p:cNvSpPr/>
          <p:nvPr/>
        </p:nvSpPr>
        <p:spPr>
          <a:xfrm>
            <a:off x="2926080" y="4809744"/>
            <a:ext cx="3291840" cy="237744"/>
          </a:xfrm>
          <a:prstGeom prst="rect">
            <a:avLst/>
          </a:prstGeom>
          <a:noFill/>
          <a:ln/>
        </p:spPr>
        <p:txBody>
          <a:bodyPr wrap="square" lIns="0" tIns="0" rIns="0" bIns="0" rtlCol="0" anchor="ctr"/>
          <a:lstStyle/>
          <a:p>
            <a:pPr algn="ctr" indent="0" marL="0">
              <a:buNone/>
            </a:pPr>
            <a:r>
              <a:rPr lang="en-US" sz="800" spc="200" kern="0" dirty="0">
                <a:solidFill>
                  <a:srgbClr val="8A8A85"/>
                </a:solidFill>
              </a:rPr>
              <a:t>Confidential &amp; Proprietary</a:t>
            </a:r>
            <a:endParaRPr lang="en-US" sz="800" dirty="0"/>
          </a:p>
        </p:txBody>
      </p:sp>
      <p:sp>
        <p:nvSpPr>
          <p:cNvPr id="7" name="Text 5"/>
          <p:cNvSpPr/>
          <p:nvPr/>
        </p:nvSpPr>
        <p:spPr>
          <a:xfrm>
            <a:off x="8229600" y="4809744"/>
            <a:ext cx="548640" cy="237744"/>
          </a:xfrm>
          <a:prstGeom prst="rect">
            <a:avLst/>
          </a:prstGeom>
          <a:noFill/>
          <a:ln/>
        </p:spPr>
        <p:txBody>
          <a:bodyPr wrap="square" lIns="0" tIns="0" rIns="0" bIns="0" rtlCol="0" anchor="ctr"/>
          <a:lstStyle/>
          <a:p>
            <a:pPr algn="r" indent="0" marL="0">
              <a:buNone/>
            </a:pPr>
            <a:r>
              <a:rPr lang="en-US" sz="900" dirty="0">
                <a:solidFill>
                  <a:srgbClr val="8A8A85"/>
                </a:solidFill>
              </a:rPr>
              <a:t>18</a:t>
            </a:r>
            <a:endParaRPr lang="en-US" sz="900" dirty="0"/>
          </a:p>
        </p:txBody>
      </p:sp>
      <p:sp>
        <p:nvSpPr>
          <p:cNvPr id="8" name="Shape 6"/>
          <p:cNvSpPr/>
          <p:nvPr/>
        </p:nvSpPr>
        <p:spPr>
          <a:xfrm>
            <a:off x="7178040" y="868680"/>
            <a:ext cx="1508760" cy="365760"/>
          </a:xfrm>
          <a:prstGeom prst="roundRect">
            <a:avLst>
              <a:gd name="adj" fmla="val 15000"/>
            </a:avLst>
          </a:prstGeom>
          <a:solidFill>
            <a:srgbClr val="E6F0FA"/>
          </a:solidFill>
          <a:ln w="6350">
            <a:solidFill>
              <a:srgbClr val="9CC2E8"/>
            </a:solidFill>
            <a:prstDash val="solid"/>
          </a:ln>
        </p:spPr>
      </p:sp>
      <p:sp>
        <p:nvSpPr>
          <p:cNvPr id="9" name="Text 7"/>
          <p:cNvSpPr/>
          <p:nvPr/>
        </p:nvSpPr>
        <p:spPr>
          <a:xfrm>
            <a:off x="7178040" y="868680"/>
            <a:ext cx="1508760" cy="365760"/>
          </a:xfrm>
          <a:prstGeom prst="rect">
            <a:avLst/>
          </a:prstGeom>
          <a:noFill/>
          <a:ln/>
        </p:spPr>
        <p:txBody>
          <a:bodyPr wrap="square" lIns="0" tIns="0" rIns="0" bIns="0" rtlCol="0" anchor="ctr"/>
          <a:lstStyle/>
          <a:p>
            <a:pPr algn="ctr" indent="0" marL="0">
              <a:buNone/>
            </a:pPr>
            <a:r>
              <a:rPr lang="en-US" sz="850" dirty="0">
                <a:solidFill>
                  <a:srgbClr val="1C4878"/>
                </a:solidFill>
                <a:latin typeface="Calibri" pitchFamily="34" charset="0"/>
                <a:ea typeface="Calibri" pitchFamily="34" charset="-122"/>
                <a:cs typeface="Calibri" pitchFamily="34" charset="-120"/>
              </a:rPr>
              <a:t>Early operations</a:t>
            </a:r>
            <a:endParaRPr lang="en-US" sz="850" dirty="0"/>
          </a:p>
        </p:txBody>
      </p:sp>
      <p:sp>
        <p:nvSpPr>
          <p:cNvPr id="10" name="Text 8"/>
          <p:cNvSpPr/>
          <p:nvPr/>
        </p:nvSpPr>
        <p:spPr>
          <a:xfrm>
            <a:off x="502920" y="841248"/>
            <a:ext cx="6492240" cy="329184"/>
          </a:xfrm>
          <a:prstGeom prst="rect">
            <a:avLst/>
          </a:prstGeom>
          <a:noFill/>
          <a:ln/>
        </p:spPr>
        <p:txBody>
          <a:bodyPr wrap="square" lIns="0" tIns="0" rIns="0" bIns="0" rtlCol="0" anchor="ctr"/>
          <a:lstStyle/>
          <a:p>
            <a:pPr indent="0" marL="0">
              <a:buNone/>
            </a:pPr>
            <a:r>
              <a:rPr lang="en-US" sz="1250" i="1" dirty="0">
                <a:solidFill>
                  <a:srgbClr val="5F5E5A"/>
                </a:solidFill>
                <a:latin typeface="Calibri" pitchFamily="34" charset="0"/>
                <a:ea typeface="Calibri" pitchFamily="34" charset="-122"/>
                <a:cs typeface="Calibri" pitchFamily="34" charset="-120"/>
              </a:rPr>
              <a:t>ADMS turns visibility into control — and export risk management begins</a:t>
            </a:r>
            <a:endParaRPr lang="en-US" sz="1250" dirty="0"/>
          </a:p>
        </p:txBody>
      </p:sp>
      <p:sp>
        <p:nvSpPr>
          <p:cNvPr id="11" name="Shape 9"/>
          <p:cNvSpPr/>
          <p:nvPr/>
        </p:nvSpPr>
        <p:spPr>
          <a:xfrm>
            <a:off x="457200" y="1325880"/>
            <a:ext cx="4023360" cy="950976"/>
          </a:xfrm>
          <a:prstGeom prst="roundRect">
            <a:avLst>
              <a:gd name="adj" fmla="val 7692"/>
            </a:avLst>
          </a:prstGeom>
          <a:solidFill>
            <a:srgbClr val="FFFFFF"/>
          </a:solidFill>
          <a:ln w="6350">
            <a:solidFill>
              <a:srgbClr val="CCCCCC"/>
            </a:solidFill>
            <a:prstDash val="solid"/>
          </a:ln>
          <a:effectLst>
            <a:outerShdw sx="100000" sy="100000" kx="0" ky="0" algn="bl" rotWithShape="0" blurRad="76200" dist="25400" dir="2700000">
              <a:srgbClr val="000000">
                <a:alpha val="10000"/>
              </a:srgbClr>
            </a:outerShdw>
          </a:effectLst>
        </p:spPr>
      </p:sp>
      <p:sp>
        <p:nvSpPr>
          <p:cNvPr id="12" name="Shape 10"/>
          <p:cNvSpPr/>
          <p:nvPr/>
        </p:nvSpPr>
        <p:spPr>
          <a:xfrm>
            <a:off x="640080" y="1581912"/>
            <a:ext cx="457200" cy="457200"/>
          </a:xfrm>
          <a:prstGeom prst="ellipse">
            <a:avLst/>
          </a:prstGeom>
          <a:solidFill>
            <a:srgbClr val="E6F0FA"/>
          </a:solidFill>
          <a:ln w="12700">
            <a:solidFill>
              <a:srgbClr val="E6F0FA"/>
            </a:solidFill>
            <a:prstDash val="solid"/>
          </a:ln>
        </p:spPr>
      </p:sp>
      <p:pic>
        <p:nvPicPr>
          <p:cNvPr id="13" name="Image 0" descr="preencoded.png">    </p:cNvPr>
          <p:cNvPicPr>
            <a:picLocks noChangeAspect="1"/>
          </p:cNvPicPr>
          <p:nvPr/>
        </p:nvPicPr>
        <p:blipFill>
          <a:blip r:embed="rId1"/>
          <a:stretch>
            <a:fillRect/>
          </a:stretch>
        </p:blipFill>
        <p:spPr>
          <a:xfrm>
            <a:off x="740664" y="1682496"/>
            <a:ext cx="256032" cy="256032"/>
          </a:xfrm>
          <a:prstGeom prst="rect">
            <a:avLst/>
          </a:prstGeom>
        </p:spPr>
      </p:pic>
      <p:sp>
        <p:nvSpPr>
          <p:cNvPr id="14" name="Text 11"/>
          <p:cNvSpPr/>
          <p:nvPr/>
        </p:nvSpPr>
        <p:spPr>
          <a:xfrm>
            <a:off x="1207008" y="1453896"/>
            <a:ext cx="3108960" cy="292608"/>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Live network model</a:t>
            </a:r>
            <a:endParaRPr lang="en-US" sz="1300" dirty="0"/>
          </a:p>
        </p:txBody>
      </p:sp>
      <p:sp>
        <p:nvSpPr>
          <p:cNvPr id="15" name="Text 12"/>
          <p:cNvSpPr/>
          <p:nvPr/>
        </p:nvSpPr>
        <p:spPr>
          <a:xfrm>
            <a:off x="1207008" y="1746504"/>
            <a:ext cx="3108960" cy="457200"/>
          </a:xfrm>
          <a:prstGeom prst="rect">
            <a:avLst/>
          </a:prstGeom>
          <a:noFill/>
          <a:ln/>
        </p:spPr>
        <p:txBody>
          <a:bodyPr wrap="square" lIns="0" tIns="0" rIns="0" bIns="0" rtlCol="0" anchor="t"/>
          <a:lstStyle/>
          <a:p>
            <a:pPr indent="0" marL="0">
              <a:lnSpc>
                <a:spcPct val="102000"/>
              </a:lnSpc>
              <a:buNone/>
            </a:pPr>
            <a:r>
              <a:rPr lang="en-US" sz="1030" dirty="0">
                <a:solidFill>
                  <a:srgbClr val="5F5E5A"/>
                </a:solidFill>
                <a:latin typeface="Calibri" pitchFamily="34" charset="0"/>
                <a:ea typeface="Calibri" pitchFamily="34" charset="-122"/>
                <a:cs typeface="Calibri" pitchFamily="34" charset="-120"/>
              </a:rPr>
              <a:t>A real-time single-line diagram of the entire 22kV grid for operators.</a:t>
            </a:r>
            <a:endParaRPr lang="en-US" sz="1030" dirty="0"/>
          </a:p>
        </p:txBody>
      </p:sp>
      <p:sp>
        <p:nvSpPr>
          <p:cNvPr id="16" name="Shape 13"/>
          <p:cNvSpPr/>
          <p:nvPr/>
        </p:nvSpPr>
        <p:spPr>
          <a:xfrm>
            <a:off x="4663440" y="1325880"/>
            <a:ext cx="4023360" cy="950976"/>
          </a:xfrm>
          <a:prstGeom prst="roundRect">
            <a:avLst>
              <a:gd name="adj" fmla="val 7692"/>
            </a:avLst>
          </a:prstGeom>
          <a:solidFill>
            <a:srgbClr val="FFFFFF"/>
          </a:solidFill>
          <a:ln w="6350">
            <a:solidFill>
              <a:srgbClr val="CCCCCC"/>
            </a:solidFill>
            <a:prstDash val="solid"/>
          </a:ln>
          <a:effectLst>
            <a:outerShdw sx="100000" sy="100000" kx="0" ky="0" algn="bl" rotWithShape="0" blurRad="76200" dist="25400" dir="2700000">
              <a:srgbClr val="000000">
                <a:alpha val="10000"/>
              </a:srgbClr>
            </a:outerShdw>
          </a:effectLst>
        </p:spPr>
      </p:sp>
      <p:sp>
        <p:nvSpPr>
          <p:cNvPr id="17" name="Shape 14"/>
          <p:cNvSpPr/>
          <p:nvPr/>
        </p:nvSpPr>
        <p:spPr>
          <a:xfrm>
            <a:off x="4846320" y="1581912"/>
            <a:ext cx="457200" cy="457200"/>
          </a:xfrm>
          <a:prstGeom prst="ellipse">
            <a:avLst/>
          </a:prstGeom>
          <a:solidFill>
            <a:srgbClr val="E6F0FA"/>
          </a:solidFill>
          <a:ln w="12700">
            <a:solidFill>
              <a:srgbClr val="E6F0FA"/>
            </a:solidFill>
            <a:prstDash val="solid"/>
          </a:ln>
        </p:spPr>
      </p:sp>
      <p:pic>
        <p:nvPicPr>
          <p:cNvPr id="18" name="Image 1" descr="preencoded.png">    </p:cNvPr>
          <p:cNvPicPr>
            <a:picLocks noChangeAspect="1"/>
          </p:cNvPicPr>
          <p:nvPr/>
        </p:nvPicPr>
        <p:blipFill>
          <a:blip r:embed="rId2"/>
          <a:stretch>
            <a:fillRect/>
          </a:stretch>
        </p:blipFill>
        <p:spPr>
          <a:xfrm>
            <a:off x="4946904" y="1682496"/>
            <a:ext cx="256032" cy="256032"/>
          </a:xfrm>
          <a:prstGeom prst="rect">
            <a:avLst/>
          </a:prstGeom>
        </p:spPr>
      </p:pic>
      <p:sp>
        <p:nvSpPr>
          <p:cNvPr id="19" name="Text 15"/>
          <p:cNvSpPr/>
          <p:nvPr/>
        </p:nvSpPr>
        <p:spPr>
          <a:xfrm>
            <a:off x="5413248" y="1453896"/>
            <a:ext cx="3108960" cy="292608"/>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FLISR</a:t>
            </a:r>
            <a:endParaRPr lang="en-US" sz="1300" dirty="0"/>
          </a:p>
        </p:txBody>
      </p:sp>
      <p:sp>
        <p:nvSpPr>
          <p:cNvPr id="20" name="Text 16"/>
          <p:cNvSpPr/>
          <p:nvPr/>
        </p:nvSpPr>
        <p:spPr>
          <a:xfrm>
            <a:off x="5413248" y="1746504"/>
            <a:ext cx="3108960" cy="457200"/>
          </a:xfrm>
          <a:prstGeom prst="rect">
            <a:avLst/>
          </a:prstGeom>
          <a:noFill/>
          <a:ln/>
        </p:spPr>
        <p:txBody>
          <a:bodyPr wrap="square" lIns="0" tIns="0" rIns="0" bIns="0" rtlCol="0" anchor="t"/>
          <a:lstStyle/>
          <a:p>
            <a:pPr indent="0" marL="0">
              <a:lnSpc>
                <a:spcPct val="102000"/>
              </a:lnSpc>
              <a:buNone/>
            </a:pPr>
            <a:r>
              <a:rPr lang="en-US" sz="1030" dirty="0">
                <a:solidFill>
                  <a:srgbClr val="5F5E5A"/>
                </a:solidFill>
                <a:latin typeface="Calibri" pitchFamily="34" charset="0"/>
                <a:ea typeface="Calibri" pitchFamily="34" charset="-122"/>
                <a:cs typeface="Calibri" pitchFamily="34" charset="-120"/>
              </a:rPr>
              <a:t>Automatic fault location, isolation, and service restoration — minimizing tenant downtime.</a:t>
            </a:r>
            <a:endParaRPr lang="en-US" sz="1030" dirty="0"/>
          </a:p>
        </p:txBody>
      </p:sp>
      <p:sp>
        <p:nvSpPr>
          <p:cNvPr id="21" name="Shape 17"/>
          <p:cNvSpPr/>
          <p:nvPr/>
        </p:nvSpPr>
        <p:spPr>
          <a:xfrm>
            <a:off x="457200" y="2404872"/>
            <a:ext cx="4023360" cy="950976"/>
          </a:xfrm>
          <a:prstGeom prst="roundRect">
            <a:avLst>
              <a:gd name="adj" fmla="val 7692"/>
            </a:avLst>
          </a:prstGeom>
          <a:solidFill>
            <a:srgbClr val="FFFFFF"/>
          </a:solidFill>
          <a:ln w="6350">
            <a:solidFill>
              <a:srgbClr val="CCCCCC"/>
            </a:solidFill>
            <a:prstDash val="solid"/>
          </a:ln>
          <a:effectLst>
            <a:outerShdw sx="100000" sy="100000" kx="0" ky="0" algn="bl" rotWithShape="0" blurRad="76200" dist="25400" dir="2700000">
              <a:srgbClr val="000000">
                <a:alpha val="10000"/>
              </a:srgbClr>
            </a:outerShdw>
          </a:effectLst>
        </p:spPr>
      </p:sp>
      <p:sp>
        <p:nvSpPr>
          <p:cNvPr id="22" name="Shape 18"/>
          <p:cNvSpPr/>
          <p:nvPr/>
        </p:nvSpPr>
        <p:spPr>
          <a:xfrm>
            <a:off x="640080" y="2660904"/>
            <a:ext cx="457200" cy="457200"/>
          </a:xfrm>
          <a:prstGeom prst="ellipse">
            <a:avLst/>
          </a:prstGeom>
          <a:solidFill>
            <a:srgbClr val="E6F0FA"/>
          </a:solidFill>
          <a:ln w="12700">
            <a:solidFill>
              <a:srgbClr val="E6F0FA"/>
            </a:solidFill>
            <a:prstDash val="solid"/>
          </a:ln>
        </p:spPr>
      </p:sp>
      <p:pic>
        <p:nvPicPr>
          <p:cNvPr id="23" name="Image 2" descr="preencoded.png">    </p:cNvPr>
          <p:cNvPicPr>
            <a:picLocks noChangeAspect="1"/>
          </p:cNvPicPr>
          <p:nvPr/>
        </p:nvPicPr>
        <p:blipFill>
          <a:blip r:embed="rId3"/>
          <a:stretch>
            <a:fillRect/>
          </a:stretch>
        </p:blipFill>
        <p:spPr>
          <a:xfrm>
            <a:off x="740664" y="2761488"/>
            <a:ext cx="256032" cy="256032"/>
          </a:xfrm>
          <a:prstGeom prst="rect">
            <a:avLst/>
          </a:prstGeom>
        </p:spPr>
      </p:pic>
      <p:sp>
        <p:nvSpPr>
          <p:cNvPr id="24" name="Text 19"/>
          <p:cNvSpPr/>
          <p:nvPr/>
        </p:nvSpPr>
        <p:spPr>
          <a:xfrm>
            <a:off x="1207008" y="2532888"/>
            <a:ext cx="3108960" cy="292608"/>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Volt/VAR optimization</a:t>
            </a:r>
            <a:endParaRPr lang="en-US" sz="1300" dirty="0"/>
          </a:p>
        </p:txBody>
      </p:sp>
      <p:sp>
        <p:nvSpPr>
          <p:cNvPr id="25" name="Text 20"/>
          <p:cNvSpPr/>
          <p:nvPr/>
        </p:nvSpPr>
        <p:spPr>
          <a:xfrm>
            <a:off x="1207008" y="2825496"/>
            <a:ext cx="3108960" cy="457200"/>
          </a:xfrm>
          <a:prstGeom prst="rect">
            <a:avLst/>
          </a:prstGeom>
          <a:noFill/>
          <a:ln/>
        </p:spPr>
        <p:txBody>
          <a:bodyPr wrap="square" lIns="0" tIns="0" rIns="0" bIns="0" rtlCol="0" anchor="t"/>
          <a:lstStyle/>
          <a:p>
            <a:pPr indent="0" marL="0">
              <a:lnSpc>
                <a:spcPct val="102000"/>
              </a:lnSpc>
              <a:buNone/>
            </a:pPr>
            <a:r>
              <a:rPr lang="en-US" sz="1030" dirty="0">
                <a:solidFill>
                  <a:srgbClr val="5F5E5A"/>
                </a:solidFill>
                <a:latin typeface="Calibri" pitchFamily="34" charset="0"/>
                <a:ea typeface="Calibri" pitchFamily="34" charset="-122"/>
                <a:cs typeface="Calibri" pitchFamily="34" charset="-120"/>
              </a:rPr>
              <a:t>Reduced transformer losses and extended asset life across the network.</a:t>
            </a:r>
            <a:endParaRPr lang="en-US" sz="1030" dirty="0"/>
          </a:p>
        </p:txBody>
      </p:sp>
      <p:sp>
        <p:nvSpPr>
          <p:cNvPr id="26" name="Shape 21"/>
          <p:cNvSpPr/>
          <p:nvPr/>
        </p:nvSpPr>
        <p:spPr>
          <a:xfrm>
            <a:off x="4663440" y="2404872"/>
            <a:ext cx="4023360" cy="950976"/>
          </a:xfrm>
          <a:prstGeom prst="roundRect">
            <a:avLst>
              <a:gd name="adj" fmla="val 7692"/>
            </a:avLst>
          </a:prstGeom>
          <a:solidFill>
            <a:srgbClr val="FFFFFF"/>
          </a:solidFill>
          <a:ln w="6350">
            <a:solidFill>
              <a:srgbClr val="CCCCCC"/>
            </a:solidFill>
            <a:prstDash val="solid"/>
          </a:ln>
          <a:effectLst>
            <a:outerShdw sx="100000" sy="100000" kx="0" ky="0" algn="bl" rotWithShape="0" blurRad="76200" dist="25400" dir="2700000">
              <a:srgbClr val="000000">
                <a:alpha val="10000"/>
              </a:srgbClr>
            </a:outerShdw>
          </a:effectLst>
        </p:spPr>
      </p:sp>
      <p:sp>
        <p:nvSpPr>
          <p:cNvPr id="27" name="Shape 22"/>
          <p:cNvSpPr/>
          <p:nvPr/>
        </p:nvSpPr>
        <p:spPr>
          <a:xfrm>
            <a:off x="4846320" y="2660904"/>
            <a:ext cx="457200" cy="457200"/>
          </a:xfrm>
          <a:prstGeom prst="ellipse">
            <a:avLst/>
          </a:prstGeom>
          <a:solidFill>
            <a:srgbClr val="E6F0FA"/>
          </a:solidFill>
          <a:ln w="12700">
            <a:solidFill>
              <a:srgbClr val="E6F0FA"/>
            </a:solidFill>
            <a:prstDash val="solid"/>
          </a:ln>
        </p:spPr>
      </p:sp>
      <p:pic>
        <p:nvPicPr>
          <p:cNvPr id="28" name="Image 3" descr="preencoded.png">    </p:cNvPr>
          <p:cNvPicPr>
            <a:picLocks noChangeAspect="1"/>
          </p:cNvPicPr>
          <p:nvPr/>
        </p:nvPicPr>
        <p:blipFill>
          <a:blip r:embed="rId4"/>
          <a:stretch>
            <a:fillRect/>
          </a:stretch>
        </p:blipFill>
        <p:spPr>
          <a:xfrm>
            <a:off x="4946904" y="2761488"/>
            <a:ext cx="256032" cy="256032"/>
          </a:xfrm>
          <a:prstGeom prst="rect">
            <a:avLst/>
          </a:prstGeom>
        </p:spPr>
      </p:pic>
      <p:sp>
        <p:nvSpPr>
          <p:cNvPr id="29" name="Text 23"/>
          <p:cNvSpPr/>
          <p:nvPr/>
        </p:nvSpPr>
        <p:spPr>
          <a:xfrm>
            <a:off x="5413248" y="2532888"/>
            <a:ext cx="3108960" cy="292608"/>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Zero-export monitoring</a:t>
            </a:r>
            <a:endParaRPr lang="en-US" sz="1300" dirty="0"/>
          </a:p>
        </p:txBody>
      </p:sp>
      <p:sp>
        <p:nvSpPr>
          <p:cNvPr id="30" name="Text 24"/>
          <p:cNvSpPr/>
          <p:nvPr/>
        </p:nvSpPr>
        <p:spPr>
          <a:xfrm>
            <a:off x="5413248" y="2825496"/>
            <a:ext cx="3108960" cy="457200"/>
          </a:xfrm>
          <a:prstGeom prst="rect">
            <a:avLst/>
          </a:prstGeom>
          <a:noFill/>
          <a:ln/>
        </p:spPr>
        <p:txBody>
          <a:bodyPr wrap="square" lIns="0" tIns="0" rIns="0" bIns="0" rtlCol="0" anchor="t"/>
          <a:lstStyle/>
          <a:p>
            <a:pPr indent="0" marL="0">
              <a:lnSpc>
                <a:spcPct val="102000"/>
              </a:lnSpc>
              <a:buNone/>
            </a:pPr>
            <a:r>
              <a:rPr lang="en-US" sz="1030" dirty="0">
                <a:solidFill>
                  <a:srgbClr val="5F5E5A"/>
                </a:solidFill>
                <a:latin typeface="Calibri" pitchFamily="34" charset="0"/>
                <a:ea typeface="Calibri" pitchFamily="34" charset="-122"/>
                <a:cs typeface="Calibri" pitchFamily="34" charset="-120"/>
              </a:rPr>
              <a:t>Alarms at POI and substation — live before full DERMS, as tenant solar energizes.</a:t>
            </a:r>
            <a:endParaRPr lang="en-US" sz="1030" dirty="0"/>
          </a:p>
        </p:txBody>
      </p:sp>
      <p:sp>
        <p:nvSpPr>
          <p:cNvPr id="31" name="Shape 25"/>
          <p:cNvSpPr/>
          <p:nvPr/>
        </p:nvSpPr>
        <p:spPr>
          <a:xfrm>
            <a:off x="457200" y="3611880"/>
            <a:ext cx="8229600" cy="786384"/>
          </a:xfrm>
          <a:prstGeom prst="roundRect">
            <a:avLst>
              <a:gd name="adj" fmla="val 9302"/>
            </a:avLst>
          </a:prstGeom>
          <a:solidFill>
            <a:srgbClr val="123139"/>
          </a:solidFill>
          <a:ln w="12700">
            <a:solidFill>
              <a:srgbClr val="123139"/>
            </a:solidFill>
            <a:prstDash val="solid"/>
          </a:ln>
        </p:spPr>
      </p:sp>
      <p:sp>
        <p:nvSpPr>
          <p:cNvPr id="32" name="Shape 26"/>
          <p:cNvSpPr/>
          <p:nvPr/>
        </p:nvSpPr>
        <p:spPr>
          <a:xfrm>
            <a:off x="713232" y="3803904"/>
            <a:ext cx="420624" cy="420624"/>
          </a:xfrm>
          <a:prstGeom prst="ellipse">
            <a:avLst/>
          </a:prstGeom>
          <a:solidFill>
            <a:srgbClr val="1C5260"/>
          </a:solidFill>
          <a:ln w="12700">
            <a:solidFill>
              <a:srgbClr val="1C5260"/>
            </a:solidFill>
            <a:prstDash val="solid"/>
          </a:ln>
        </p:spPr>
      </p:sp>
      <p:pic>
        <p:nvPicPr>
          <p:cNvPr id="33" name="Image 4" descr="preencoded.png">    </p:cNvPr>
          <p:cNvPicPr>
            <a:picLocks noChangeAspect="1"/>
          </p:cNvPicPr>
          <p:nvPr/>
        </p:nvPicPr>
        <p:blipFill>
          <a:blip r:embed="rId5"/>
          <a:stretch>
            <a:fillRect/>
          </a:stretch>
        </p:blipFill>
        <p:spPr>
          <a:xfrm>
            <a:off x="805769" y="3896441"/>
            <a:ext cx="235549" cy="235549"/>
          </a:xfrm>
          <a:prstGeom prst="rect">
            <a:avLst/>
          </a:prstGeom>
        </p:spPr>
      </p:pic>
      <p:sp>
        <p:nvSpPr>
          <p:cNvPr id="34" name="Text 27"/>
          <p:cNvSpPr/>
          <p:nvPr/>
        </p:nvSpPr>
        <p:spPr>
          <a:xfrm>
            <a:off x="1325880" y="3611880"/>
            <a:ext cx="7178040" cy="786384"/>
          </a:xfrm>
          <a:prstGeom prst="rect">
            <a:avLst/>
          </a:prstGeom>
          <a:noFill/>
          <a:ln/>
        </p:spPr>
        <p:txBody>
          <a:bodyPr wrap="square" lIns="0" tIns="0" rIns="0" bIns="0" rtlCol="0" anchor="ctr"/>
          <a:lstStyle/>
          <a:p>
            <a:pPr indent="0" marL="0">
              <a:lnSpc>
                <a:spcPct val="100000"/>
              </a:lnSpc>
              <a:buNone/>
            </a:pPr>
            <a:r>
              <a:rPr lang="en-US" sz="1150" dirty="0">
                <a:solidFill>
                  <a:srgbClr val="FFFFFF"/>
                </a:solidFill>
                <a:latin typeface="Calibri" pitchFamily="34" charset="0"/>
                <a:ea typeface="Calibri" pitchFamily="34" charset="-122"/>
                <a:cs typeface="Calibri" pitchFamily="34" charset="-120"/>
              </a:rPr>
              <a:t>The first tenant rooftop solar connections go live before DERMS is deployed. Zero-export risk management must start in Phase 2 — you cannot wait.</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 cy="384048"/>
          </a:xfrm>
          <a:prstGeom prst="rect">
            <a:avLst/>
          </a:prstGeom>
          <a:solidFill>
            <a:srgbClr val="D94F1E"/>
          </a:solidFill>
          <a:ln w="12700">
            <a:solidFill>
              <a:srgbClr val="D94F1E"/>
            </a:solidFill>
            <a:prstDash val="solid"/>
          </a:ln>
        </p:spPr>
      </p:sp>
      <p:sp>
        <p:nvSpPr>
          <p:cNvPr id="3" name="Text 1"/>
          <p:cNvSpPr/>
          <p:nvPr/>
        </p:nvSpPr>
        <p:spPr>
          <a:xfrm>
            <a:off x="502920" y="146304"/>
            <a:ext cx="8229600" cy="658368"/>
          </a:xfrm>
          <a:prstGeom prst="rect">
            <a:avLst/>
          </a:prstGeom>
          <a:noFill/>
          <a:ln/>
        </p:spPr>
        <p:txBody>
          <a:bodyPr wrap="square" lIns="0" tIns="0" rIns="0" bIns="0" rtlCol="0" anchor="ctr"/>
          <a:lstStyle/>
          <a:p>
            <a:pPr indent="0" marL="0">
              <a:buNone/>
            </a:pPr>
            <a:r>
              <a:rPr lang="en-US" sz="3000" b="1" dirty="0">
                <a:solidFill>
                  <a:srgbClr val="2B7A8C"/>
                </a:solidFill>
                <a:latin typeface="Calibri" pitchFamily="34" charset="0"/>
                <a:ea typeface="Calibri" pitchFamily="34" charset="-122"/>
                <a:cs typeface="Calibri" pitchFamily="34" charset="-120"/>
              </a:rPr>
              <a:t>Phases 3–5: The Journey to Smart Energy</a:t>
            </a:r>
            <a:endParaRPr lang="en-US" sz="3000" dirty="0"/>
          </a:p>
        </p:txBody>
      </p:sp>
      <p:sp>
        <p:nvSpPr>
          <p:cNvPr id="4" name="Shape 2"/>
          <p:cNvSpPr/>
          <p:nvPr/>
        </p:nvSpPr>
        <p:spPr>
          <a:xfrm>
            <a:off x="365760" y="4736592"/>
            <a:ext cx="8412480" cy="0"/>
          </a:xfrm>
          <a:prstGeom prst="line">
            <a:avLst/>
          </a:prstGeom>
          <a:noFill/>
          <a:ln w="12700">
            <a:solidFill>
              <a:srgbClr val="E2E2E0"/>
            </a:solidFill>
            <a:prstDash val="solid"/>
          </a:ln>
        </p:spPr>
      </p:sp>
      <p:sp>
        <p:nvSpPr>
          <p:cNvPr id="5" name="Text 3"/>
          <p:cNvSpPr/>
          <p:nvPr/>
        </p:nvSpPr>
        <p:spPr>
          <a:xfrm>
            <a:off x="365760" y="4773168"/>
            <a:ext cx="2011680" cy="27432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Survalent</a:t>
            </a:r>
            <a:pPr indent="0" marL="0">
              <a:buNone/>
            </a:pPr>
            <a:r>
              <a:rPr lang="en-US" sz="1300" b="1" dirty="0">
                <a:solidFill>
                  <a:srgbClr val="D94F1E"/>
                </a:solidFill>
                <a:latin typeface="Calibri" pitchFamily="34" charset="0"/>
                <a:ea typeface="Calibri" pitchFamily="34" charset="-122"/>
                <a:cs typeface="Calibri" pitchFamily="34" charset="-120"/>
              </a:rPr>
              <a:t>.</a:t>
            </a:r>
            <a:endParaRPr lang="en-US" sz="1300" dirty="0"/>
          </a:p>
        </p:txBody>
      </p:sp>
      <p:sp>
        <p:nvSpPr>
          <p:cNvPr id="6" name="Text 4"/>
          <p:cNvSpPr/>
          <p:nvPr/>
        </p:nvSpPr>
        <p:spPr>
          <a:xfrm>
            <a:off x="2926080" y="4809744"/>
            <a:ext cx="3291840" cy="237744"/>
          </a:xfrm>
          <a:prstGeom prst="rect">
            <a:avLst/>
          </a:prstGeom>
          <a:noFill/>
          <a:ln/>
        </p:spPr>
        <p:txBody>
          <a:bodyPr wrap="square" lIns="0" tIns="0" rIns="0" bIns="0" rtlCol="0" anchor="ctr"/>
          <a:lstStyle/>
          <a:p>
            <a:pPr algn="ctr" indent="0" marL="0">
              <a:buNone/>
            </a:pPr>
            <a:r>
              <a:rPr lang="en-US" sz="800" spc="200" kern="0" dirty="0">
                <a:solidFill>
                  <a:srgbClr val="8A8A85"/>
                </a:solidFill>
              </a:rPr>
              <a:t>Confidential &amp; Proprietary</a:t>
            </a:r>
            <a:endParaRPr lang="en-US" sz="800" dirty="0"/>
          </a:p>
        </p:txBody>
      </p:sp>
      <p:sp>
        <p:nvSpPr>
          <p:cNvPr id="7" name="Text 5"/>
          <p:cNvSpPr/>
          <p:nvPr/>
        </p:nvSpPr>
        <p:spPr>
          <a:xfrm>
            <a:off x="8229600" y="4809744"/>
            <a:ext cx="548640" cy="237744"/>
          </a:xfrm>
          <a:prstGeom prst="rect">
            <a:avLst/>
          </a:prstGeom>
          <a:noFill/>
          <a:ln/>
        </p:spPr>
        <p:txBody>
          <a:bodyPr wrap="square" lIns="0" tIns="0" rIns="0" bIns="0" rtlCol="0" anchor="ctr"/>
          <a:lstStyle/>
          <a:p>
            <a:pPr algn="r" indent="0" marL="0">
              <a:buNone/>
            </a:pPr>
            <a:r>
              <a:rPr lang="en-US" sz="900" dirty="0">
                <a:solidFill>
                  <a:srgbClr val="8A8A85"/>
                </a:solidFill>
              </a:rPr>
              <a:t>19</a:t>
            </a:r>
            <a:endParaRPr lang="en-US" sz="900" dirty="0"/>
          </a:p>
        </p:txBody>
      </p:sp>
      <p:sp>
        <p:nvSpPr>
          <p:cNvPr id="8" name="Shape 6"/>
          <p:cNvSpPr/>
          <p:nvPr/>
        </p:nvSpPr>
        <p:spPr>
          <a:xfrm>
            <a:off x="457200" y="1051560"/>
            <a:ext cx="2624328" cy="3383280"/>
          </a:xfrm>
          <a:prstGeom prst="roundRect">
            <a:avLst>
              <a:gd name="adj" fmla="val 2787"/>
            </a:avLst>
          </a:prstGeom>
          <a:solidFill>
            <a:srgbClr val="FFFFFF"/>
          </a:solidFill>
          <a:ln w="12700">
            <a:solidFill>
              <a:srgbClr val="B5D38A"/>
            </a:solidFill>
            <a:prstDash val="solid"/>
          </a:ln>
          <a:effectLst>
            <a:outerShdw sx="100000" sy="100000" kx="0" ky="0" algn="bl" rotWithShape="0" blurRad="76200" dist="25400" dir="2700000">
              <a:srgbClr val="000000">
                <a:alpha val="10000"/>
              </a:srgbClr>
            </a:outerShdw>
          </a:effectLst>
        </p:spPr>
      </p:sp>
      <p:sp>
        <p:nvSpPr>
          <p:cNvPr id="9" name="Shape 7"/>
          <p:cNvSpPr/>
          <p:nvPr/>
        </p:nvSpPr>
        <p:spPr>
          <a:xfrm>
            <a:off x="457200" y="1051560"/>
            <a:ext cx="2624328" cy="841248"/>
          </a:xfrm>
          <a:prstGeom prst="roundRect">
            <a:avLst>
              <a:gd name="adj" fmla="val 8696"/>
            </a:avLst>
          </a:prstGeom>
          <a:solidFill>
            <a:srgbClr val="EAF3DE"/>
          </a:solidFill>
          <a:ln w="12700">
            <a:solidFill>
              <a:srgbClr val="EAF3DE"/>
            </a:solidFill>
            <a:prstDash val="solid"/>
          </a:ln>
        </p:spPr>
      </p:sp>
      <p:sp>
        <p:nvSpPr>
          <p:cNvPr id="10" name="Shape 8"/>
          <p:cNvSpPr/>
          <p:nvPr/>
        </p:nvSpPr>
        <p:spPr>
          <a:xfrm>
            <a:off x="640080" y="1234440"/>
            <a:ext cx="475488" cy="475488"/>
          </a:xfrm>
          <a:prstGeom prst="ellipse">
            <a:avLst/>
          </a:prstGeom>
          <a:solidFill>
            <a:srgbClr val="5E9022"/>
          </a:solidFill>
          <a:ln w="12700">
            <a:solidFill>
              <a:srgbClr val="5E9022"/>
            </a:solidFill>
            <a:prstDash val="solid"/>
          </a:ln>
        </p:spPr>
      </p:sp>
      <p:sp>
        <p:nvSpPr>
          <p:cNvPr id="11" name="Text 9"/>
          <p:cNvSpPr/>
          <p:nvPr/>
        </p:nvSpPr>
        <p:spPr>
          <a:xfrm>
            <a:off x="640080" y="1234440"/>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2" name="Text 10"/>
          <p:cNvSpPr/>
          <p:nvPr/>
        </p:nvSpPr>
        <p:spPr>
          <a:xfrm>
            <a:off x="1207008" y="1216152"/>
            <a:ext cx="1801368" cy="256032"/>
          </a:xfrm>
          <a:prstGeom prst="rect">
            <a:avLst/>
          </a:prstGeom>
          <a:noFill/>
          <a:ln/>
        </p:spPr>
        <p:txBody>
          <a:bodyPr wrap="square" lIns="0" tIns="0" rIns="0" bIns="0" rtlCol="0" anchor="ctr"/>
          <a:lstStyle/>
          <a:p>
            <a:pPr indent="0" marL="0">
              <a:buNone/>
            </a:pPr>
            <a:r>
              <a:rPr lang="en-US" sz="1100" b="1" dirty="0">
                <a:solidFill>
                  <a:srgbClr val="3C5E12"/>
                </a:solidFill>
                <a:latin typeface="Calibri" pitchFamily="34" charset="0"/>
                <a:ea typeface="Calibri" pitchFamily="34" charset="-122"/>
                <a:cs typeface="Calibri" pitchFamily="34" charset="-120"/>
              </a:rPr>
              <a:t>Phase 3</a:t>
            </a:r>
            <a:endParaRPr lang="en-US" sz="1100" dirty="0"/>
          </a:p>
        </p:txBody>
      </p:sp>
      <p:sp>
        <p:nvSpPr>
          <p:cNvPr id="13" name="Text 11"/>
          <p:cNvSpPr/>
          <p:nvPr/>
        </p:nvSpPr>
        <p:spPr>
          <a:xfrm>
            <a:off x="1207008" y="1472184"/>
            <a:ext cx="1801368" cy="219456"/>
          </a:xfrm>
          <a:prstGeom prst="rect">
            <a:avLst/>
          </a:prstGeom>
          <a:noFill/>
          <a:ln/>
        </p:spPr>
        <p:txBody>
          <a:bodyPr wrap="square" lIns="0" tIns="0" rIns="0" bIns="0" rtlCol="0" anchor="ctr"/>
          <a:lstStyle/>
          <a:p>
            <a:pPr indent="0" marL="0">
              <a:buNone/>
            </a:pPr>
            <a:r>
              <a:rPr lang="en-US" sz="900" i="1" dirty="0">
                <a:solidFill>
                  <a:srgbClr val="5F5E5A"/>
                </a:solidFill>
                <a:latin typeface="Calibri" pitchFamily="34" charset="0"/>
                <a:ea typeface="Calibri" pitchFamily="34" charset="-122"/>
                <a:cs typeface="Calibri" pitchFamily="34" charset="-120"/>
              </a:rPr>
              <a:t>As RTS scales</a:t>
            </a:r>
            <a:endParaRPr lang="en-US" sz="900" dirty="0"/>
          </a:p>
        </p:txBody>
      </p:sp>
      <p:sp>
        <p:nvSpPr>
          <p:cNvPr id="14" name="Text 12"/>
          <p:cNvSpPr/>
          <p:nvPr/>
        </p:nvSpPr>
        <p:spPr>
          <a:xfrm>
            <a:off x="640080" y="1965960"/>
            <a:ext cx="2258568" cy="566928"/>
          </a:xfrm>
          <a:prstGeom prst="rect">
            <a:avLst/>
          </a:prstGeom>
          <a:noFill/>
          <a:ln/>
        </p:spPr>
        <p:txBody>
          <a:bodyPr wrap="square" lIns="0" tIns="0" rIns="0" bIns="0" rtlCol="0" anchor="t"/>
          <a:lstStyle/>
          <a:p>
            <a:pPr indent="0" marL="0">
              <a:lnSpc>
                <a:spcPct val="100000"/>
              </a:lnSpc>
              <a:buNone/>
            </a:pPr>
            <a:r>
              <a:rPr lang="en-US" sz="1300" b="1" dirty="0">
                <a:solidFill>
                  <a:srgbClr val="1A1A1A"/>
                </a:solidFill>
                <a:latin typeface="Calibri" pitchFamily="34" charset="0"/>
                <a:ea typeface="Calibri" pitchFamily="34" charset="-122"/>
                <a:cs typeface="Calibri" pitchFamily="34" charset="-120"/>
              </a:rPr>
              <a:t>Renewable integration</a:t>
            </a:r>
            <a:endParaRPr lang="en-US" sz="1300" dirty="0"/>
          </a:p>
        </p:txBody>
      </p:sp>
      <p:sp>
        <p:nvSpPr>
          <p:cNvPr id="15" name="Shape 13"/>
          <p:cNvSpPr/>
          <p:nvPr/>
        </p:nvSpPr>
        <p:spPr>
          <a:xfrm>
            <a:off x="676656" y="2706624"/>
            <a:ext cx="91440" cy="91440"/>
          </a:xfrm>
          <a:prstGeom prst="ellipse">
            <a:avLst/>
          </a:prstGeom>
          <a:solidFill>
            <a:srgbClr val="5E9022"/>
          </a:solidFill>
          <a:ln w="12700">
            <a:solidFill>
              <a:srgbClr val="5E9022"/>
            </a:solidFill>
            <a:prstDash val="solid"/>
          </a:ln>
        </p:spPr>
      </p:sp>
      <p:sp>
        <p:nvSpPr>
          <p:cNvPr id="16" name="Text 14"/>
          <p:cNvSpPr/>
          <p:nvPr/>
        </p:nvSpPr>
        <p:spPr>
          <a:xfrm>
            <a:off x="859536" y="2642616"/>
            <a:ext cx="2057400" cy="384048"/>
          </a:xfrm>
          <a:prstGeom prst="rect">
            <a:avLst/>
          </a:prstGeom>
          <a:noFill/>
          <a:ln/>
        </p:spPr>
        <p:txBody>
          <a:bodyPr wrap="square" lIns="0" tIns="0" rIns="0" bIns="0" rtlCol="0" anchor="ctr"/>
          <a:lstStyle/>
          <a:p>
            <a:pPr indent="0" marL="0">
              <a:lnSpc>
                <a:spcPct val="95000"/>
              </a:lnSpc>
              <a:buNone/>
            </a:pPr>
            <a:r>
              <a:rPr lang="en-US" sz="950" dirty="0">
                <a:solidFill>
                  <a:srgbClr val="5F5E5A"/>
                </a:solidFill>
                <a:latin typeface="Calibri" pitchFamily="34" charset="0"/>
                <a:ea typeface="Calibri" pitchFamily="34" charset="-122"/>
                <a:cs typeface="Calibri" pitchFamily="34" charset="-120"/>
              </a:rPr>
              <a:t>DERMS brings all RTS under control</a:t>
            </a:r>
            <a:endParaRPr lang="en-US" sz="950" dirty="0"/>
          </a:p>
        </p:txBody>
      </p:sp>
      <p:sp>
        <p:nvSpPr>
          <p:cNvPr id="17" name="Shape 15"/>
          <p:cNvSpPr/>
          <p:nvPr/>
        </p:nvSpPr>
        <p:spPr>
          <a:xfrm>
            <a:off x="676656" y="3127248"/>
            <a:ext cx="91440" cy="91440"/>
          </a:xfrm>
          <a:prstGeom prst="ellipse">
            <a:avLst/>
          </a:prstGeom>
          <a:solidFill>
            <a:srgbClr val="5E9022"/>
          </a:solidFill>
          <a:ln w="12700">
            <a:solidFill>
              <a:srgbClr val="5E9022"/>
            </a:solidFill>
            <a:prstDash val="solid"/>
          </a:ln>
        </p:spPr>
      </p:sp>
      <p:sp>
        <p:nvSpPr>
          <p:cNvPr id="18" name="Text 16"/>
          <p:cNvSpPr/>
          <p:nvPr/>
        </p:nvSpPr>
        <p:spPr>
          <a:xfrm>
            <a:off x="859536" y="3063240"/>
            <a:ext cx="2057400" cy="384048"/>
          </a:xfrm>
          <a:prstGeom prst="rect">
            <a:avLst/>
          </a:prstGeom>
          <a:noFill/>
          <a:ln/>
        </p:spPr>
        <p:txBody>
          <a:bodyPr wrap="square" lIns="0" tIns="0" rIns="0" bIns="0" rtlCol="0" anchor="ctr"/>
          <a:lstStyle/>
          <a:p>
            <a:pPr indent="0" marL="0">
              <a:lnSpc>
                <a:spcPct val="95000"/>
              </a:lnSpc>
              <a:buNone/>
            </a:pPr>
            <a:r>
              <a:rPr lang="en-US" sz="950" dirty="0">
                <a:solidFill>
                  <a:srgbClr val="5F5E5A"/>
                </a:solidFill>
                <a:latin typeface="Calibri" pitchFamily="34" charset="0"/>
                <a:ea typeface="Calibri" pitchFamily="34" charset="-122"/>
                <a:cs typeface="Calibri" pitchFamily="34" charset="-120"/>
              </a:rPr>
              <a:t>Closed-loop zero-export &amp; forecasting</a:t>
            </a:r>
            <a:endParaRPr lang="en-US" sz="950" dirty="0"/>
          </a:p>
        </p:txBody>
      </p:sp>
      <p:sp>
        <p:nvSpPr>
          <p:cNvPr id="19" name="Shape 17"/>
          <p:cNvSpPr/>
          <p:nvPr/>
        </p:nvSpPr>
        <p:spPr>
          <a:xfrm>
            <a:off x="676656" y="3547872"/>
            <a:ext cx="91440" cy="91440"/>
          </a:xfrm>
          <a:prstGeom prst="ellipse">
            <a:avLst/>
          </a:prstGeom>
          <a:solidFill>
            <a:srgbClr val="5E9022"/>
          </a:solidFill>
          <a:ln w="12700">
            <a:solidFill>
              <a:srgbClr val="5E9022"/>
            </a:solidFill>
            <a:prstDash val="solid"/>
          </a:ln>
        </p:spPr>
      </p:sp>
      <p:sp>
        <p:nvSpPr>
          <p:cNvPr id="20" name="Text 18"/>
          <p:cNvSpPr/>
          <p:nvPr/>
        </p:nvSpPr>
        <p:spPr>
          <a:xfrm>
            <a:off x="859536" y="3483864"/>
            <a:ext cx="2057400" cy="384048"/>
          </a:xfrm>
          <a:prstGeom prst="rect">
            <a:avLst/>
          </a:prstGeom>
          <a:noFill/>
          <a:ln/>
        </p:spPr>
        <p:txBody>
          <a:bodyPr wrap="square" lIns="0" tIns="0" rIns="0" bIns="0" rtlCol="0" anchor="ctr"/>
          <a:lstStyle/>
          <a:p>
            <a:pPr indent="0" marL="0">
              <a:lnSpc>
                <a:spcPct val="95000"/>
              </a:lnSpc>
              <a:buNone/>
            </a:pPr>
            <a:r>
              <a:rPr lang="en-US" sz="950" dirty="0">
                <a:solidFill>
                  <a:srgbClr val="5F5E5A"/>
                </a:solidFill>
                <a:latin typeface="Calibri" pitchFamily="34" charset="0"/>
                <a:ea typeface="Calibri" pitchFamily="34" charset="-122"/>
                <a:cs typeface="Calibri" pitchFamily="34" charset="-120"/>
              </a:rPr>
              <a:t>BESS solar smoothing &amp; storage</a:t>
            </a:r>
            <a:endParaRPr lang="en-US" sz="950" dirty="0"/>
          </a:p>
        </p:txBody>
      </p:sp>
      <p:sp>
        <p:nvSpPr>
          <p:cNvPr id="21" name="Shape 19"/>
          <p:cNvSpPr/>
          <p:nvPr/>
        </p:nvSpPr>
        <p:spPr>
          <a:xfrm>
            <a:off x="603504" y="3794760"/>
            <a:ext cx="2331720" cy="512064"/>
          </a:xfrm>
          <a:prstGeom prst="roundRect">
            <a:avLst>
              <a:gd name="adj" fmla="val 8929"/>
            </a:avLst>
          </a:prstGeom>
          <a:solidFill>
            <a:srgbClr val="EAF3DE"/>
          </a:solidFill>
          <a:ln w="12700">
            <a:solidFill>
              <a:srgbClr val="EAF3DE"/>
            </a:solidFill>
            <a:prstDash val="solid"/>
          </a:ln>
        </p:spPr>
      </p:sp>
      <p:sp>
        <p:nvSpPr>
          <p:cNvPr id="22" name="Text 20"/>
          <p:cNvSpPr/>
          <p:nvPr/>
        </p:nvSpPr>
        <p:spPr>
          <a:xfrm>
            <a:off x="694944" y="3794760"/>
            <a:ext cx="2148840" cy="512064"/>
          </a:xfrm>
          <a:prstGeom prst="rect">
            <a:avLst/>
          </a:prstGeom>
          <a:noFill/>
          <a:ln/>
        </p:spPr>
        <p:txBody>
          <a:bodyPr wrap="square" lIns="0" tIns="0" rIns="0" bIns="0" rtlCol="0" anchor="ctr"/>
          <a:lstStyle/>
          <a:p>
            <a:pPr indent="0" marL="0">
              <a:lnSpc>
                <a:spcPct val="95000"/>
              </a:lnSpc>
              <a:buNone/>
            </a:pPr>
            <a:r>
              <a:rPr lang="en-US" sz="900" b="1" i="1" dirty="0">
                <a:solidFill>
                  <a:srgbClr val="3C5E12"/>
                </a:solidFill>
                <a:latin typeface="Calibri" pitchFamily="34" charset="0"/>
                <a:ea typeface="Calibri" pitchFamily="34" charset="-122"/>
                <a:cs typeface="Calibri" pitchFamily="34" charset="-120"/>
              </a:rPr>
              <a:t>Zero export guaranteed; renewables fully orchestrated</a:t>
            </a:r>
            <a:endParaRPr lang="en-US" sz="900" dirty="0"/>
          </a:p>
        </p:txBody>
      </p:sp>
      <p:sp>
        <p:nvSpPr>
          <p:cNvPr id="23" name="Shape 21"/>
          <p:cNvSpPr/>
          <p:nvPr/>
        </p:nvSpPr>
        <p:spPr>
          <a:xfrm>
            <a:off x="3264408" y="1051560"/>
            <a:ext cx="2624328" cy="3383280"/>
          </a:xfrm>
          <a:prstGeom prst="roundRect">
            <a:avLst>
              <a:gd name="adj" fmla="val 2787"/>
            </a:avLst>
          </a:prstGeom>
          <a:solidFill>
            <a:srgbClr val="FFFFFF"/>
          </a:solidFill>
          <a:ln w="12700">
            <a:solidFill>
              <a:srgbClr val="EFC174"/>
            </a:solidFill>
            <a:prstDash val="solid"/>
          </a:ln>
          <a:effectLst>
            <a:outerShdw sx="100000" sy="100000" kx="0" ky="0" algn="bl" rotWithShape="0" blurRad="76200" dist="25400" dir="2700000">
              <a:srgbClr val="000000">
                <a:alpha val="10000"/>
              </a:srgbClr>
            </a:outerShdw>
          </a:effectLst>
        </p:spPr>
      </p:sp>
      <p:sp>
        <p:nvSpPr>
          <p:cNvPr id="24" name="Shape 22"/>
          <p:cNvSpPr/>
          <p:nvPr/>
        </p:nvSpPr>
        <p:spPr>
          <a:xfrm>
            <a:off x="3264408" y="1051560"/>
            <a:ext cx="2624328" cy="841248"/>
          </a:xfrm>
          <a:prstGeom prst="roundRect">
            <a:avLst>
              <a:gd name="adj" fmla="val 8696"/>
            </a:avLst>
          </a:prstGeom>
          <a:solidFill>
            <a:srgbClr val="FBEEDA"/>
          </a:solidFill>
          <a:ln w="12700">
            <a:solidFill>
              <a:srgbClr val="FBEEDA"/>
            </a:solidFill>
            <a:prstDash val="solid"/>
          </a:ln>
        </p:spPr>
      </p:sp>
      <p:sp>
        <p:nvSpPr>
          <p:cNvPr id="25" name="Shape 23"/>
          <p:cNvSpPr/>
          <p:nvPr/>
        </p:nvSpPr>
        <p:spPr>
          <a:xfrm>
            <a:off x="3447288" y="1234440"/>
            <a:ext cx="475488" cy="475488"/>
          </a:xfrm>
          <a:prstGeom prst="ellipse">
            <a:avLst/>
          </a:prstGeom>
          <a:solidFill>
            <a:srgbClr val="B5760F"/>
          </a:solidFill>
          <a:ln w="12700">
            <a:solidFill>
              <a:srgbClr val="B5760F"/>
            </a:solidFill>
            <a:prstDash val="solid"/>
          </a:ln>
        </p:spPr>
      </p:sp>
      <p:sp>
        <p:nvSpPr>
          <p:cNvPr id="26" name="Text 24"/>
          <p:cNvSpPr/>
          <p:nvPr/>
        </p:nvSpPr>
        <p:spPr>
          <a:xfrm>
            <a:off x="3447288" y="1234440"/>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27" name="Text 25"/>
          <p:cNvSpPr/>
          <p:nvPr/>
        </p:nvSpPr>
        <p:spPr>
          <a:xfrm>
            <a:off x="4014216" y="1216152"/>
            <a:ext cx="1801368" cy="256032"/>
          </a:xfrm>
          <a:prstGeom prst="rect">
            <a:avLst/>
          </a:prstGeom>
          <a:noFill/>
          <a:ln/>
        </p:spPr>
        <p:txBody>
          <a:bodyPr wrap="square" lIns="0" tIns="0" rIns="0" bIns="0" rtlCol="0" anchor="ctr"/>
          <a:lstStyle/>
          <a:p>
            <a:pPr indent="0" marL="0">
              <a:buNone/>
            </a:pPr>
            <a:r>
              <a:rPr lang="en-US" sz="1100" b="1" dirty="0">
                <a:solidFill>
                  <a:srgbClr val="7A4E08"/>
                </a:solidFill>
                <a:latin typeface="Calibri" pitchFamily="34" charset="0"/>
                <a:ea typeface="Calibri" pitchFamily="34" charset="-122"/>
                <a:cs typeface="Calibri" pitchFamily="34" charset="-120"/>
              </a:rPr>
              <a:t>Phase 4</a:t>
            </a:r>
            <a:endParaRPr lang="en-US" sz="1100" dirty="0"/>
          </a:p>
        </p:txBody>
      </p:sp>
      <p:sp>
        <p:nvSpPr>
          <p:cNvPr id="28" name="Text 26"/>
          <p:cNvSpPr/>
          <p:nvPr/>
        </p:nvSpPr>
        <p:spPr>
          <a:xfrm>
            <a:off x="4014216" y="1472184"/>
            <a:ext cx="1801368" cy="219456"/>
          </a:xfrm>
          <a:prstGeom prst="rect">
            <a:avLst/>
          </a:prstGeom>
          <a:noFill/>
          <a:ln/>
        </p:spPr>
        <p:txBody>
          <a:bodyPr wrap="square" lIns="0" tIns="0" rIns="0" bIns="0" rtlCol="0" anchor="ctr"/>
          <a:lstStyle/>
          <a:p>
            <a:pPr indent="0" marL="0">
              <a:buNone/>
            </a:pPr>
            <a:r>
              <a:rPr lang="en-US" sz="900" i="1" dirty="0">
                <a:solidFill>
                  <a:srgbClr val="5F5E5A"/>
                </a:solidFill>
                <a:latin typeface="Calibri" pitchFamily="34" charset="0"/>
                <a:ea typeface="Calibri" pitchFamily="34" charset="-122"/>
                <a:cs typeface="Calibri" pitchFamily="34" charset="-120"/>
              </a:rPr>
              <a:t>Full build-out</a:t>
            </a:r>
            <a:endParaRPr lang="en-US" sz="900" dirty="0"/>
          </a:p>
        </p:txBody>
      </p:sp>
      <p:sp>
        <p:nvSpPr>
          <p:cNvPr id="29" name="Text 27"/>
          <p:cNvSpPr/>
          <p:nvPr/>
        </p:nvSpPr>
        <p:spPr>
          <a:xfrm>
            <a:off x="3447288" y="1965960"/>
            <a:ext cx="2258568" cy="566928"/>
          </a:xfrm>
          <a:prstGeom prst="rect">
            <a:avLst/>
          </a:prstGeom>
          <a:noFill/>
          <a:ln/>
        </p:spPr>
        <p:txBody>
          <a:bodyPr wrap="square" lIns="0" tIns="0" rIns="0" bIns="0" rtlCol="0" anchor="t"/>
          <a:lstStyle/>
          <a:p>
            <a:pPr indent="0" marL="0">
              <a:lnSpc>
                <a:spcPct val="100000"/>
              </a:lnSpc>
              <a:buNone/>
            </a:pPr>
            <a:r>
              <a:rPr lang="en-US" sz="1300" b="1" dirty="0">
                <a:solidFill>
                  <a:srgbClr val="1A1A1A"/>
                </a:solidFill>
                <a:latin typeface="Calibri" pitchFamily="34" charset="0"/>
                <a:ea typeface="Calibri" pitchFamily="34" charset="-122"/>
                <a:cs typeface="Calibri" pitchFamily="34" charset="-120"/>
              </a:rPr>
              <a:t>Microgrid &amp; resilience</a:t>
            </a:r>
            <a:endParaRPr lang="en-US" sz="1300" dirty="0"/>
          </a:p>
        </p:txBody>
      </p:sp>
      <p:sp>
        <p:nvSpPr>
          <p:cNvPr id="30" name="Shape 28"/>
          <p:cNvSpPr/>
          <p:nvPr/>
        </p:nvSpPr>
        <p:spPr>
          <a:xfrm>
            <a:off x="3483864" y="2706624"/>
            <a:ext cx="91440" cy="91440"/>
          </a:xfrm>
          <a:prstGeom prst="ellipse">
            <a:avLst/>
          </a:prstGeom>
          <a:solidFill>
            <a:srgbClr val="B5760F"/>
          </a:solidFill>
          <a:ln w="12700">
            <a:solidFill>
              <a:srgbClr val="B5760F"/>
            </a:solidFill>
            <a:prstDash val="solid"/>
          </a:ln>
        </p:spPr>
      </p:sp>
      <p:sp>
        <p:nvSpPr>
          <p:cNvPr id="31" name="Text 29"/>
          <p:cNvSpPr/>
          <p:nvPr/>
        </p:nvSpPr>
        <p:spPr>
          <a:xfrm>
            <a:off x="3666744" y="2642616"/>
            <a:ext cx="2057400" cy="384048"/>
          </a:xfrm>
          <a:prstGeom prst="rect">
            <a:avLst/>
          </a:prstGeom>
          <a:noFill/>
          <a:ln/>
        </p:spPr>
        <p:txBody>
          <a:bodyPr wrap="square" lIns="0" tIns="0" rIns="0" bIns="0" rtlCol="0" anchor="ctr"/>
          <a:lstStyle/>
          <a:p>
            <a:pPr indent="0" marL="0">
              <a:lnSpc>
                <a:spcPct val="95000"/>
              </a:lnSpc>
              <a:buNone/>
            </a:pPr>
            <a:r>
              <a:rPr lang="en-US" sz="950" dirty="0">
                <a:solidFill>
                  <a:srgbClr val="5F5E5A"/>
                </a:solidFill>
                <a:latin typeface="Calibri" pitchFamily="34" charset="0"/>
                <a:ea typeface="Calibri" pitchFamily="34" charset="-122"/>
                <a:cs typeface="Calibri" pitchFamily="34" charset="-120"/>
              </a:rPr>
              <a:t>Microgrid controller integration</a:t>
            </a:r>
            <a:endParaRPr lang="en-US" sz="950" dirty="0"/>
          </a:p>
        </p:txBody>
      </p:sp>
      <p:sp>
        <p:nvSpPr>
          <p:cNvPr id="32" name="Shape 30"/>
          <p:cNvSpPr/>
          <p:nvPr/>
        </p:nvSpPr>
        <p:spPr>
          <a:xfrm>
            <a:off x="3483864" y="3127248"/>
            <a:ext cx="91440" cy="91440"/>
          </a:xfrm>
          <a:prstGeom prst="ellipse">
            <a:avLst/>
          </a:prstGeom>
          <a:solidFill>
            <a:srgbClr val="B5760F"/>
          </a:solidFill>
          <a:ln w="12700">
            <a:solidFill>
              <a:srgbClr val="B5760F"/>
            </a:solidFill>
            <a:prstDash val="solid"/>
          </a:ln>
        </p:spPr>
      </p:sp>
      <p:sp>
        <p:nvSpPr>
          <p:cNvPr id="33" name="Text 31"/>
          <p:cNvSpPr/>
          <p:nvPr/>
        </p:nvSpPr>
        <p:spPr>
          <a:xfrm>
            <a:off x="3666744" y="3063240"/>
            <a:ext cx="2057400" cy="384048"/>
          </a:xfrm>
          <a:prstGeom prst="rect">
            <a:avLst/>
          </a:prstGeom>
          <a:noFill/>
          <a:ln/>
        </p:spPr>
        <p:txBody>
          <a:bodyPr wrap="square" lIns="0" tIns="0" rIns="0" bIns="0" rtlCol="0" anchor="ctr"/>
          <a:lstStyle/>
          <a:p>
            <a:pPr indent="0" marL="0">
              <a:lnSpc>
                <a:spcPct val="95000"/>
              </a:lnSpc>
              <a:buNone/>
            </a:pPr>
            <a:r>
              <a:rPr lang="en-US" sz="950" dirty="0">
                <a:solidFill>
                  <a:srgbClr val="5F5E5A"/>
                </a:solidFill>
                <a:latin typeface="Calibri" pitchFamily="34" charset="0"/>
                <a:ea typeface="Calibri" pitchFamily="34" charset="-122"/>
                <a:cs typeface="Calibri" pitchFamily="34" charset="-120"/>
              </a:rPr>
              <a:t>Automatic islanding &amp; black start</a:t>
            </a:r>
            <a:endParaRPr lang="en-US" sz="950" dirty="0"/>
          </a:p>
        </p:txBody>
      </p:sp>
      <p:sp>
        <p:nvSpPr>
          <p:cNvPr id="34" name="Shape 32"/>
          <p:cNvSpPr/>
          <p:nvPr/>
        </p:nvSpPr>
        <p:spPr>
          <a:xfrm>
            <a:off x="3483864" y="3547872"/>
            <a:ext cx="91440" cy="91440"/>
          </a:xfrm>
          <a:prstGeom prst="ellipse">
            <a:avLst/>
          </a:prstGeom>
          <a:solidFill>
            <a:srgbClr val="B5760F"/>
          </a:solidFill>
          <a:ln w="12700">
            <a:solidFill>
              <a:srgbClr val="B5760F"/>
            </a:solidFill>
            <a:prstDash val="solid"/>
          </a:ln>
        </p:spPr>
      </p:sp>
      <p:sp>
        <p:nvSpPr>
          <p:cNvPr id="35" name="Text 33"/>
          <p:cNvSpPr/>
          <p:nvPr/>
        </p:nvSpPr>
        <p:spPr>
          <a:xfrm>
            <a:off x="3666744" y="3483864"/>
            <a:ext cx="2057400" cy="384048"/>
          </a:xfrm>
          <a:prstGeom prst="rect">
            <a:avLst/>
          </a:prstGeom>
          <a:noFill/>
          <a:ln/>
        </p:spPr>
        <p:txBody>
          <a:bodyPr wrap="square" lIns="0" tIns="0" rIns="0" bIns="0" rtlCol="0" anchor="ctr"/>
          <a:lstStyle/>
          <a:p>
            <a:pPr indent="0" marL="0">
              <a:lnSpc>
                <a:spcPct val="95000"/>
              </a:lnSpc>
              <a:buNone/>
            </a:pPr>
            <a:r>
              <a:rPr lang="en-US" sz="950" dirty="0">
                <a:solidFill>
                  <a:srgbClr val="5F5E5A"/>
                </a:solidFill>
                <a:latin typeface="Calibri" pitchFamily="34" charset="0"/>
                <a:ea typeface="Calibri" pitchFamily="34" charset="-122"/>
                <a:cs typeface="Calibri" pitchFamily="34" charset="-120"/>
              </a:rPr>
              <a:t>Grid-forming &amp; protection coord.</a:t>
            </a:r>
            <a:endParaRPr lang="en-US" sz="950" dirty="0"/>
          </a:p>
        </p:txBody>
      </p:sp>
      <p:sp>
        <p:nvSpPr>
          <p:cNvPr id="36" name="Shape 34"/>
          <p:cNvSpPr/>
          <p:nvPr/>
        </p:nvSpPr>
        <p:spPr>
          <a:xfrm>
            <a:off x="3410712" y="3794760"/>
            <a:ext cx="2331720" cy="512064"/>
          </a:xfrm>
          <a:prstGeom prst="roundRect">
            <a:avLst>
              <a:gd name="adj" fmla="val 8929"/>
            </a:avLst>
          </a:prstGeom>
          <a:solidFill>
            <a:srgbClr val="FBEEDA"/>
          </a:solidFill>
          <a:ln w="12700">
            <a:solidFill>
              <a:srgbClr val="FBEEDA"/>
            </a:solidFill>
            <a:prstDash val="solid"/>
          </a:ln>
        </p:spPr>
      </p:sp>
      <p:sp>
        <p:nvSpPr>
          <p:cNvPr id="37" name="Text 35"/>
          <p:cNvSpPr/>
          <p:nvPr/>
        </p:nvSpPr>
        <p:spPr>
          <a:xfrm>
            <a:off x="3502152" y="3794760"/>
            <a:ext cx="2148840" cy="512064"/>
          </a:xfrm>
          <a:prstGeom prst="rect">
            <a:avLst/>
          </a:prstGeom>
          <a:noFill/>
          <a:ln/>
        </p:spPr>
        <p:txBody>
          <a:bodyPr wrap="square" lIns="0" tIns="0" rIns="0" bIns="0" rtlCol="0" anchor="ctr"/>
          <a:lstStyle/>
          <a:p>
            <a:pPr indent="0" marL="0">
              <a:lnSpc>
                <a:spcPct val="95000"/>
              </a:lnSpc>
              <a:buNone/>
            </a:pPr>
            <a:r>
              <a:rPr lang="en-US" sz="900" b="1" i="1" dirty="0">
                <a:solidFill>
                  <a:srgbClr val="7A4E08"/>
                </a:solidFill>
                <a:latin typeface="Calibri" pitchFamily="34" charset="0"/>
                <a:ea typeface="Calibri" pitchFamily="34" charset="-122"/>
                <a:cs typeface="Calibri" pitchFamily="34" charset="-120"/>
              </a:rPr>
              <a:t>Operate through national grid outages</a:t>
            </a:r>
            <a:endParaRPr lang="en-US" sz="900" dirty="0"/>
          </a:p>
        </p:txBody>
      </p:sp>
      <p:sp>
        <p:nvSpPr>
          <p:cNvPr id="38" name="Shape 36"/>
          <p:cNvSpPr/>
          <p:nvPr/>
        </p:nvSpPr>
        <p:spPr>
          <a:xfrm>
            <a:off x="6071616" y="1051560"/>
            <a:ext cx="2624328" cy="3383280"/>
          </a:xfrm>
          <a:prstGeom prst="roundRect">
            <a:avLst>
              <a:gd name="adj" fmla="val 2787"/>
            </a:avLst>
          </a:prstGeom>
          <a:solidFill>
            <a:srgbClr val="FFFFFF"/>
          </a:solidFill>
          <a:ln w="12700">
            <a:solidFill>
              <a:srgbClr val="BCA9E0"/>
            </a:solidFill>
            <a:prstDash val="solid"/>
          </a:ln>
          <a:effectLst>
            <a:outerShdw sx="100000" sy="100000" kx="0" ky="0" algn="bl" rotWithShape="0" blurRad="76200" dist="25400" dir="2700000">
              <a:srgbClr val="000000">
                <a:alpha val="10000"/>
              </a:srgbClr>
            </a:outerShdw>
          </a:effectLst>
        </p:spPr>
      </p:sp>
      <p:sp>
        <p:nvSpPr>
          <p:cNvPr id="39" name="Shape 37"/>
          <p:cNvSpPr/>
          <p:nvPr/>
        </p:nvSpPr>
        <p:spPr>
          <a:xfrm>
            <a:off x="6071616" y="1051560"/>
            <a:ext cx="2624328" cy="841248"/>
          </a:xfrm>
          <a:prstGeom prst="roundRect">
            <a:avLst>
              <a:gd name="adj" fmla="val 8696"/>
            </a:avLst>
          </a:prstGeom>
          <a:solidFill>
            <a:srgbClr val="EEEAF7"/>
          </a:solidFill>
          <a:ln w="12700">
            <a:solidFill>
              <a:srgbClr val="EEEAF7"/>
            </a:solidFill>
            <a:prstDash val="solid"/>
          </a:ln>
        </p:spPr>
      </p:sp>
      <p:sp>
        <p:nvSpPr>
          <p:cNvPr id="40" name="Shape 38"/>
          <p:cNvSpPr/>
          <p:nvPr/>
        </p:nvSpPr>
        <p:spPr>
          <a:xfrm>
            <a:off x="6254496" y="1234440"/>
            <a:ext cx="475488" cy="475488"/>
          </a:xfrm>
          <a:prstGeom prst="ellipse">
            <a:avLst/>
          </a:prstGeom>
          <a:solidFill>
            <a:srgbClr val="6A4FB0"/>
          </a:solidFill>
          <a:ln w="12700">
            <a:solidFill>
              <a:srgbClr val="6A4FB0"/>
            </a:solidFill>
            <a:prstDash val="solid"/>
          </a:ln>
        </p:spPr>
      </p:sp>
      <p:sp>
        <p:nvSpPr>
          <p:cNvPr id="41" name="Text 39"/>
          <p:cNvSpPr/>
          <p:nvPr/>
        </p:nvSpPr>
        <p:spPr>
          <a:xfrm>
            <a:off x="6254496" y="1234440"/>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5</a:t>
            </a:r>
            <a:endParaRPr lang="en-US" sz="1700" dirty="0"/>
          </a:p>
        </p:txBody>
      </p:sp>
      <p:sp>
        <p:nvSpPr>
          <p:cNvPr id="42" name="Text 40"/>
          <p:cNvSpPr/>
          <p:nvPr/>
        </p:nvSpPr>
        <p:spPr>
          <a:xfrm>
            <a:off x="6821424" y="1216152"/>
            <a:ext cx="1801368" cy="256032"/>
          </a:xfrm>
          <a:prstGeom prst="rect">
            <a:avLst/>
          </a:prstGeom>
          <a:noFill/>
          <a:ln/>
        </p:spPr>
        <p:txBody>
          <a:bodyPr wrap="square" lIns="0" tIns="0" rIns="0" bIns="0" rtlCol="0" anchor="ctr"/>
          <a:lstStyle/>
          <a:p>
            <a:pPr indent="0" marL="0">
              <a:buNone/>
            </a:pPr>
            <a:r>
              <a:rPr lang="en-US" sz="1100" b="1" dirty="0">
                <a:solidFill>
                  <a:srgbClr val="412C7A"/>
                </a:solidFill>
                <a:latin typeface="Calibri" pitchFamily="34" charset="0"/>
                <a:ea typeface="Calibri" pitchFamily="34" charset="-122"/>
                <a:cs typeface="Calibri" pitchFamily="34" charset="-120"/>
              </a:rPr>
              <a:t>Phase 5</a:t>
            </a:r>
            <a:endParaRPr lang="en-US" sz="1100" dirty="0"/>
          </a:p>
        </p:txBody>
      </p:sp>
      <p:sp>
        <p:nvSpPr>
          <p:cNvPr id="43" name="Text 41"/>
          <p:cNvSpPr/>
          <p:nvPr/>
        </p:nvSpPr>
        <p:spPr>
          <a:xfrm>
            <a:off x="6821424" y="1472184"/>
            <a:ext cx="1801368" cy="219456"/>
          </a:xfrm>
          <a:prstGeom prst="rect">
            <a:avLst/>
          </a:prstGeom>
          <a:noFill/>
          <a:ln/>
        </p:spPr>
        <p:txBody>
          <a:bodyPr wrap="square" lIns="0" tIns="0" rIns="0" bIns="0" rtlCol="0" anchor="ctr"/>
          <a:lstStyle/>
          <a:p>
            <a:pPr indent="0" marL="0">
              <a:buNone/>
            </a:pPr>
            <a:r>
              <a:rPr lang="en-US" sz="900" i="1" dirty="0">
                <a:solidFill>
                  <a:srgbClr val="5F5E5A"/>
                </a:solidFill>
                <a:latin typeface="Calibri" pitchFamily="34" charset="0"/>
                <a:ea typeface="Calibri" pitchFamily="34" charset="-122"/>
                <a:cs typeface="Calibri" pitchFamily="34" charset="-120"/>
              </a:rPr>
              <a:t>Long-term vision</a:t>
            </a:r>
            <a:endParaRPr lang="en-US" sz="900" dirty="0"/>
          </a:p>
        </p:txBody>
      </p:sp>
      <p:sp>
        <p:nvSpPr>
          <p:cNvPr id="44" name="Text 42"/>
          <p:cNvSpPr/>
          <p:nvPr/>
        </p:nvSpPr>
        <p:spPr>
          <a:xfrm>
            <a:off x="6254496" y="1965960"/>
            <a:ext cx="2258568" cy="566928"/>
          </a:xfrm>
          <a:prstGeom prst="rect">
            <a:avLst/>
          </a:prstGeom>
          <a:noFill/>
          <a:ln/>
        </p:spPr>
        <p:txBody>
          <a:bodyPr wrap="square" lIns="0" tIns="0" rIns="0" bIns="0" rtlCol="0" anchor="t"/>
          <a:lstStyle/>
          <a:p>
            <a:pPr indent="0" marL="0">
              <a:lnSpc>
                <a:spcPct val="100000"/>
              </a:lnSpc>
              <a:buNone/>
            </a:pPr>
            <a:r>
              <a:rPr lang="en-US" sz="1300" b="1" dirty="0">
                <a:solidFill>
                  <a:srgbClr val="1A1A1A"/>
                </a:solidFill>
                <a:latin typeface="Calibri" pitchFamily="34" charset="0"/>
                <a:ea typeface="Calibri" pitchFamily="34" charset="-122"/>
                <a:cs typeface="Calibri" pitchFamily="34" charset="-120"/>
              </a:rPr>
              <a:t>Smart energy ecosystem</a:t>
            </a:r>
            <a:endParaRPr lang="en-US" sz="1300" dirty="0"/>
          </a:p>
        </p:txBody>
      </p:sp>
      <p:sp>
        <p:nvSpPr>
          <p:cNvPr id="45" name="Shape 43"/>
          <p:cNvSpPr/>
          <p:nvPr/>
        </p:nvSpPr>
        <p:spPr>
          <a:xfrm>
            <a:off x="6291072" y="2706624"/>
            <a:ext cx="91440" cy="91440"/>
          </a:xfrm>
          <a:prstGeom prst="ellipse">
            <a:avLst/>
          </a:prstGeom>
          <a:solidFill>
            <a:srgbClr val="6A4FB0"/>
          </a:solidFill>
          <a:ln w="12700">
            <a:solidFill>
              <a:srgbClr val="6A4FB0"/>
            </a:solidFill>
            <a:prstDash val="solid"/>
          </a:ln>
        </p:spPr>
      </p:sp>
      <p:sp>
        <p:nvSpPr>
          <p:cNvPr id="46" name="Text 44"/>
          <p:cNvSpPr/>
          <p:nvPr/>
        </p:nvSpPr>
        <p:spPr>
          <a:xfrm>
            <a:off x="6473952" y="2642616"/>
            <a:ext cx="2057400" cy="384048"/>
          </a:xfrm>
          <a:prstGeom prst="rect">
            <a:avLst/>
          </a:prstGeom>
          <a:noFill/>
          <a:ln/>
        </p:spPr>
        <p:txBody>
          <a:bodyPr wrap="square" lIns="0" tIns="0" rIns="0" bIns="0" rtlCol="0" anchor="ctr"/>
          <a:lstStyle/>
          <a:p>
            <a:pPr indent="0" marL="0">
              <a:lnSpc>
                <a:spcPct val="95000"/>
              </a:lnSpc>
              <a:buNone/>
            </a:pPr>
            <a:r>
              <a:rPr lang="en-US" sz="950" dirty="0">
                <a:solidFill>
                  <a:srgbClr val="5F5E5A"/>
                </a:solidFill>
                <a:latin typeface="Calibri" pitchFamily="34" charset="0"/>
                <a:ea typeface="Calibri" pitchFamily="34" charset="-122"/>
                <a:cs typeface="Calibri" pitchFamily="34" charset="-120"/>
              </a:rPr>
              <a:t>Advanced DERMS / VPP</a:t>
            </a:r>
            <a:endParaRPr lang="en-US" sz="950" dirty="0"/>
          </a:p>
        </p:txBody>
      </p:sp>
      <p:sp>
        <p:nvSpPr>
          <p:cNvPr id="47" name="Shape 45"/>
          <p:cNvSpPr/>
          <p:nvPr/>
        </p:nvSpPr>
        <p:spPr>
          <a:xfrm>
            <a:off x="6291072" y="3127248"/>
            <a:ext cx="91440" cy="91440"/>
          </a:xfrm>
          <a:prstGeom prst="ellipse">
            <a:avLst/>
          </a:prstGeom>
          <a:solidFill>
            <a:srgbClr val="6A4FB0"/>
          </a:solidFill>
          <a:ln w="12700">
            <a:solidFill>
              <a:srgbClr val="6A4FB0"/>
            </a:solidFill>
            <a:prstDash val="solid"/>
          </a:ln>
        </p:spPr>
      </p:sp>
      <p:sp>
        <p:nvSpPr>
          <p:cNvPr id="48" name="Text 46"/>
          <p:cNvSpPr/>
          <p:nvPr/>
        </p:nvSpPr>
        <p:spPr>
          <a:xfrm>
            <a:off x="6473952" y="3063240"/>
            <a:ext cx="2057400" cy="384048"/>
          </a:xfrm>
          <a:prstGeom prst="rect">
            <a:avLst/>
          </a:prstGeom>
          <a:noFill/>
          <a:ln/>
        </p:spPr>
        <p:txBody>
          <a:bodyPr wrap="square" lIns="0" tIns="0" rIns="0" bIns="0" rtlCol="0" anchor="ctr"/>
          <a:lstStyle/>
          <a:p>
            <a:pPr indent="0" marL="0">
              <a:lnSpc>
                <a:spcPct val="95000"/>
              </a:lnSpc>
              <a:buNone/>
            </a:pPr>
            <a:r>
              <a:rPr lang="en-US" sz="950" dirty="0">
                <a:solidFill>
                  <a:srgbClr val="5F5E5A"/>
                </a:solidFill>
                <a:latin typeface="Calibri" pitchFamily="34" charset="0"/>
                <a:ea typeface="Calibri" pitchFamily="34" charset="-122"/>
                <a:cs typeface="Calibri" pitchFamily="34" charset="-120"/>
              </a:rPr>
              <a:t>Demand response &amp; carbon accounting</a:t>
            </a:r>
            <a:endParaRPr lang="en-US" sz="950" dirty="0"/>
          </a:p>
        </p:txBody>
      </p:sp>
      <p:sp>
        <p:nvSpPr>
          <p:cNvPr id="49" name="Shape 47"/>
          <p:cNvSpPr/>
          <p:nvPr/>
        </p:nvSpPr>
        <p:spPr>
          <a:xfrm>
            <a:off x="6291072" y="3547872"/>
            <a:ext cx="91440" cy="91440"/>
          </a:xfrm>
          <a:prstGeom prst="ellipse">
            <a:avLst/>
          </a:prstGeom>
          <a:solidFill>
            <a:srgbClr val="6A4FB0"/>
          </a:solidFill>
          <a:ln w="12700">
            <a:solidFill>
              <a:srgbClr val="6A4FB0"/>
            </a:solidFill>
            <a:prstDash val="solid"/>
          </a:ln>
        </p:spPr>
      </p:sp>
      <p:sp>
        <p:nvSpPr>
          <p:cNvPr id="50" name="Text 48"/>
          <p:cNvSpPr/>
          <p:nvPr/>
        </p:nvSpPr>
        <p:spPr>
          <a:xfrm>
            <a:off x="6473952" y="3483864"/>
            <a:ext cx="2057400" cy="384048"/>
          </a:xfrm>
          <a:prstGeom prst="rect">
            <a:avLst/>
          </a:prstGeom>
          <a:noFill/>
          <a:ln/>
        </p:spPr>
        <p:txBody>
          <a:bodyPr wrap="square" lIns="0" tIns="0" rIns="0" bIns="0" rtlCol="0" anchor="ctr"/>
          <a:lstStyle/>
          <a:p>
            <a:pPr indent="0" marL="0">
              <a:lnSpc>
                <a:spcPct val="95000"/>
              </a:lnSpc>
              <a:buNone/>
            </a:pPr>
            <a:r>
              <a:rPr lang="en-US" sz="950" dirty="0">
                <a:solidFill>
                  <a:srgbClr val="5F5E5A"/>
                </a:solidFill>
                <a:latin typeface="Calibri" pitchFamily="34" charset="0"/>
                <a:ea typeface="Calibri" pitchFamily="34" charset="-122"/>
                <a:cs typeface="Calibri" pitchFamily="34" charset="-120"/>
              </a:rPr>
              <a:t>ESG dashboard, market-ready</a:t>
            </a:r>
            <a:endParaRPr lang="en-US" sz="950" dirty="0"/>
          </a:p>
        </p:txBody>
      </p:sp>
      <p:sp>
        <p:nvSpPr>
          <p:cNvPr id="51" name="Shape 49"/>
          <p:cNvSpPr/>
          <p:nvPr/>
        </p:nvSpPr>
        <p:spPr>
          <a:xfrm>
            <a:off x="6217920" y="3794760"/>
            <a:ext cx="2331720" cy="512064"/>
          </a:xfrm>
          <a:prstGeom prst="roundRect">
            <a:avLst>
              <a:gd name="adj" fmla="val 8929"/>
            </a:avLst>
          </a:prstGeom>
          <a:solidFill>
            <a:srgbClr val="EEEAF7"/>
          </a:solidFill>
          <a:ln w="12700">
            <a:solidFill>
              <a:srgbClr val="EEEAF7"/>
            </a:solidFill>
            <a:prstDash val="solid"/>
          </a:ln>
        </p:spPr>
      </p:sp>
      <p:sp>
        <p:nvSpPr>
          <p:cNvPr id="52" name="Text 50"/>
          <p:cNvSpPr/>
          <p:nvPr/>
        </p:nvSpPr>
        <p:spPr>
          <a:xfrm>
            <a:off x="6309360" y="3794760"/>
            <a:ext cx="2148840" cy="512064"/>
          </a:xfrm>
          <a:prstGeom prst="rect">
            <a:avLst/>
          </a:prstGeom>
          <a:noFill/>
          <a:ln/>
        </p:spPr>
        <p:txBody>
          <a:bodyPr wrap="square" lIns="0" tIns="0" rIns="0" bIns="0" rtlCol="0" anchor="ctr"/>
          <a:lstStyle/>
          <a:p>
            <a:pPr indent="0" marL="0">
              <a:lnSpc>
                <a:spcPct val="95000"/>
              </a:lnSpc>
              <a:buNone/>
            </a:pPr>
            <a:r>
              <a:rPr lang="en-US" sz="900" b="1" i="1" dirty="0">
                <a:solidFill>
                  <a:srgbClr val="412C7A"/>
                </a:solidFill>
                <a:latin typeface="Calibri" pitchFamily="34" charset="0"/>
                <a:ea typeface="Calibri" pitchFamily="34" charset="-122"/>
                <a:cs typeface="Calibri" pitchFamily="34" charset="-120"/>
              </a:rPr>
              <a:t>A flagship, globally benchmarkable park</a:t>
            </a:r>
            <a:endParaRPr lang="en-US" sz="900" dirty="0"/>
          </a:p>
        </p:txBody>
      </p:sp>
      <p:sp>
        <p:nvSpPr>
          <p:cNvPr id="53" name="Text 51"/>
          <p:cNvSpPr/>
          <p:nvPr/>
        </p:nvSpPr>
        <p:spPr>
          <a:xfrm>
            <a:off x="457200" y="4526280"/>
            <a:ext cx="8229600" cy="228600"/>
          </a:xfrm>
          <a:prstGeom prst="rect">
            <a:avLst/>
          </a:prstGeom>
          <a:noFill/>
          <a:ln/>
        </p:spPr>
        <p:txBody>
          <a:bodyPr wrap="square" lIns="0" tIns="0" rIns="0" bIns="0" rtlCol="0" anchor="ctr"/>
          <a:lstStyle/>
          <a:p>
            <a:pPr algn="ctr" indent="0" marL="0">
              <a:buNone/>
            </a:pPr>
            <a:r>
              <a:rPr lang="en-US" sz="1100" b="1" i="1" dirty="0">
                <a:solidFill>
                  <a:srgbClr val="2B7A8C"/>
                </a:solidFill>
                <a:latin typeface="Calibri" pitchFamily="34" charset="0"/>
                <a:ea typeface="Calibri" pitchFamily="34" charset="-122"/>
                <a:cs typeface="Calibri" pitchFamily="34" charset="-120"/>
              </a:rPr>
              <a:t>Each phase adds intelligence. Each phase adds value. No phase requires a rip-and-replace.</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23139"/>
        </a:solidFill>
      </p:bgPr>
    </p:bg>
    <p:spTree>
      <p:nvGrpSpPr>
        <p:cNvPr id="1" name=""/>
        <p:cNvGrpSpPr/>
        <p:nvPr/>
      </p:nvGrpSpPr>
      <p:grpSpPr>
        <a:xfrm>
          <a:off x="0" y="0"/>
          <a:ext cx="0" cy="0"/>
          <a:chOff x="0" y="0"/>
          <a:chExt cx="0" cy="0"/>
        </a:xfrm>
      </p:grpSpPr>
      <p:sp>
        <p:nvSpPr>
          <p:cNvPr id="2" name="Shape 0"/>
          <p:cNvSpPr/>
          <p:nvPr/>
        </p:nvSpPr>
        <p:spPr>
          <a:xfrm>
            <a:off x="6949440" y="-1280160"/>
            <a:ext cx="4206240" cy="4206240"/>
          </a:xfrm>
          <a:prstGeom prst="ellipse">
            <a:avLst/>
          </a:prstGeom>
          <a:solidFill>
            <a:srgbClr val="1C5260">
              <a:alpha val="65000"/>
            </a:srgbClr>
          </a:solidFill>
          <a:ln/>
        </p:spPr>
      </p:sp>
      <p:sp>
        <p:nvSpPr>
          <p:cNvPr id="3" name="Shape 1"/>
          <p:cNvSpPr/>
          <p:nvPr/>
        </p:nvSpPr>
        <p:spPr>
          <a:xfrm>
            <a:off x="8138160" y="2377440"/>
            <a:ext cx="2194560" cy="2194560"/>
          </a:xfrm>
          <a:prstGeom prst="ellipse">
            <a:avLst/>
          </a:prstGeom>
          <a:solidFill>
            <a:srgbClr val="2B7A8C">
              <a:alpha val="30000"/>
            </a:srgbClr>
          </a:solidFill>
          <a:ln/>
        </p:spPr>
      </p:sp>
      <p:sp>
        <p:nvSpPr>
          <p:cNvPr id="4" name="Shape 2"/>
          <p:cNvSpPr/>
          <p:nvPr/>
        </p:nvSpPr>
        <p:spPr>
          <a:xfrm>
            <a:off x="640080" y="1874520"/>
            <a:ext cx="457200" cy="64008"/>
          </a:xfrm>
          <a:prstGeom prst="rect">
            <a:avLst/>
          </a:prstGeom>
          <a:solidFill>
            <a:srgbClr val="D94F1E"/>
          </a:solidFill>
          <a:ln w="12700">
            <a:solidFill>
              <a:srgbClr val="D94F1E"/>
            </a:solidFill>
            <a:prstDash val="solid"/>
          </a:ln>
        </p:spPr>
      </p:sp>
      <p:sp>
        <p:nvSpPr>
          <p:cNvPr id="5" name="Text 3"/>
          <p:cNvSpPr/>
          <p:nvPr/>
        </p:nvSpPr>
        <p:spPr>
          <a:xfrm>
            <a:off x="640080" y="1325880"/>
            <a:ext cx="2743200" cy="457200"/>
          </a:xfrm>
          <a:prstGeom prst="rect">
            <a:avLst/>
          </a:prstGeom>
          <a:noFill/>
          <a:ln/>
        </p:spPr>
        <p:txBody>
          <a:bodyPr wrap="square" lIns="0" tIns="0" rIns="0" bIns="0" rtlCol="0" anchor="ctr"/>
          <a:lstStyle/>
          <a:p>
            <a:pPr indent="0" marL="0">
              <a:buNone/>
            </a:pPr>
            <a:r>
              <a:rPr lang="en-US" sz="1400" spc="300" kern="0" dirty="0">
                <a:solidFill>
                  <a:srgbClr val="BFE0DE"/>
                </a:solidFill>
                <a:latin typeface="Calibri" pitchFamily="34" charset="0"/>
                <a:ea typeface="Calibri" pitchFamily="34" charset="-122"/>
                <a:cs typeface="Calibri" pitchFamily="34" charset="-120"/>
              </a:rPr>
              <a:t>Section 06</a:t>
            </a:r>
            <a:endParaRPr lang="en-US" sz="1400" dirty="0"/>
          </a:p>
        </p:txBody>
      </p:sp>
      <p:sp>
        <p:nvSpPr>
          <p:cNvPr id="6" name="Text 4"/>
          <p:cNvSpPr/>
          <p:nvPr/>
        </p:nvSpPr>
        <p:spPr>
          <a:xfrm>
            <a:off x="640080" y="2011680"/>
            <a:ext cx="7680960" cy="109728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Our Recommendations for Today</a:t>
            </a:r>
            <a:endParaRPr lang="en-US" sz="4200" dirty="0"/>
          </a:p>
        </p:txBody>
      </p:sp>
      <p:sp>
        <p:nvSpPr>
          <p:cNvPr id="7" name="Text 5"/>
          <p:cNvSpPr/>
          <p:nvPr/>
        </p:nvSpPr>
        <p:spPr>
          <a:xfrm>
            <a:off x="658368" y="3063240"/>
            <a:ext cx="6949440" cy="457200"/>
          </a:xfrm>
          <a:prstGeom prst="rect">
            <a:avLst/>
          </a:prstGeom>
          <a:noFill/>
          <a:ln/>
        </p:spPr>
        <p:txBody>
          <a:bodyPr wrap="square" lIns="0" tIns="0" rIns="0" bIns="0" rtlCol="0" anchor="ctr"/>
          <a:lstStyle/>
          <a:p>
            <a:pPr indent="0" marL="0">
              <a:buNone/>
            </a:pPr>
            <a:r>
              <a:rPr lang="en-US" sz="1500" i="1" dirty="0">
                <a:solidFill>
                  <a:srgbClr val="BFE0DE"/>
                </a:solidFill>
                <a:latin typeface="Calibri" pitchFamily="34" charset="0"/>
                <a:ea typeface="Calibri" pitchFamily="34" charset="-122"/>
                <a:cs typeface="Calibri" pitchFamily="34" charset="-120"/>
              </a:rPr>
              <a:t>The decisions that protect your investment — and how we move forward together</a:t>
            </a:r>
            <a:endParaRPr lang="en-US" sz="1500" dirty="0"/>
          </a:p>
        </p:txBody>
      </p:sp>
      <p:sp>
        <p:nvSpPr>
          <p:cNvPr id="8" name="Text 6"/>
          <p:cNvSpPr/>
          <p:nvPr/>
        </p:nvSpPr>
        <p:spPr>
          <a:xfrm>
            <a:off x="640080" y="4572000"/>
            <a:ext cx="20116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Survalent</a:t>
            </a:r>
            <a:pPr indent="0" marL="0">
              <a:buNone/>
            </a:pPr>
            <a:r>
              <a:rPr lang="en-US" sz="1300" b="1" dirty="0">
                <a:solidFill>
                  <a:srgbClr val="D94F1E"/>
                </a:solidFill>
                <a:latin typeface="Calibri" pitchFamily="34" charset="0"/>
                <a:ea typeface="Calibri" pitchFamily="34" charset="-122"/>
                <a:cs typeface="Calibri" pitchFamily="34" charset="-120"/>
              </a:rPr>
              <a:t>.</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 cy="384048"/>
          </a:xfrm>
          <a:prstGeom prst="rect">
            <a:avLst/>
          </a:prstGeom>
          <a:solidFill>
            <a:srgbClr val="D94F1E"/>
          </a:solidFill>
          <a:ln w="12700">
            <a:solidFill>
              <a:srgbClr val="D94F1E"/>
            </a:solidFill>
            <a:prstDash val="solid"/>
          </a:ln>
        </p:spPr>
      </p:sp>
      <p:sp>
        <p:nvSpPr>
          <p:cNvPr id="3" name="Text 1"/>
          <p:cNvSpPr/>
          <p:nvPr/>
        </p:nvSpPr>
        <p:spPr>
          <a:xfrm>
            <a:off x="502920" y="146304"/>
            <a:ext cx="8229600" cy="658368"/>
          </a:xfrm>
          <a:prstGeom prst="rect">
            <a:avLst/>
          </a:prstGeom>
          <a:noFill/>
          <a:ln/>
        </p:spPr>
        <p:txBody>
          <a:bodyPr wrap="square" lIns="0" tIns="0" rIns="0" bIns="0" rtlCol="0" anchor="ctr"/>
          <a:lstStyle/>
          <a:p>
            <a:pPr indent="0" marL="0">
              <a:buNone/>
            </a:pPr>
            <a:r>
              <a:rPr lang="en-US" sz="3000" b="1" dirty="0">
                <a:solidFill>
                  <a:srgbClr val="2B7A8C"/>
                </a:solidFill>
                <a:latin typeface="Calibri" pitchFamily="34" charset="0"/>
                <a:ea typeface="Calibri" pitchFamily="34" charset="-122"/>
                <a:cs typeface="Calibri" pitchFamily="34" charset="-120"/>
              </a:rPr>
              <a:t>Decisions to Make Now</a:t>
            </a:r>
            <a:endParaRPr lang="en-US" sz="3000" dirty="0"/>
          </a:p>
        </p:txBody>
      </p:sp>
      <p:sp>
        <p:nvSpPr>
          <p:cNvPr id="4" name="Shape 2"/>
          <p:cNvSpPr/>
          <p:nvPr/>
        </p:nvSpPr>
        <p:spPr>
          <a:xfrm>
            <a:off x="365760" y="4736592"/>
            <a:ext cx="8412480" cy="0"/>
          </a:xfrm>
          <a:prstGeom prst="line">
            <a:avLst/>
          </a:prstGeom>
          <a:noFill/>
          <a:ln w="12700">
            <a:solidFill>
              <a:srgbClr val="E2E2E0"/>
            </a:solidFill>
            <a:prstDash val="solid"/>
          </a:ln>
        </p:spPr>
      </p:sp>
      <p:sp>
        <p:nvSpPr>
          <p:cNvPr id="5" name="Text 3"/>
          <p:cNvSpPr/>
          <p:nvPr/>
        </p:nvSpPr>
        <p:spPr>
          <a:xfrm>
            <a:off x="365760" y="4773168"/>
            <a:ext cx="2011680" cy="27432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Survalent</a:t>
            </a:r>
            <a:pPr indent="0" marL="0">
              <a:buNone/>
            </a:pPr>
            <a:r>
              <a:rPr lang="en-US" sz="1300" b="1" dirty="0">
                <a:solidFill>
                  <a:srgbClr val="D94F1E"/>
                </a:solidFill>
                <a:latin typeface="Calibri" pitchFamily="34" charset="0"/>
                <a:ea typeface="Calibri" pitchFamily="34" charset="-122"/>
                <a:cs typeface="Calibri" pitchFamily="34" charset="-120"/>
              </a:rPr>
              <a:t>.</a:t>
            </a:r>
            <a:endParaRPr lang="en-US" sz="1300" dirty="0"/>
          </a:p>
        </p:txBody>
      </p:sp>
      <p:sp>
        <p:nvSpPr>
          <p:cNvPr id="6" name="Text 4"/>
          <p:cNvSpPr/>
          <p:nvPr/>
        </p:nvSpPr>
        <p:spPr>
          <a:xfrm>
            <a:off x="2926080" y="4809744"/>
            <a:ext cx="3291840" cy="237744"/>
          </a:xfrm>
          <a:prstGeom prst="rect">
            <a:avLst/>
          </a:prstGeom>
          <a:noFill/>
          <a:ln/>
        </p:spPr>
        <p:txBody>
          <a:bodyPr wrap="square" lIns="0" tIns="0" rIns="0" bIns="0" rtlCol="0" anchor="ctr"/>
          <a:lstStyle/>
          <a:p>
            <a:pPr algn="ctr" indent="0" marL="0">
              <a:buNone/>
            </a:pPr>
            <a:r>
              <a:rPr lang="en-US" sz="800" spc="200" kern="0" dirty="0">
                <a:solidFill>
                  <a:srgbClr val="8A8A85"/>
                </a:solidFill>
              </a:rPr>
              <a:t>Confidential &amp; Proprietary</a:t>
            </a:r>
            <a:endParaRPr lang="en-US" sz="800" dirty="0"/>
          </a:p>
        </p:txBody>
      </p:sp>
      <p:sp>
        <p:nvSpPr>
          <p:cNvPr id="7" name="Text 5"/>
          <p:cNvSpPr/>
          <p:nvPr/>
        </p:nvSpPr>
        <p:spPr>
          <a:xfrm>
            <a:off x="8229600" y="4809744"/>
            <a:ext cx="548640" cy="237744"/>
          </a:xfrm>
          <a:prstGeom prst="rect">
            <a:avLst/>
          </a:prstGeom>
          <a:noFill/>
          <a:ln/>
        </p:spPr>
        <p:txBody>
          <a:bodyPr wrap="square" lIns="0" tIns="0" rIns="0" bIns="0" rtlCol="0" anchor="ctr"/>
          <a:lstStyle/>
          <a:p>
            <a:pPr algn="r" indent="0" marL="0">
              <a:buNone/>
            </a:pPr>
            <a:r>
              <a:rPr lang="en-US" sz="900" dirty="0">
                <a:solidFill>
                  <a:srgbClr val="8A8A85"/>
                </a:solidFill>
              </a:rPr>
              <a:t>21</a:t>
            </a:r>
            <a:endParaRPr lang="en-US" sz="900" dirty="0"/>
          </a:p>
        </p:txBody>
      </p:sp>
      <p:sp>
        <p:nvSpPr>
          <p:cNvPr id="8" name="Text 6"/>
          <p:cNvSpPr/>
          <p:nvPr/>
        </p:nvSpPr>
        <p:spPr>
          <a:xfrm>
            <a:off x="502920" y="768096"/>
            <a:ext cx="8229600" cy="274320"/>
          </a:xfrm>
          <a:prstGeom prst="rect">
            <a:avLst/>
          </a:prstGeom>
          <a:noFill/>
          <a:ln/>
        </p:spPr>
        <p:txBody>
          <a:bodyPr wrap="square" lIns="0" tIns="0" rIns="0" bIns="0" rtlCol="0" anchor="ctr"/>
          <a:lstStyle/>
          <a:p>
            <a:pPr indent="0" marL="0">
              <a:buNone/>
            </a:pPr>
            <a:r>
              <a:rPr lang="en-US" sz="1200" i="1" dirty="0">
                <a:solidFill>
                  <a:srgbClr val="5F5E5A"/>
                </a:solidFill>
                <a:latin typeface="Calibri" pitchFamily="34" charset="0"/>
                <a:ea typeface="Calibri" pitchFamily="34" charset="-122"/>
                <a:cs typeface="Calibri" pitchFamily="34" charset="-120"/>
              </a:rPr>
              <a:t>Design for Phase 5 while building Phase 1</a:t>
            </a:r>
            <a:endParaRPr lang="en-US" sz="1200" dirty="0"/>
          </a:p>
        </p:txBody>
      </p:sp>
      <p:sp>
        <p:nvSpPr>
          <p:cNvPr id="9" name="Shape 7"/>
          <p:cNvSpPr/>
          <p:nvPr/>
        </p:nvSpPr>
        <p:spPr>
          <a:xfrm>
            <a:off x="457200" y="1097280"/>
            <a:ext cx="4023360" cy="1060704"/>
          </a:xfrm>
          <a:prstGeom prst="roundRect">
            <a:avLst>
              <a:gd name="adj" fmla="val 6897"/>
            </a:avLst>
          </a:prstGeom>
          <a:solidFill>
            <a:srgbClr val="FFFFFF"/>
          </a:solidFill>
          <a:ln w="6350">
            <a:solidFill>
              <a:srgbClr val="CCCCCC"/>
            </a:solidFill>
            <a:prstDash val="solid"/>
          </a:ln>
          <a:effectLst>
            <a:outerShdw sx="100000" sy="100000" kx="0" ky="0" algn="bl" rotWithShape="0" blurRad="76200" dist="25400" dir="2700000">
              <a:srgbClr val="000000">
                <a:alpha val="10000"/>
              </a:srgbClr>
            </a:outerShdw>
          </a:effectLst>
        </p:spPr>
      </p:sp>
      <p:sp>
        <p:nvSpPr>
          <p:cNvPr id="10" name="Shape 8"/>
          <p:cNvSpPr/>
          <p:nvPr/>
        </p:nvSpPr>
        <p:spPr>
          <a:xfrm>
            <a:off x="603504" y="1261872"/>
            <a:ext cx="420624" cy="420624"/>
          </a:xfrm>
          <a:prstGeom prst="roundRect">
            <a:avLst>
              <a:gd name="adj" fmla="val 10870"/>
            </a:avLst>
          </a:prstGeom>
          <a:solidFill>
            <a:srgbClr val="2B7A8C"/>
          </a:solidFill>
          <a:ln w="12700">
            <a:solidFill>
              <a:srgbClr val="2B7A8C"/>
            </a:solidFill>
            <a:prstDash val="solid"/>
          </a:ln>
        </p:spPr>
      </p:sp>
      <p:sp>
        <p:nvSpPr>
          <p:cNvPr id="11" name="Text 9"/>
          <p:cNvSpPr/>
          <p:nvPr/>
        </p:nvSpPr>
        <p:spPr>
          <a:xfrm>
            <a:off x="603504" y="126187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12" name="Text 10"/>
          <p:cNvSpPr/>
          <p:nvPr/>
        </p:nvSpPr>
        <p:spPr>
          <a:xfrm>
            <a:off x="1133856" y="1216152"/>
            <a:ext cx="3200400" cy="292608"/>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Design the data model once</a:t>
            </a:r>
            <a:endParaRPr lang="en-US" sz="1250" dirty="0"/>
          </a:p>
        </p:txBody>
      </p:sp>
      <p:sp>
        <p:nvSpPr>
          <p:cNvPr id="13" name="Text 11"/>
          <p:cNvSpPr/>
          <p:nvPr/>
        </p:nvSpPr>
        <p:spPr>
          <a:xfrm>
            <a:off x="1133856" y="1508760"/>
            <a:ext cx="3200400" cy="603504"/>
          </a:xfrm>
          <a:prstGeom prst="rect">
            <a:avLst/>
          </a:prstGeom>
          <a:noFill/>
          <a:ln/>
        </p:spPr>
        <p:txBody>
          <a:bodyPr wrap="square" lIns="0" tIns="0" rIns="0" bIns="0" rtlCol="0" anchor="t"/>
          <a:lstStyle/>
          <a:p>
            <a:pPr indent="0" marL="0">
              <a:lnSpc>
                <a:spcPct val="100000"/>
              </a:lnSpc>
              <a:buNone/>
            </a:pPr>
            <a:r>
              <a:rPr lang="en-US" sz="970" dirty="0">
                <a:solidFill>
                  <a:srgbClr val="5F5E5A"/>
                </a:solidFill>
                <a:latin typeface="Calibri" pitchFamily="34" charset="0"/>
                <a:ea typeface="Calibri" pitchFamily="34" charset="-122"/>
                <a:cs typeface="Calibri" pitchFamily="34" charset="-120"/>
              </a:rPr>
              <a:t>Network model, asset hierarchy, and naming must be set in Phase 1. DERMS cannot layer onto a poor SCADA model without costly rework.</a:t>
            </a:r>
            <a:endParaRPr lang="en-US" sz="970" dirty="0"/>
          </a:p>
        </p:txBody>
      </p:sp>
      <p:sp>
        <p:nvSpPr>
          <p:cNvPr id="14" name="Shape 12"/>
          <p:cNvSpPr/>
          <p:nvPr/>
        </p:nvSpPr>
        <p:spPr>
          <a:xfrm>
            <a:off x="4663440" y="1097280"/>
            <a:ext cx="4023360" cy="1060704"/>
          </a:xfrm>
          <a:prstGeom prst="roundRect">
            <a:avLst>
              <a:gd name="adj" fmla="val 6897"/>
            </a:avLst>
          </a:prstGeom>
          <a:solidFill>
            <a:srgbClr val="FFFFFF"/>
          </a:solidFill>
          <a:ln w="6350">
            <a:solidFill>
              <a:srgbClr val="CCCCCC"/>
            </a:solidFill>
            <a:prstDash val="solid"/>
          </a:ln>
          <a:effectLst>
            <a:outerShdw sx="100000" sy="100000" kx="0" ky="0" algn="bl" rotWithShape="0" blurRad="76200" dist="25400" dir="2700000">
              <a:srgbClr val="000000">
                <a:alpha val="10000"/>
              </a:srgbClr>
            </a:outerShdw>
          </a:effectLst>
        </p:spPr>
      </p:sp>
      <p:sp>
        <p:nvSpPr>
          <p:cNvPr id="15" name="Shape 13"/>
          <p:cNvSpPr/>
          <p:nvPr/>
        </p:nvSpPr>
        <p:spPr>
          <a:xfrm>
            <a:off x="4809744" y="1261872"/>
            <a:ext cx="420624" cy="420624"/>
          </a:xfrm>
          <a:prstGeom prst="roundRect">
            <a:avLst>
              <a:gd name="adj" fmla="val 10870"/>
            </a:avLst>
          </a:prstGeom>
          <a:solidFill>
            <a:srgbClr val="2B7A8C"/>
          </a:solidFill>
          <a:ln w="12700">
            <a:solidFill>
              <a:srgbClr val="2B7A8C"/>
            </a:solidFill>
            <a:prstDash val="solid"/>
          </a:ln>
        </p:spPr>
      </p:sp>
      <p:sp>
        <p:nvSpPr>
          <p:cNvPr id="16" name="Text 14"/>
          <p:cNvSpPr/>
          <p:nvPr/>
        </p:nvSpPr>
        <p:spPr>
          <a:xfrm>
            <a:off x="4809744" y="126187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7" name="Text 15"/>
          <p:cNvSpPr/>
          <p:nvPr/>
        </p:nvSpPr>
        <p:spPr>
          <a:xfrm>
            <a:off x="5340096" y="1216152"/>
            <a:ext cx="3200400" cy="292608"/>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Zero export starts Phase 2</a:t>
            </a:r>
            <a:endParaRPr lang="en-US" sz="1250" dirty="0"/>
          </a:p>
        </p:txBody>
      </p:sp>
      <p:sp>
        <p:nvSpPr>
          <p:cNvPr id="18" name="Text 16"/>
          <p:cNvSpPr/>
          <p:nvPr/>
        </p:nvSpPr>
        <p:spPr>
          <a:xfrm>
            <a:off x="5340096" y="1508760"/>
            <a:ext cx="3200400" cy="603504"/>
          </a:xfrm>
          <a:prstGeom prst="rect">
            <a:avLst/>
          </a:prstGeom>
          <a:noFill/>
          <a:ln/>
        </p:spPr>
        <p:txBody>
          <a:bodyPr wrap="square" lIns="0" tIns="0" rIns="0" bIns="0" rtlCol="0" anchor="t"/>
          <a:lstStyle/>
          <a:p>
            <a:pPr indent="0" marL="0">
              <a:lnSpc>
                <a:spcPct val="100000"/>
              </a:lnSpc>
              <a:buNone/>
            </a:pPr>
            <a:r>
              <a:rPr lang="en-US" sz="970" dirty="0">
                <a:solidFill>
                  <a:srgbClr val="5F5E5A"/>
                </a:solidFill>
                <a:latin typeface="Calibri" pitchFamily="34" charset="0"/>
                <a:ea typeface="Calibri" pitchFamily="34" charset="-122"/>
                <a:cs typeface="Calibri" pitchFamily="34" charset="-120"/>
              </a:rPr>
              <a:t>The first tenant solar energizes before full DERMS. Monitoring and alarms belong in ADMS now; closed-loop control follows in Phase 3.</a:t>
            </a:r>
            <a:endParaRPr lang="en-US" sz="970" dirty="0"/>
          </a:p>
        </p:txBody>
      </p:sp>
      <p:sp>
        <p:nvSpPr>
          <p:cNvPr id="19" name="Shape 17"/>
          <p:cNvSpPr/>
          <p:nvPr/>
        </p:nvSpPr>
        <p:spPr>
          <a:xfrm>
            <a:off x="457200" y="2267712"/>
            <a:ext cx="4023360" cy="1060704"/>
          </a:xfrm>
          <a:prstGeom prst="roundRect">
            <a:avLst>
              <a:gd name="adj" fmla="val 6897"/>
            </a:avLst>
          </a:prstGeom>
          <a:solidFill>
            <a:srgbClr val="FFFFFF"/>
          </a:solidFill>
          <a:ln w="6350">
            <a:solidFill>
              <a:srgbClr val="CCCCCC"/>
            </a:solidFill>
            <a:prstDash val="solid"/>
          </a:ln>
          <a:effectLst>
            <a:outerShdw sx="100000" sy="100000" kx="0" ky="0" algn="bl" rotWithShape="0" blurRad="76200" dist="25400" dir="2700000">
              <a:srgbClr val="000000">
                <a:alpha val="10000"/>
              </a:srgbClr>
            </a:outerShdw>
          </a:effectLst>
        </p:spPr>
      </p:sp>
      <p:sp>
        <p:nvSpPr>
          <p:cNvPr id="20" name="Shape 18"/>
          <p:cNvSpPr/>
          <p:nvPr/>
        </p:nvSpPr>
        <p:spPr>
          <a:xfrm>
            <a:off x="603504" y="2432304"/>
            <a:ext cx="420624" cy="420624"/>
          </a:xfrm>
          <a:prstGeom prst="roundRect">
            <a:avLst>
              <a:gd name="adj" fmla="val 10870"/>
            </a:avLst>
          </a:prstGeom>
          <a:solidFill>
            <a:srgbClr val="2B7A8C"/>
          </a:solidFill>
          <a:ln w="12700">
            <a:solidFill>
              <a:srgbClr val="2B7A8C"/>
            </a:solidFill>
            <a:prstDash val="solid"/>
          </a:ln>
        </p:spPr>
      </p:sp>
      <p:sp>
        <p:nvSpPr>
          <p:cNvPr id="21" name="Text 19"/>
          <p:cNvSpPr/>
          <p:nvPr/>
        </p:nvSpPr>
        <p:spPr>
          <a:xfrm>
            <a:off x="603504" y="243230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22" name="Text 20"/>
          <p:cNvSpPr/>
          <p:nvPr/>
        </p:nvSpPr>
        <p:spPr>
          <a:xfrm>
            <a:off x="1133856" y="2386584"/>
            <a:ext cx="3200400" cy="292608"/>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Clarify RTS ownership</a:t>
            </a:r>
            <a:endParaRPr lang="en-US" sz="1250" dirty="0"/>
          </a:p>
        </p:txBody>
      </p:sp>
      <p:sp>
        <p:nvSpPr>
          <p:cNvPr id="23" name="Text 21"/>
          <p:cNvSpPr/>
          <p:nvPr/>
        </p:nvSpPr>
        <p:spPr>
          <a:xfrm>
            <a:off x="1133856" y="2679192"/>
            <a:ext cx="3200400" cy="603504"/>
          </a:xfrm>
          <a:prstGeom prst="rect">
            <a:avLst/>
          </a:prstGeom>
          <a:noFill/>
          <a:ln/>
        </p:spPr>
        <p:txBody>
          <a:bodyPr wrap="square" lIns="0" tIns="0" rIns="0" bIns="0" rtlCol="0" anchor="t"/>
          <a:lstStyle/>
          <a:p>
            <a:pPr indent="0" marL="0">
              <a:lnSpc>
                <a:spcPct val="100000"/>
              </a:lnSpc>
              <a:buNone/>
            </a:pPr>
            <a:r>
              <a:rPr lang="en-US" sz="970" dirty="0">
                <a:solidFill>
                  <a:srgbClr val="5F5E5A"/>
                </a:solidFill>
                <a:latin typeface="Calibri" pitchFamily="34" charset="0"/>
                <a:ea typeface="Calibri" pitchFamily="34" charset="-122"/>
                <a:cs typeface="Calibri" pitchFamily="34" charset="-120"/>
              </a:rPr>
              <a:t>If tenants own the solar, VSIP may not reach the inverter RTUs directly. This changes the control architecture — resolve it before the tender.</a:t>
            </a:r>
            <a:endParaRPr lang="en-US" sz="970" dirty="0"/>
          </a:p>
        </p:txBody>
      </p:sp>
      <p:sp>
        <p:nvSpPr>
          <p:cNvPr id="24" name="Shape 22"/>
          <p:cNvSpPr/>
          <p:nvPr/>
        </p:nvSpPr>
        <p:spPr>
          <a:xfrm>
            <a:off x="4663440" y="2267712"/>
            <a:ext cx="4023360" cy="1060704"/>
          </a:xfrm>
          <a:prstGeom prst="roundRect">
            <a:avLst>
              <a:gd name="adj" fmla="val 6897"/>
            </a:avLst>
          </a:prstGeom>
          <a:solidFill>
            <a:srgbClr val="FFFFFF"/>
          </a:solidFill>
          <a:ln w="6350">
            <a:solidFill>
              <a:srgbClr val="CCCCCC"/>
            </a:solidFill>
            <a:prstDash val="solid"/>
          </a:ln>
          <a:effectLst>
            <a:outerShdw sx="100000" sy="100000" kx="0" ky="0" algn="bl" rotWithShape="0" blurRad="76200" dist="25400" dir="2700000">
              <a:srgbClr val="000000">
                <a:alpha val="10000"/>
              </a:srgbClr>
            </a:outerShdw>
          </a:effectLst>
        </p:spPr>
      </p:sp>
      <p:sp>
        <p:nvSpPr>
          <p:cNvPr id="25" name="Shape 23"/>
          <p:cNvSpPr/>
          <p:nvPr/>
        </p:nvSpPr>
        <p:spPr>
          <a:xfrm>
            <a:off x="4809744" y="2432304"/>
            <a:ext cx="420624" cy="420624"/>
          </a:xfrm>
          <a:prstGeom prst="roundRect">
            <a:avLst>
              <a:gd name="adj" fmla="val 10870"/>
            </a:avLst>
          </a:prstGeom>
          <a:solidFill>
            <a:srgbClr val="2B7A8C"/>
          </a:solidFill>
          <a:ln w="12700">
            <a:solidFill>
              <a:srgbClr val="2B7A8C"/>
            </a:solidFill>
            <a:prstDash val="solid"/>
          </a:ln>
        </p:spPr>
      </p:sp>
      <p:sp>
        <p:nvSpPr>
          <p:cNvPr id="26" name="Text 24"/>
          <p:cNvSpPr/>
          <p:nvPr/>
        </p:nvSpPr>
        <p:spPr>
          <a:xfrm>
            <a:off x="4809744" y="243230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27" name="Text 25"/>
          <p:cNvSpPr/>
          <p:nvPr/>
        </p:nvSpPr>
        <p:spPr>
          <a:xfrm>
            <a:off x="5340096" y="2386584"/>
            <a:ext cx="3200400" cy="292608"/>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BESS at substation level</a:t>
            </a:r>
            <a:endParaRPr lang="en-US" sz="1250" dirty="0"/>
          </a:p>
        </p:txBody>
      </p:sp>
      <p:sp>
        <p:nvSpPr>
          <p:cNvPr id="28" name="Text 26"/>
          <p:cNvSpPr/>
          <p:nvPr/>
        </p:nvSpPr>
        <p:spPr>
          <a:xfrm>
            <a:off x="5340096" y="2679192"/>
            <a:ext cx="3200400" cy="603504"/>
          </a:xfrm>
          <a:prstGeom prst="rect">
            <a:avLst/>
          </a:prstGeom>
          <a:noFill/>
          <a:ln/>
        </p:spPr>
        <p:txBody>
          <a:bodyPr wrap="square" lIns="0" tIns="0" rIns="0" bIns="0" rtlCol="0" anchor="t"/>
          <a:lstStyle/>
          <a:p>
            <a:pPr indent="0" marL="0">
              <a:lnSpc>
                <a:spcPct val="100000"/>
              </a:lnSpc>
              <a:buNone/>
            </a:pPr>
            <a:r>
              <a:rPr lang="en-US" sz="970" dirty="0">
                <a:solidFill>
                  <a:srgbClr val="5F5E5A"/>
                </a:solidFill>
                <a:latin typeface="Calibri" pitchFamily="34" charset="0"/>
                <a:ea typeface="Calibri" pitchFamily="34" charset="-122"/>
                <a:cs typeface="Calibri" pitchFamily="34" charset="-120"/>
              </a:rPr>
              <a:t>A centralized BESS at the 22kV substation gives VSIP direct control for peak shaving, zero-export, and islanding. Avoid distributed complexity.</a:t>
            </a:r>
            <a:endParaRPr lang="en-US" sz="970" dirty="0"/>
          </a:p>
        </p:txBody>
      </p:sp>
      <p:sp>
        <p:nvSpPr>
          <p:cNvPr id="29" name="Shape 27"/>
          <p:cNvSpPr/>
          <p:nvPr/>
        </p:nvSpPr>
        <p:spPr>
          <a:xfrm>
            <a:off x="457200" y="3438144"/>
            <a:ext cx="4023360" cy="1060704"/>
          </a:xfrm>
          <a:prstGeom prst="roundRect">
            <a:avLst>
              <a:gd name="adj" fmla="val 6897"/>
            </a:avLst>
          </a:prstGeom>
          <a:solidFill>
            <a:srgbClr val="FFFFFF"/>
          </a:solidFill>
          <a:ln w="6350">
            <a:solidFill>
              <a:srgbClr val="CCCCCC"/>
            </a:solidFill>
            <a:prstDash val="solid"/>
          </a:ln>
          <a:effectLst>
            <a:outerShdw sx="100000" sy="100000" kx="0" ky="0" algn="bl" rotWithShape="0" blurRad="76200" dist="25400" dir="2700000">
              <a:srgbClr val="000000">
                <a:alpha val="10000"/>
              </a:srgbClr>
            </a:outerShdw>
          </a:effectLst>
        </p:spPr>
      </p:sp>
      <p:sp>
        <p:nvSpPr>
          <p:cNvPr id="30" name="Shape 28"/>
          <p:cNvSpPr/>
          <p:nvPr/>
        </p:nvSpPr>
        <p:spPr>
          <a:xfrm>
            <a:off x="603504" y="3602736"/>
            <a:ext cx="420624" cy="420624"/>
          </a:xfrm>
          <a:prstGeom prst="roundRect">
            <a:avLst>
              <a:gd name="adj" fmla="val 10870"/>
            </a:avLst>
          </a:prstGeom>
          <a:solidFill>
            <a:srgbClr val="2B7A8C"/>
          </a:solidFill>
          <a:ln w="12700">
            <a:solidFill>
              <a:srgbClr val="2B7A8C"/>
            </a:solidFill>
            <a:prstDash val="solid"/>
          </a:ln>
        </p:spPr>
      </p:sp>
      <p:sp>
        <p:nvSpPr>
          <p:cNvPr id="31" name="Text 29"/>
          <p:cNvSpPr/>
          <p:nvPr/>
        </p:nvSpPr>
        <p:spPr>
          <a:xfrm>
            <a:off x="603504" y="360273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32" name="Text 30"/>
          <p:cNvSpPr/>
          <p:nvPr/>
        </p:nvSpPr>
        <p:spPr>
          <a:xfrm>
            <a:off x="1133856" y="3557016"/>
            <a:ext cx="3200400" cy="292608"/>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Define who operates it</a:t>
            </a:r>
            <a:endParaRPr lang="en-US" sz="1250" dirty="0"/>
          </a:p>
        </p:txBody>
      </p:sp>
      <p:sp>
        <p:nvSpPr>
          <p:cNvPr id="33" name="Text 31"/>
          <p:cNvSpPr/>
          <p:nvPr/>
        </p:nvSpPr>
        <p:spPr>
          <a:xfrm>
            <a:off x="1133856" y="3849624"/>
            <a:ext cx="3200400" cy="603504"/>
          </a:xfrm>
          <a:prstGeom prst="rect">
            <a:avLst/>
          </a:prstGeom>
          <a:noFill/>
          <a:ln/>
        </p:spPr>
        <p:txBody>
          <a:bodyPr wrap="square" lIns="0" tIns="0" rIns="0" bIns="0" rtlCol="0" anchor="t"/>
          <a:lstStyle/>
          <a:p>
            <a:pPr indent="0" marL="0">
              <a:lnSpc>
                <a:spcPct val="100000"/>
              </a:lnSpc>
              <a:buNone/>
            </a:pPr>
            <a:r>
              <a:rPr lang="en-US" sz="970" dirty="0">
                <a:solidFill>
                  <a:srgbClr val="5F5E5A"/>
                </a:solidFill>
                <a:latin typeface="Calibri" pitchFamily="34" charset="0"/>
                <a:ea typeface="Calibri" pitchFamily="34" charset="-122"/>
                <a:cs typeface="Calibri" pitchFamily="34" charset="-120"/>
              </a:rPr>
              <a:t>Internal team, outsourced O&amp;M, or utility? The answer shapes HMI design, alarm philosophy, and training from day one.</a:t>
            </a:r>
            <a:endParaRPr lang="en-US" sz="970" dirty="0"/>
          </a:p>
        </p:txBody>
      </p:sp>
      <p:sp>
        <p:nvSpPr>
          <p:cNvPr id="34" name="Shape 32"/>
          <p:cNvSpPr/>
          <p:nvPr/>
        </p:nvSpPr>
        <p:spPr>
          <a:xfrm>
            <a:off x="4663440" y="3438144"/>
            <a:ext cx="4023360" cy="1060704"/>
          </a:xfrm>
          <a:prstGeom prst="roundRect">
            <a:avLst>
              <a:gd name="adj" fmla="val 6897"/>
            </a:avLst>
          </a:prstGeom>
          <a:solidFill>
            <a:srgbClr val="FFFFFF"/>
          </a:solidFill>
          <a:ln w="6350">
            <a:solidFill>
              <a:srgbClr val="CCCCCC"/>
            </a:solidFill>
            <a:prstDash val="solid"/>
          </a:ln>
          <a:effectLst>
            <a:outerShdw sx="100000" sy="100000" kx="0" ky="0" algn="bl" rotWithShape="0" blurRad="76200" dist="25400" dir="2700000">
              <a:srgbClr val="000000">
                <a:alpha val="10000"/>
              </a:srgbClr>
            </a:outerShdw>
          </a:effectLst>
        </p:spPr>
      </p:sp>
      <p:sp>
        <p:nvSpPr>
          <p:cNvPr id="35" name="Shape 33"/>
          <p:cNvSpPr/>
          <p:nvPr/>
        </p:nvSpPr>
        <p:spPr>
          <a:xfrm>
            <a:off x="4809744" y="3602736"/>
            <a:ext cx="420624" cy="420624"/>
          </a:xfrm>
          <a:prstGeom prst="roundRect">
            <a:avLst>
              <a:gd name="adj" fmla="val 10870"/>
            </a:avLst>
          </a:prstGeom>
          <a:solidFill>
            <a:srgbClr val="2B7A8C"/>
          </a:solidFill>
          <a:ln w="12700">
            <a:solidFill>
              <a:srgbClr val="2B7A8C"/>
            </a:solidFill>
            <a:prstDash val="solid"/>
          </a:ln>
        </p:spPr>
      </p:sp>
      <p:sp>
        <p:nvSpPr>
          <p:cNvPr id="36" name="Text 34"/>
          <p:cNvSpPr/>
          <p:nvPr/>
        </p:nvSpPr>
        <p:spPr>
          <a:xfrm>
            <a:off x="4809744" y="360273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37" name="Text 35"/>
          <p:cNvSpPr/>
          <p:nvPr/>
        </p:nvSpPr>
        <p:spPr>
          <a:xfrm>
            <a:off x="5340096" y="3557016"/>
            <a:ext cx="3200400" cy="292608"/>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Influence the tender — now</a:t>
            </a:r>
            <a:endParaRPr lang="en-US" sz="1250" dirty="0"/>
          </a:p>
        </p:txBody>
      </p:sp>
      <p:sp>
        <p:nvSpPr>
          <p:cNvPr id="38" name="Text 36"/>
          <p:cNvSpPr/>
          <p:nvPr/>
        </p:nvSpPr>
        <p:spPr>
          <a:xfrm>
            <a:off x="5340096" y="3849624"/>
            <a:ext cx="3200400" cy="603504"/>
          </a:xfrm>
          <a:prstGeom prst="rect">
            <a:avLst/>
          </a:prstGeom>
          <a:noFill/>
          <a:ln/>
        </p:spPr>
        <p:txBody>
          <a:bodyPr wrap="square" lIns="0" tIns="0" rIns="0" bIns="0" rtlCol="0" anchor="t"/>
          <a:lstStyle/>
          <a:p>
            <a:pPr indent="0" marL="0">
              <a:lnSpc>
                <a:spcPct val="100000"/>
              </a:lnSpc>
              <a:buNone/>
            </a:pPr>
            <a:r>
              <a:rPr lang="en-US" sz="970" dirty="0">
                <a:solidFill>
                  <a:srgbClr val="5F5E5A"/>
                </a:solidFill>
                <a:latin typeface="Calibri" pitchFamily="34" charset="0"/>
                <a:ea typeface="Calibri" pitchFamily="34" charset="-122"/>
                <a:cs typeface="Calibri" pitchFamily="34" charset="-120"/>
              </a:rPr>
              <a:t>The Q4 2026 tender is your window. The architecture we design together becomes the benchmark every competitor must meet.</a:t>
            </a:r>
            <a:endParaRPr lang="en-US" sz="97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23139"/>
        </a:solidFill>
      </p:bgPr>
    </p:bg>
    <p:spTree>
      <p:nvGrpSpPr>
        <p:cNvPr id="1" name=""/>
        <p:cNvGrpSpPr/>
        <p:nvPr/>
      </p:nvGrpSpPr>
      <p:grpSpPr>
        <a:xfrm>
          <a:off x="0" y="0"/>
          <a:ext cx="0" cy="0"/>
          <a:chOff x="0" y="0"/>
          <a:chExt cx="0" cy="0"/>
        </a:xfrm>
      </p:grpSpPr>
      <p:sp>
        <p:nvSpPr>
          <p:cNvPr id="2" name="Shape 0"/>
          <p:cNvSpPr/>
          <p:nvPr/>
        </p:nvSpPr>
        <p:spPr>
          <a:xfrm>
            <a:off x="6766560" y="-1188720"/>
            <a:ext cx="4023360" cy="4023360"/>
          </a:xfrm>
          <a:prstGeom prst="ellipse">
            <a:avLst/>
          </a:prstGeom>
          <a:solidFill>
            <a:srgbClr val="1C5260">
              <a:alpha val="65000"/>
            </a:srgbClr>
          </a:solidFill>
          <a:ln/>
        </p:spPr>
      </p:sp>
      <p:sp>
        <p:nvSpPr>
          <p:cNvPr id="3" name="Shape 1"/>
          <p:cNvSpPr/>
          <p:nvPr/>
        </p:nvSpPr>
        <p:spPr>
          <a:xfrm>
            <a:off x="7955280" y="2468880"/>
            <a:ext cx="2011680" cy="2011680"/>
          </a:xfrm>
          <a:prstGeom prst="ellipse">
            <a:avLst/>
          </a:prstGeom>
          <a:solidFill>
            <a:srgbClr val="2B7A8C">
              <a:alpha val="30000"/>
            </a:srgbClr>
          </a:solidFill>
          <a:ln/>
        </p:spPr>
      </p:sp>
      <p:sp>
        <p:nvSpPr>
          <p:cNvPr id="4" name="Shape 2"/>
          <p:cNvSpPr/>
          <p:nvPr/>
        </p:nvSpPr>
        <p:spPr>
          <a:xfrm>
            <a:off x="0" y="0"/>
            <a:ext cx="292608" cy="420624"/>
          </a:xfrm>
          <a:prstGeom prst="rect">
            <a:avLst/>
          </a:prstGeom>
          <a:solidFill>
            <a:srgbClr val="D94F1E"/>
          </a:solidFill>
          <a:ln w="12700">
            <a:solidFill>
              <a:srgbClr val="D94F1E"/>
            </a:solidFill>
            <a:prstDash val="solid"/>
          </a:ln>
        </p:spPr>
      </p:sp>
      <p:sp>
        <p:nvSpPr>
          <p:cNvPr id="5" name="Text 3"/>
          <p:cNvSpPr/>
          <p:nvPr/>
        </p:nvSpPr>
        <p:spPr>
          <a:xfrm>
            <a:off x="548640" y="365760"/>
            <a:ext cx="7315200" cy="54864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How We Move Forward</a:t>
            </a:r>
            <a:endParaRPr lang="en-US" sz="3000" dirty="0"/>
          </a:p>
        </p:txBody>
      </p:sp>
      <p:sp>
        <p:nvSpPr>
          <p:cNvPr id="6" name="Shape 4"/>
          <p:cNvSpPr/>
          <p:nvPr/>
        </p:nvSpPr>
        <p:spPr>
          <a:xfrm>
            <a:off x="566928" y="987552"/>
            <a:ext cx="2286000" cy="0"/>
          </a:xfrm>
          <a:prstGeom prst="line">
            <a:avLst/>
          </a:prstGeom>
          <a:noFill/>
          <a:ln w="25400">
            <a:solidFill>
              <a:srgbClr val="D94F1E"/>
            </a:solidFill>
            <a:prstDash val="solid"/>
          </a:ln>
        </p:spPr>
      </p:sp>
      <p:sp>
        <p:nvSpPr>
          <p:cNvPr id="7" name="Shape 5"/>
          <p:cNvSpPr/>
          <p:nvPr/>
        </p:nvSpPr>
        <p:spPr>
          <a:xfrm>
            <a:off x="457200" y="1188720"/>
            <a:ext cx="7315200" cy="749808"/>
          </a:xfrm>
          <a:prstGeom prst="roundRect">
            <a:avLst>
              <a:gd name="adj" fmla="val 9756"/>
            </a:avLst>
          </a:prstGeom>
          <a:solidFill>
            <a:srgbClr val="1C5260"/>
          </a:solidFill>
          <a:ln w="6350">
            <a:solidFill>
              <a:srgbClr val="2B7A8C"/>
            </a:solidFill>
            <a:prstDash val="solid"/>
          </a:ln>
        </p:spPr>
      </p:sp>
      <p:sp>
        <p:nvSpPr>
          <p:cNvPr id="8" name="Shape 6"/>
          <p:cNvSpPr/>
          <p:nvPr/>
        </p:nvSpPr>
        <p:spPr>
          <a:xfrm>
            <a:off x="603504" y="1362456"/>
            <a:ext cx="420624" cy="420624"/>
          </a:xfrm>
          <a:prstGeom prst="ellipse">
            <a:avLst/>
          </a:prstGeom>
          <a:solidFill>
            <a:srgbClr val="D94F1E"/>
          </a:solidFill>
          <a:ln w="12700">
            <a:solidFill>
              <a:srgbClr val="D94F1E"/>
            </a:solidFill>
            <a:prstDash val="solid"/>
          </a:ln>
        </p:spPr>
      </p:sp>
      <p:pic>
        <p:nvPicPr>
          <p:cNvPr id="9" name="Image 0" descr="preencoded.png">    </p:cNvPr>
          <p:cNvPicPr>
            <a:picLocks noChangeAspect="1"/>
          </p:cNvPicPr>
          <p:nvPr/>
        </p:nvPicPr>
        <p:blipFill>
          <a:blip r:embed="rId1"/>
          <a:stretch>
            <a:fillRect/>
          </a:stretch>
        </p:blipFill>
        <p:spPr>
          <a:xfrm>
            <a:off x="694944" y="1453896"/>
            <a:ext cx="237744" cy="237744"/>
          </a:xfrm>
          <a:prstGeom prst="rect">
            <a:avLst/>
          </a:prstGeom>
        </p:spPr>
      </p:pic>
      <p:sp>
        <p:nvSpPr>
          <p:cNvPr id="10" name="Text 7"/>
          <p:cNvSpPr/>
          <p:nvPr/>
        </p:nvSpPr>
        <p:spPr>
          <a:xfrm>
            <a:off x="1188720" y="1280160"/>
            <a:ext cx="64008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Confirm parameters &amp; assumptions</a:t>
            </a:r>
            <a:endParaRPr lang="en-US" sz="1300" dirty="0"/>
          </a:p>
        </p:txBody>
      </p:sp>
      <p:sp>
        <p:nvSpPr>
          <p:cNvPr id="11" name="Text 8"/>
          <p:cNvSpPr/>
          <p:nvPr/>
        </p:nvSpPr>
        <p:spPr>
          <a:xfrm>
            <a:off x="1188720" y="1554480"/>
            <a:ext cx="6400800" cy="347472"/>
          </a:xfrm>
          <a:prstGeom prst="rect">
            <a:avLst/>
          </a:prstGeom>
          <a:noFill/>
          <a:ln/>
        </p:spPr>
        <p:txBody>
          <a:bodyPr wrap="square" lIns="0" tIns="0" rIns="0" bIns="0" rtlCol="0" anchor="t"/>
          <a:lstStyle/>
          <a:p>
            <a:pPr indent="0" marL="0">
              <a:lnSpc>
                <a:spcPct val="100000"/>
              </a:lnSpc>
              <a:buNone/>
            </a:pPr>
            <a:r>
              <a:rPr lang="en-US" sz="980" dirty="0">
                <a:solidFill>
                  <a:srgbClr val="BFE0DE"/>
                </a:solidFill>
                <a:latin typeface="Calibri" pitchFamily="34" charset="0"/>
                <a:ea typeface="Calibri" pitchFamily="34" charset="-122"/>
                <a:cs typeface="Calibri" pitchFamily="34" charset="-120"/>
              </a:rPr>
              <a:t>Align on scope, timeline, RTS ownership, BESS placement, and the operator model — before the Q4 tender is drafted.</a:t>
            </a:r>
            <a:endParaRPr lang="en-US" sz="980" dirty="0"/>
          </a:p>
        </p:txBody>
      </p:sp>
      <p:sp>
        <p:nvSpPr>
          <p:cNvPr id="12" name="Shape 9"/>
          <p:cNvSpPr/>
          <p:nvPr/>
        </p:nvSpPr>
        <p:spPr>
          <a:xfrm>
            <a:off x="457200" y="2029968"/>
            <a:ext cx="7315200" cy="749808"/>
          </a:xfrm>
          <a:prstGeom prst="roundRect">
            <a:avLst>
              <a:gd name="adj" fmla="val 9756"/>
            </a:avLst>
          </a:prstGeom>
          <a:solidFill>
            <a:srgbClr val="1C5260"/>
          </a:solidFill>
          <a:ln w="6350">
            <a:solidFill>
              <a:srgbClr val="2B7A8C"/>
            </a:solidFill>
            <a:prstDash val="solid"/>
          </a:ln>
        </p:spPr>
      </p:sp>
      <p:sp>
        <p:nvSpPr>
          <p:cNvPr id="13" name="Shape 10"/>
          <p:cNvSpPr/>
          <p:nvPr/>
        </p:nvSpPr>
        <p:spPr>
          <a:xfrm>
            <a:off x="603504" y="2203704"/>
            <a:ext cx="420624" cy="420624"/>
          </a:xfrm>
          <a:prstGeom prst="ellipse">
            <a:avLst/>
          </a:prstGeom>
          <a:solidFill>
            <a:srgbClr val="D94F1E"/>
          </a:solidFill>
          <a:ln w="12700">
            <a:solidFill>
              <a:srgbClr val="D94F1E"/>
            </a:solidFill>
            <a:prstDash val="solid"/>
          </a:ln>
        </p:spPr>
      </p:sp>
      <p:pic>
        <p:nvPicPr>
          <p:cNvPr id="14" name="Image 1" descr="preencoded.png">    </p:cNvPr>
          <p:cNvPicPr>
            <a:picLocks noChangeAspect="1"/>
          </p:cNvPicPr>
          <p:nvPr/>
        </p:nvPicPr>
        <p:blipFill>
          <a:blip r:embed="rId2"/>
          <a:stretch>
            <a:fillRect/>
          </a:stretch>
        </p:blipFill>
        <p:spPr>
          <a:xfrm>
            <a:off x="694944" y="2295144"/>
            <a:ext cx="237744" cy="237744"/>
          </a:xfrm>
          <a:prstGeom prst="rect">
            <a:avLst/>
          </a:prstGeom>
        </p:spPr>
      </p:pic>
      <p:sp>
        <p:nvSpPr>
          <p:cNvPr id="15" name="Text 11"/>
          <p:cNvSpPr/>
          <p:nvPr/>
        </p:nvSpPr>
        <p:spPr>
          <a:xfrm>
            <a:off x="1188720" y="2121408"/>
            <a:ext cx="64008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Reference architecture document</a:t>
            </a:r>
            <a:endParaRPr lang="en-US" sz="1300" dirty="0"/>
          </a:p>
        </p:txBody>
      </p:sp>
      <p:sp>
        <p:nvSpPr>
          <p:cNvPr id="16" name="Text 12"/>
          <p:cNvSpPr/>
          <p:nvPr/>
        </p:nvSpPr>
        <p:spPr>
          <a:xfrm>
            <a:off x="1188720" y="2395728"/>
            <a:ext cx="6400800" cy="347472"/>
          </a:xfrm>
          <a:prstGeom prst="rect">
            <a:avLst/>
          </a:prstGeom>
          <a:noFill/>
          <a:ln/>
        </p:spPr>
        <p:txBody>
          <a:bodyPr wrap="square" lIns="0" tIns="0" rIns="0" bIns="0" rtlCol="0" anchor="t"/>
          <a:lstStyle/>
          <a:p>
            <a:pPr indent="0" marL="0">
              <a:lnSpc>
                <a:spcPct val="100000"/>
              </a:lnSpc>
              <a:buNone/>
            </a:pPr>
            <a:r>
              <a:rPr lang="en-US" sz="980" dirty="0">
                <a:solidFill>
                  <a:srgbClr val="BFE0DE"/>
                </a:solidFill>
                <a:latin typeface="Calibri" pitchFamily="34" charset="0"/>
                <a:ea typeface="Calibri" pitchFamily="34" charset="-122"/>
                <a:cs typeface="Calibri" pitchFamily="34" charset="-120"/>
              </a:rPr>
              <a:t>Survalent APAC delivers a formal recommended architecture and phased roadmap, tailored to VSIP 4, for your internal review.</a:t>
            </a:r>
            <a:endParaRPr lang="en-US" sz="980" dirty="0"/>
          </a:p>
        </p:txBody>
      </p:sp>
      <p:sp>
        <p:nvSpPr>
          <p:cNvPr id="17" name="Shape 13"/>
          <p:cNvSpPr/>
          <p:nvPr/>
        </p:nvSpPr>
        <p:spPr>
          <a:xfrm>
            <a:off x="457200" y="2871216"/>
            <a:ext cx="7315200" cy="749808"/>
          </a:xfrm>
          <a:prstGeom prst="roundRect">
            <a:avLst>
              <a:gd name="adj" fmla="val 9756"/>
            </a:avLst>
          </a:prstGeom>
          <a:solidFill>
            <a:srgbClr val="1C5260"/>
          </a:solidFill>
          <a:ln w="6350">
            <a:solidFill>
              <a:srgbClr val="2B7A8C"/>
            </a:solidFill>
            <a:prstDash val="solid"/>
          </a:ln>
        </p:spPr>
      </p:sp>
      <p:sp>
        <p:nvSpPr>
          <p:cNvPr id="18" name="Shape 14"/>
          <p:cNvSpPr/>
          <p:nvPr/>
        </p:nvSpPr>
        <p:spPr>
          <a:xfrm>
            <a:off x="603504" y="3044952"/>
            <a:ext cx="420624" cy="420624"/>
          </a:xfrm>
          <a:prstGeom prst="ellipse">
            <a:avLst/>
          </a:prstGeom>
          <a:solidFill>
            <a:srgbClr val="D94F1E"/>
          </a:solidFill>
          <a:ln w="12700">
            <a:solidFill>
              <a:srgbClr val="D94F1E"/>
            </a:solidFill>
            <a:prstDash val="solid"/>
          </a:ln>
        </p:spPr>
      </p:sp>
      <p:pic>
        <p:nvPicPr>
          <p:cNvPr id="19" name="Image 2" descr="preencoded.png">    </p:cNvPr>
          <p:cNvPicPr>
            <a:picLocks noChangeAspect="1"/>
          </p:cNvPicPr>
          <p:nvPr/>
        </p:nvPicPr>
        <p:blipFill>
          <a:blip r:embed="rId3"/>
          <a:stretch>
            <a:fillRect/>
          </a:stretch>
        </p:blipFill>
        <p:spPr>
          <a:xfrm>
            <a:off x="694944" y="3136392"/>
            <a:ext cx="237744" cy="237744"/>
          </a:xfrm>
          <a:prstGeom prst="rect">
            <a:avLst/>
          </a:prstGeom>
        </p:spPr>
      </p:pic>
      <p:sp>
        <p:nvSpPr>
          <p:cNvPr id="20" name="Text 15"/>
          <p:cNvSpPr/>
          <p:nvPr/>
        </p:nvSpPr>
        <p:spPr>
          <a:xfrm>
            <a:off x="1188720" y="2962656"/>
            <a:ext cx="64008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Technical deep-dive workshop</a:t>
            </a:r>
            <a:endParaRPr lang="en-US" sz="1300" dirty="0"/>
          </a:p>
        </p:txBody>
      </p:sp>
      <p:sp>
        <p:nvSpPr>
          <p:cNvPr id="21" name="Text 16"/>
          <p:cNvSpPr/>
          <p:nvPr/>
        </p:nvSpPr>
        <p:spPr>
          <a:xfrm>
            <a:off x="1188720" y="3236976"/>
            <a:ext cx="6400800" cy="347472"/>
          </a:xfrm>
          <a:prstGeom prst="rect">
            <a:avLst/>
          </a:prstGeom>
          <a:noFill/>
          <a:ln/>
        </p:spPr>
        <p:txBody>
          <a:bodyPr wrap="square" lIns="0" tIns="0" rIns="0" bIns="0" rtlCol="0" anchor="t"/>
          <a:lstStyle/>
          <a:p>
            <a:pPr indent="0" marL="0">
              <a:lnSpc>
                <a:spcPct val="100000"/>
              </a:lnSpc>
              <a:buNone/>
            </a:pPr>
            <a:r>
              <a:rPr lang="en-US" sz="980" dirty="0">
                <a:solidFill>
                  <a:srgbClr val="BFE0DE"/>
                </a:solidFill>
                <a:latin typeface="Calibri" pitchFamily="34" charset="0"/>
                <a:ea typeface="Calibri" pitchFamily="34" charset="-122"/>
                <a:cs typeface="Calibri" pitchFamily="34" charset="-120"/>
              </a:rPr>
              <a:t>A focused session with your engineering team to walk the architecture in detail and answer every technical question.</a:t>
            </a:r>
            <a:endParaRPr lang="en-US" sz="980" dirty="0"/>
          </a:p>
        </p:txBody>
      </p:sp>
      <p:sp>
        <p:nvSpPr>
          <p:cNvPr id="22" name="Shape 17"/>
          <p:cNvSpPr/>
          <p:nvPr/>
        </p:nvSpPr>
        <p:spPr>
          <a:xfrm>
            <a:off x="457200" y="3712464"/>
            <a:ext cx="7315200" cy="749808"/>
          </a:xfrm>
          <a:prstGeom prst="roundRect">
            <a:avLst>
              <a:gd name="adj" fmla="val 9756"/>
            </a:avLst>
          </a:prstGeom>
          <a:solidFill>
            <a:srgbClr val="1C5260"/>
          </a:solidFill>
          <a:ln w="6350">
            <a:solidFill>
              <a:srgbClr val="2B7A8C"/>
            </a:solidFill>
            <a:prstDash val="solid"/>
          </a:ln>
        </p:spPr>
      </p:sp>
      <p:sp>
        <p:nvSpPr>
          <p:cNvPr id="23" name="Shape 18"/>
          <p:cNvSpPr/>
          <p:nvPr/>
        </p:nvSpPr>
        <p:spPr>
          <a:xfrm>
            <a:off x="603504" y="3886200"/>
            <a:ext cx="420624" cy="420624"/>
          </a:xfrm>
          <a:prstGeom prst="ellipse">
            <a:avLst/>
          </a:prstGeom>
          <a:solidFill>
            <a:srgbClr val="D94F1E"/>
          </a:solidFill>
          <a:ln w="12700">
            <a:solidFill>
              <a:srgbClr val="D94F1E"/>
            </a:solidFill>
            <a:prstDash val="solid"/>
          </a:ln>
        </p:spPr>
      </p:sp>
      <p:pic>
        <p:nvPicPr>
          <p:cNvPr id="24" name="Image 3" descr="preencoded.png">    </p:cNvPr>
          <p:cNvPicPr>
            <a:picLocks noChangeAspect="1"/>
          </p:cNvPicPr>
          <p:nvPr/>
        </p:nvPicPr>
        <p:blipFill>
          <a:blip r:embed="rId4"/>
          <a:stretch>
            <a:fillRect/>
          </a:stretch>
        </p:blipFill>
        <p:spPr>
          <a:xfrm>
            <a:off x="694944" y="3977640"/>
            <a:ext cx="237744" cy="237744"/>
          </a:xfrm>
          <a:prstGeom prst="rect">
            <a:avLst/>
          </a:prstGeom>
        </p:spPr>
      </p:pic>
      <p:sp>
        <p:nvSpPr>
          <p:cNvPr id="25" name="Text 19"/>
          <p:cNvSpPr/>
          <p:nvPr/>
        </p:nvSpPr>
        <p:spPr>
          <a:xfrm>
            <a:off x="1188720" y="3803904"/>
            <a:ext cx="64008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Reference site visit</a:t>
            </a:r>
            <a:endParaRPr lang="en-US" sz="1300" dirty="0"/>
          </a:p>
        </p:txBody>
      </p:sp>
      <p:sp>
        <p:nvSpPr>
          <p:cNvPr id="26" name="Text 20"/>
          <p:cNvSpPr/>
          <p:nvPr/>
        </p:nvSpPr>
        <p:spPr>
          <a:xfrm>
            <a:off x="1188720" y="4078224"/>
            <a:ext cx="6400800" cy="347472"/>
          </a:xfrm>
          <a:prstGeom prst="rect">
            <a:avLst/>
          </a:prstGeom>
          <a:noFill/>
          <a:ln/>
        </p:spPr>
        <p:txBody>
          <a:bodyPr wrap="square" lIns="0" tIns="0" rIns="0" bIns="0" rtlCol="0" anchor="t"/>
          <a:lstStyle/>
          <a:p>
            <a:pPr indent="0" marL="0">
              <a:lnSpc>
                <a:spcPct val="100000"/>
              </a:lnSpc>
              <a:buNone/>
            </a:pPr>
            <a:r>
              <a:rPr lang="en-US" sz="980" dirty="0">
                <a:solidFill>
                  <a:srgbClr val="BFE0DE"/>
                </a:solidFill>
                <a:latin typeface="Calibri" pitchFamily="34" charset="0"/>
                <a:ea typeface="Calibri" pitchFamily="34" charset="-122"/>
                <a:cs typeface="Calibri" pitchFamily="34" charset="-120"/>
              </a:rPr>
              <a:t>See a comparable Survalent-powered smart industrial or utility site operating at scale before the tender closes.</a:t>
            </a:r>
            <a:endParaRPr lang="en-US" sz="980" dirty="0"/>
          </a:p>
        </p:txBody>
      </p:sp>
      <p:sp>
        <p:nvSpPr>
          <p:cNvPr id="27" name="Text 21"/>
          <p:cNvSpPr/>
          <p:nvPr/>
        </p:nvSpPr>
        <p:spPr>
          <a:xfrm>
            <a:off x="457200" y="4590288"/>
            <a:ext cx="7315200" cy="457200"/>
          </a:xfrm>
          <a:prstGeom prst="rect">
            <a:avLst/>
          </a:prstGeom>
          <a:noFill/>
          <a:ln/>
        </p:spPr>
        <p:txBody>
          <a:bodyPr wrap="square" lIns="0" tIns="0" rIns="0" bIns="0" rtlCol="0" anchor="ctr"/>
          <a:lstStyle/>
          <a:p>
            <a:pPr indent="0" marL="0">
              <a:buNone/>
            </a:pPr>
            <a:r>
              <a:rPr lang="en-US" sz="1150" i="1" dirty="0">
                <a:solidFill>
                  <a:srgbClr val="BFE0DE"/>
                </a:solidFill>
                <a:latin typeface="Calibri" pitchFamily="34" charset="0"/>
                <a:ea typeface="Calibri" pitchFamily="34" charset="-122"/>
                <a:cs typeface="Calibri" pitchFamily="34" charset="-120"/>
              </a:rPr>
              <a:t>We come as your system architects, not as vendors. Our goal is to help you make decisions today that you will not regret in Phase 5.</a:t>
            </a:r>
            <a:endParaRPr lang="en-US" sz="1150" dirty="0"/>
          </a:p>
        </p:txBody>
      </p:sp>
      <p:sp>
        <p:nvSpPr>
          <p:cNvPr id="28" name="Text 22"/>
          <p:cNvSpPr/>
          <p:nvPr/>
        </p:nvSpPr>
        <p:spPr>
          <a:xfrm>
            <a:off x="7955280" y="4617720"/>
            <a:ext cx="1005840" cy="274320"/>
          </a:xfrm>
          <a:prstGeom prst="rect">
            <a:avLst/>
          </a:prstGeom>
          <a:noFill/>
          <a:ln/>
        </p:spPr>
        <p:txBody>
          <a:bodyPr wrap="square" lIns="0" tIns="0" rIns="0" bIns="0" rtlCol="0" anchor="ctr"/>
          <a:lstStyle/>
          <a:p>
            <a:pPr algn="r" indent="0" marL="0">
              <a:buNone/>
            </a:pPr>
            <a:r>
              <a:rPr lang="en-US" sz="1300" b="1" dirty="0">
                <a:solidFill>
                  <a:srgbClr val="FFFFFF"/>
                </a:solidFill>
                <a:latin typeface="Calibri" pitchFamily="34" charset="0"/>
                <a:ea typeface="Calibri" pitchFamily="34" charset="-122"/>
                <a:cs typeface="Calibri" pitchFamily="34" charset="-120"/>
              </a:rPr>
              <a:t>Survalent</a:t>
            </a:r>
            <a:pPr algn="r" indent="0" marL="0">
              <a:buNone/>
            </a:pPr>
            <a:r>
              <a:rPr lang="en-US" sz="1300" b="1" dirty="0">
                <a:solidFill>
                  <a:srgbClr val="D94F1E"/>
                </a:solidFill>
                <a:latin typeface="Calibri" pitchFamily="34" charset="0"/>
                <a:ea typeface="Calibri" pitchFamily="34" charset="-122"/>
                <a:cs typeface="Calibri" pitchFamily="34" charset="-120"/>
              </a:rPr>
              <a: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VSIP 4 — Smart Grid &amp; Energy Management Strategy</dc:title>
  <dc:subject>PptxGenJS Presentation</dc:subject>
  <dc:creator>Survalent APAC</dc:creator>
  <cp:lastModifiedBy>Survalent APAC</cp:lastModifiedBy>
  <cp:revision>1</cp:revision>
  <dcterms:created xsi:type="dcterms:W3CDTF">2026-06-17T03:52:42Z</dcterms:created>
  <dcterms:modified xsi:type="dcterms:W3CDTF">2026-06-17T03:52:42Z</dcterms:modified>
</cp:coreProperties>
</file>